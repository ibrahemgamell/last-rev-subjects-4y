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89"/>
  </p:notesMasterIdLst>
  <p:sldIdLst>
    <p:sldId id="343" r:id="rId5"/>
    <p:sldId id="344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46" r:id="rId18"/>
    <p:sldId id="256" r:id="rId19"/>
    <p:sldId id="257" r:id="rId20"/>
    <p:sldId id="258" r:id="rId21"/>
    <p:sldId id="259" r:id="rId22"/>
    <p:sldId id="260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347" r:id="rId41"/>
    <p:sldId id="348" r:id="rId42"/>
    <p:sldId id="349" r:id="rId43"/>
    <p:sldId id="286" r:id="rId44"/>
    <p:sldId id="350" r:id="rId45"/>
    <p:sldId id="351" r:id="rId46"/>
    <p:sldId id="352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59" autoAdjust="0"/>
  </p:normalViewPr>
  <p:slideViewPr>
    <p:cSldViewPr>
      <p:cViewPr varScale="1">
        <p:scale>
          <a:sx n="59" d="100"/>
          <a:sy n="59" d="100"/>
        </p:scale>
        <p:origin x="154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1E907-98B9-4D9E-AE66-86EEDBFB2E3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A71D7-0ECE-41CC-B991-44CBF2543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5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A71D7-0ECE-41CC-B991-44CBF25430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38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3425" y="230901"/>
            <a:ext cx="8691549" cy="652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 u="sng">
                <a:solidFill>
                  <a:srgbClr val="00007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 u="sng">
                <a:solidFill>
                  <a:srgbClr val="00007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EC00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 u="sng">
                <a:solidFill>
                  <a:srgbClr val="00007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 u="sng">
                <a:solidFill>
                  <a:srgbClr val="00007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3425" y="194629"/>
            <a:ext cx="8691549" cy="652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 u="sng">
                <a:solidFill>
                  <a:srgbClr val="00007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7400" y="1522290"/>
            <a:ext cx="8483600" cy="4837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EC00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5.png"/><Relationship Id="rId9" Type="http://schemas.openxmlformats.org/officeDocument/2006/relationships/image" Target="../media/image48.png"/><Relationship Id="rId1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49.png"/><Relationship Id="rId12" Type="http://schemas.openxmlformats.org/officeDocument/2006/relationships/image" Target="../media/image4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5.png"/><Relationship Id="rId9" Type="http://schemas.openxmlformats.org/officeDocument/2006/relationships/image" Target="../media/image48.png"/><Relationship Id="rId1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342" y="2850776"/>
            <a:ext cx="8435915" cy="1892826"/>
          </a:xfrm>
        </p:spPr>
        <p:txBody>
          <a:bodyPr/>
          <a:lstStyle/>
          <a:p>
            <a:pPr algn="ctr"/>
            <a:r>
              <a:rPr lang="en-US" spc="417" dirty="0"/>
              <a:t>Arti</a:t>
            </a:r>
            <a:r>
              <a:rPr lang="en-US" spc="222" dirty="0"/>
              <a:t>fi</a:t>
            </a:r>
            <a:r>
              <a:rPr lang="en-US" spc="185" dirty="0"/>
              <a:t>cial </a:t>
            </a:r>
            <a:r>
              <a:rPr lang="en-US" spc="286" dirty="0"/>
              <a:t>Intell</a:t>
            </a:r>
            <a:r>
              <a:rPr lang="en-US" spc="111" dirty="0"/>
              <a:t>i</a:t>
            </a:r>
            <a:r>
              <a:rPr lang="en-US" spc="246" dirty="0"/>
              <a:t>g</a:t>
            </a:r>
            <a:r>
              <a:rPr lang="en-US" spc="286" dirty="0"/>
              <a:t>e</a:t>
            </a:r>
            <a:r>
              <a:rPr lang="en-US" spc="276" dirty="0"/>
              <a:t>n</a:t>
            </a:r>
            <a:r>
              <a:rPr lang="en-US" spc="189" dirty="0"/>
              <a:t>ce</a:t>
            </a:r>
            <a:br>
              <a:rPr lang="en-US" spc="189" dirty="0"/>
            </a:br>
            <a:br>
              <a:rPr lang="en-US" spc="189" dirty="0"/>
            </a:br>
            <a:r>
              <a:rPr lang="en-US" spc="189" dirty="0" err="1"/>
              <a:t>DR.Abeer</a:t>
            </a:r>
            <a:r>
              <a:rPr lang="en-US" spc="189" dirty="0"/>
              <a:t> </a:t>
            </a:r>
            <a:r>
              <a:rPr lang="en-US" spc="189" dirty="0" err="1"/>
              <a:t>Amer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9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490" y="735685"/>
            <a:ext cx="6521951" cy="645754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pc="-330" dirty="0"/>
              <a:t>U</a:t>
            </a:r>
            <a:r>
              <a:rPr spc="-336" dirty="0"/>
              <a:t>ni</a:t>
            </a:r>
            <a:r>
              <a:rPr spc="-330" dirty="0"/>
              <a:t>f</a:t>
            </a:r>
            <a:r>
              <a:rPr spc="-347" dirty="0"/>
              <a:t>o</a:t>
            </a:r>
            <a:r>
              <a:rPr spc="-330" dirty="0"/>
              <a:t>r</a:t>
            </a:r>
            <a:r>
              <a:rPr spc="-336" dirty="0"/>
              <a:t>m</a:t>
            </a:r>
            <a:r>
              <a:rPr spc="-347" dirty="0"/>
              <a:t>-Co</a:t>
            </a:r>
            <a:r>
              <a:rPr spc="-336" dirty="0"/>
              <a:t>s</a:t>
            </a:r>
            <a:r>
              <a:rPr dirty="0"/>
              <a:t>t</a:t>
            </a:r>
            <a:r>
              <a:rPr spc="-715" dirty="0"/>
              <a:t> </a:t>
            </a:r>
            <a:r>
              <a:rPr spc="-336" dirty="0"/>
              <a:t>S</a:t>
            </a:r>
            <a:r>
              <a:rPr spc="-330" dirty="0"/>
              <a:t>tr</a:t>
            </a:r>
            <a:r>
              <a:rPr spc="-336" dirty="0"/>
              <a:t>a</a:t>
            </a:r>
            <a:r>
              <a:rPr spc="-330" dirty="0"/>
              <a:t>t</a:t>
            </a:r>
            <a:r>
              <a:rPr spc="-352" dirty="0"/>
              <a:t>e</a:t>
            </a:r>
            <a:r>
              <a:rPr spc="-347" dirty="0"/>
              <a:t>g</a:t>
            </a:r>
            <a:r>
              <a:rPr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969" y="1415731"/>
            <a:ext cx="6439472" cy="2991460"/>
          </a:xfrm>
          <a:prstGeom prst="rect">
            <a:avLst/>
          </a:prstGeom>
        </p:spPr>
        <p:txBody>
          <a:bodyPr vert="horz" wrap="square" lIns="0" tIns="230505" rIns="0" bIns="0" rtlCol="0">
            <a:spAutoFit/>
          </a:bodyPr>
          <a:lstStyle/>
          <a:p>
            <a:pPr marL="215138" indent="-201168">
              <a:spcBef>
                <a:spcPts val="1815"/>
              </a:spcBef>
              <a:buChar char="•"/>
              <a:tabLst>
                <a:tab pos="215138" algn="l"/>
              </a:tabLst>
            </a:pPr>
            <a:r>
              <a:rPr sz="2200" spc="-11" dirty="0">
                <a:latin typeface="Calibri"/>
                <a:cs typeface="Calibri"/>
              </a:rPr>
              <a:t>Each </a:t>
            </a:r>
            <a:r>
              <a:rPr sz="2200" spc="-17" dirty="0">
                <a:latin typeface="Calibri"/>
                <a:cs typeface="Calibri"/>
              </a:rPr>
              <a:t>step</a:t>
            </a:r>
            <a:r>
              <a:rPr sz="2200" spc="11" dirty="0">
                <a:latin typeface="Calibri"/>
                <a:cs typeface="Calibri"/>
              </a:rPr>
              <a:t> </a:t>
            </a:r>
            <a:r>
              <a:rPr sz="2200" spc="-6" dirty="0">
                <a:latin typeface="Calibri"/>
                <a:cs typeface="Calibri"/>
              </a:rPr>
              <a:t>has</a:t>
            </a:r>
            <a:r>
              <a:rPr sz="2200" spc="-17" dirty="0">
                <a:latin typeface="Calibri"/>
                <a:cs typeface="Calibri"/>
              </a:rPr>
              <a:t> </a:t>
            </a:r>
            <a:r>
              <a:rPr sz="2200" spc="-6" dirty="0">
                <a:latin typeface="Calibri"/>
                <a:cs typeface="Calibri"/>
              </a:rPr>
              <a:t>some</a:t>
            </a:r>
            <a:r>
              <a:rPr sz="2200" spc="6" dirty="0">
                <a:latin typeface="Calibri"/>
                <a:cs typeface="Calibri"/>
              </a:rPr>
              <a:t> </a:t>
            </a:r>
            <a:r>
              <a:rPr sz="2200" spc="-11" dirty="0">
                <a:latin typeface="Calibri"/>
                <a:cs typeface="Calibri"/>
              </a:rPr>
              <a:t>cost</a:t>
            </a:r>
            <a:r>
              <a:rPr sz="2200" spc="-6" dirty="0"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</a:t>
            </a:r>
            <a:r>
              <a:rPr sz="2200" spc="-66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</a:t>
            </a:r>
            <a:r>
              <a:rPr sz="2200" spc="-61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Calibri"/>
                <a:cs typeface="Calibri"/>
              </a:rPr>
              <a:t>&gt;</a:t>
            </a:r>
            <a:r>
              <a:rPr sz="2640" spc="-6" dirty="0">
                <a:latin typeface="Calibri"/>
                <a:cs typeface="Calibri"/>
              </a:rPr>
              <a:t> 0</a:t>
            </a:r>
            <a:r>
              <a:rPr sz="2200" spc="-6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15138" indent="-201168">
              <a:spcBef>
                <a:spcPts val="1430"/>
              </a:spcBef>
              <a:buChar char="•"/>
              <a:tabLst>
                <a:tab pos="215138" algn="l"/>
              </a:tabLst>
            </a:pPr>
            <a:r>
              <a:rPr sz="2200" spc="-6" dirty="0">
                <a:latin typeface="Calibri"/>
                <a:cs typeface="Calibri"/>
              </a:rPr>
              <a:t>The</a:t>
            </a:r>
            <a:r>
              <a:rPr sz="2200" spc="-11" dirty="0">
                <a:latin typeface="Calibri"/>
                <a:cs typeface="Calibri"/>
              </a:rPr>
              <a:t> cost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6" dirty="0">
                <a:latin typeface="Calibri"/>
                <a:cs typeface="Calibri"/>
              </a:rPr>
              <a:t>of</a:t>
            </a:r>
            <a:r>
              <a:rPr sz="2200" spc="-1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1" dirty="0">
                <a:latin typeface="Calibri"/>
                <a:cs typeface="Calibri"/>
              </a:rPr>
              <a:t> path</a:t>
            </a:r>
            <a:r>
              <a:rPr sz="2200" spc="6" dirty="0">
                <a:latin typeface="Calibri"/>
                <a:cs typeface="Calibri"/>
              </a:rPr>
              <a:t> </a:t>
            </a:r>
            <a:r>
              <a:rPr sz="2200" spc="-17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6" dirty="0">
                <a:latin typeface="Calibri"/>
                <a:cs typeface="Calibri"/>
              </a:rPr>
              <a:t> </a:t>
            </a:r>
            <a:r>
              <a:rPr sz="2200" spc="-6" dirty="0">
                <a:latin typeface="Calibri"/>
                <a:cs typeface="Calibri"/>
              </a:rPr>
              <a:t>fringe</a:t>
            </a:r>
            <a:r>
              <a:rPr sz="2200" spc="-1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endParaRPr sz="2200">
              <a:latin typeface="Calibri"/>
              <a:cs typeface="Calibri"/>
            </a:endParaRPr>
          </a:p>
          <a:p>
            <a:pPr marR="1019112" algn="ctr">
              <a:spcBef>
                <a:spcPts val="1788"/>
              </a:spcBef>
            </a:pPr>
            <a:r>
              <a:rPr sz="2200" dirty="0">
                <a:solidFill>
                  <a:srgbClr val="CC6600"/>
                </a:solidFill>
                <a:latin typeface="Calibri"/>
                <a:cs typeface="Calibri"/>
              </a:rPr>
              <a:t>g</a:t>
            </a:r>
            <a:r>
              <a:rPr sz="2200" spc="6" dirty="0">
                <a:solidFill>
                  <a:srgbClr val="CC6600"/>
                </a:solidFill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CC6600"/>
                </a:solidFill>
                <a:latin typeface="Calibri"/>
                <a:cs typeface="Calibri"/>
              </a:rPr>
              <a:t>N)</a:t>
            </a:r>
            <a:r>
              <a:rPr sz="2200" spc="-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1" dirty="0">
                <a:latin typeface="Calibri"/>
                <a:cs typeface="Calibri"/>
              </a:rPr>
              <a:t> </a:t>
            </a:r>
            <a:r>
              <a:rPr sz="3520" dirty="0">
                <a:latin typeface="Symbol"/>
                <a:cs typeface="Symbol"/>
              </a:rPr>
              <a:t></a:t>
            </a:r>
            <a:r>
              <a:rPr sz="3520" spc="-380" dirty="0"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Calibri"/>
                <a:cs typeface="Calibri"/>
              </a:rPr>
              <a:t>c</a:t>
            </a:r>
            <a:r>
              <a:rPr sz="2200" spc="-6" dirty="0">
                <a:latin typeface="Calibri"/>
                <a:cs typeface="Calibri"/>
              </a:rPr>
              <a:t>o</a:t>
            </a:r>
            <a:r>
              <a:rPr sz="2200" spc="-33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ts </a:t>
            </a:r>
            <a:r>
              <a:rPr sz="2200" spc="-6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f</a:t>
            </a:r>
            <a:r>
              <a:rPr sz="2200" spc="-1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 </a:t>
            </a:r>
            <a:r>
              <a:rPr sz="2200" spc="-33" dirty="0">
                <a:latin typeface="Calibri"/>
                <a:cs typeface="Calibri"/>
              </a:rPr>
              <a:t>s</a:t>
            </a:r>
            <a:r>
              <a:rPr sz="2200" spc="-28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11" dirty="0">
                <a:latin typeface="Calibri"/>
                <a:cs typeface="Calibri"/>
              </a:rPr>
              <a:t>p</a:t>
            </a:r>
            <a:r>
              <a:rPr sz="2200" spc="-6" dirty="0">
                <a:latin typeface="Calibri"/>
                <a:cs typeface="Calibri"/>
              </a:rPr>
              <a:t>s.</a:t>
            </a:r>
            <a:endParaRPr sz="2200">
              <a:latin typeface="Calibri"/>
              <a:cs typeface="Calibri"/>
            </a:endParaRPr>
          </a:p>
          <a:p>
            <a:pPr marL="215138" indent="-201168">
              <a:spcBef>
                <a:spcPts val="1650"/>
              </a:spcBef>
              <a:buChar char="•"/>
              <a:tabLst>
                <a:tab pos="215138" algn="l"/>
              </a:tabLst>
            </a:pPr>
            <a:r>
              <a:rPr sz="2200" spc="-6" dirty="0">
                <a:latin typeface="Calibri"/>
                <a:cs typeface="Calibri"/>
              </a:rPr>
              <a:t>The goal</a:t>
            </a:r>
            <a:r>
              <a:rPr sz="2200" spc="-1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" dirty="0">
                <a:latin typeface="Calibri"/>
                <a:cs typeface="Calibri"/>
              </a:rPr>
              <a:t> </a:t>
            </a:r>
            <a:r>
              <a:rPr sz="2200" spc="-11" dirty="0">
                <a:latin typeface="Calibri"/>
                <a:cs typeface="Calibri"/>
              </a:rPr>
              <a:t>to</a:t>
            </a:r>
            <a:r>
              <a:rPr sz="2200" spc="-6" dirty="0">
                <a:latin typeface="Calibri"/>
                <a:cs typeface="Calibri"/>
              </a:rPr>
              <a:t> </a:t>
            </a:r>
            <a:r>
              <a:rPr sz="2200" spc="-17" dirty="0">
                <a:latin typeface="Calibri"/>
                <a:cs typeface="Calibri"/>
              </a:rPr>
              <a:t>generate</a:t>
            </a:r>
            <a:r>
              <a:rPr sz="2200" spc="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 </a:t>
            </a:r>
            <a:r>
              <a:rPr sz="2200" spc="-6" dirty="0">
                <a:latin typeface="Calibri"/>
                <a:cs typeface="Calibri"/>
              </a:rPr>
              <a:t>solution </a:t>
            </a:r>
            <a:r>
              <a:rPr sz="2200" spc="-11" dirty="0">
                <a:latin typeface="Calibri"/>
                <a:cs typeface="Calibri"/>
              </a:rPr>
              <a:t>path</a:t>
            </a:r>
            <a:r>
              <a:rPr sz="2200" spc="6" dirty="0">
                <a:latin typeface="Calibri"/>
                <a:cs typeface="Calibri"/>
              </a:rPr>
              <a:t> </a:t>
            </a:r>
            <a:r>
              <a:rPr sz="2200" spc="-6" dirty="0">
                <a:latin typeface="Calibri"/>
                <a:cs typeface="Calibri"/>
              </a:rPr>
              <a:t>of minimal</a:t>
            </a:r>
            <a:r>
              <a:rPr sz="2200" spc="6" dirty="0">
                <a:latin typeface="Calibri"/>
                <a:cs typeface="Calibri"/>
              </a:rPr>
              <a:t> </a:t>
            </a:r>
            <a:r>
              <a:rPr sz="2200" spc="-11" dirty="0">
                <a:latin typeface="Calibri"/>
                <a:cs typeface="Calibri"/>
              </a:rPr>
              <a:t>cost.</a:t>
            </a:r>
            <a:endParaRPr sz="2200">
              <a:latin typeface="Calibri"/>
              <a:cs typeface="Calibri"/>
            </a:endParaRPr>
          </a:p>
          <a:p>
            <a:pPr marL="215138" indent="-201168">
              <a:spcBef>
                <a:spcPts val="1320"/>
              </a:spcBef>
              <a:buChar char="•"/>
              <a:tabLst>
                <a:tab pos="215138" algn="l"/>
              </a:tabLst>
            </a:pPr>
            <a:r>
              <a:rPr sz="2200" spc="-6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queue</a:t>
            </a:r>
            <a:r>
              <a:rPr sz="2200" spc="-1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FRINGE</a:t>
            </a:r>
            <a:r>
              <a:rPr sz="2200" spc="-3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11" dirty="0">
                <a:latin typeface="Calibri"/>
                <a:cs typeface="Calibri"/>
              </a:rPr>
              <a:t> </a:t>
            </a:r>
            <a:r>
              <a:rPr sz="2200" spc="-11" dirty="0">
                <a:latin typeface="Calibri"/>
                <a:cs typeface="Calibri"/>
              </a:rPr>
              <a:t>sorted</a:t>
            </a:r>
            <a:r>
              <a:rPr sz="2200" dirty="0">
                <a:latin typeface="Calibri"/>
                <a:cs typeface="Calibri"/>
              </a:rPr>
              <a:t> in</a:t>
            </a:r>
            <a:r>
              <a:rPr sz="2200" spc="6" dirty="0">
                <a:latin typeface="Calibri"/>
                <a:cs typeface="Calibri"/>
              </a:rPr>
              <a:t> </a:t>
            </a:r>
            <a:r>
              <a:rPr sz="2200" spc="-6" dirty="0">
                <a:latin typeface="Calibri"/>
                <a:cs typeface="Calibri"/>
              </a:rPr>
              <a:t>increasing</a:t>
            </a:r>
            <a:r>
              <a:rPr sz="2200" spc="11" dirty="0">
                <a:latin typeface="Calibri"/>
                <a:cs typeface="Calibri"/>
              </a:rPr>
              <a:t> </a:t>
            </a:r>
            <a:r>
              <a:rPr sz="2200" spc="-11" dirty="0">
                <a:latin typeface="Calibri"/>
                <a:cs typeface="Calibri"/>
              </a:rPr>
              <a:t>cost.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65081" y="4467701"/>
            <a:ext cx="345758" cy="345758"/>
            <a:chOff x="5786437" y="3957637"/>
            <a:chExt cx="314325" cy="314325"/>
          </a:xfrm>
        </p:grpSpPr>
        <p:sp>
          <p:nvSpPr>
            <p:cNvPr id="5" name="object 5"/>
            <p:cNvSpPr/>
            <p:nvPr/>
          </p:nvSpPr>
          <p:spPr>
            <a:xfrm>
              <a:off x="5791200" y="3962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6" name="object 6"/>
            <p:cNvSpPr/>
            <p:nvPr/>
          </p:nvSpPr>
          <p:spPr>
            <a:xfrm>
              <a:off x="5791200" y="3962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122631" y="4409657"/>
            <a:ext cx="143891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S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1778" y="4841328"/>
            <a:ext cx="14249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6"/>
              </a:lnSpc>
            </a:pPr>
            <a:r>
              <a:rPr sz="2200" dirty="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88681" y="4467701"/>
            <a:ext cx="3358388" cy="1351598"/>
            <a:chOff x="4262437" y="3957637"/>
            <a:chExt cx="3053080" cy="1228725"/>
          </a:xfrm>
        </p:grpSpPr>
        <p:sp>
          <p:nvSpPr>
            <p:cNvPr id="10" name="object 10"/>
            <p:cNvSpPr/>
            <p:nvPr/>
          </p:nvSpPr>
          <p:spPr>
            <a:xfrm>
              <a:off x="5791200" y="3962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1200" y="3962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865875" y="4297679"/>
              <a:ext cx="169545" cy="234950"/>
            </a:xfrm>
            <a:custGeom>
              <a:avLst/>
              <a:gdLst/>
              <a:ahLst/>
              <a:cxnLst/>
              <a:rect l="l" t="t" r="r" b="b"/>
              <a:pathLst>
                <a:path w="169545" h="234950">
                  <a:moveTo>
                    <a:pt x="169163" y="0"/>
                  </a:moveTo>
                  <a:lnTo>
                    <a:pt x="0" y="0"/>
                  </a:lnTo>
                  <a:lnTo>
                    <a:pt x="0" y="234696"/>
                  </a:lnTo>
                  <a:lnTo>
                    <a:pt x="169163" y="234696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0" y="4185665"/>
              <a:ext cx="2743200" cy="767715"/>
            </a:xfrm>
            <a:custGeom>
              <a:avLst/>
              <a:gdLst/>
              <a:ahLst/>
              <a:cxnLst/>
              <a:rect l="l" t="t" r="r" b="b"/>
              <a:pathLst>
                <a:path w="2743200" h="767714">
                  <a:moveTo>
                    <a:pt x="1222629" y="10668"/>
                  </a:moveTo>
                  <a:lnTo>
                    <a:pt x="1215771" y="0"/>
                  </a:lnTo>
                  <a:lnTo>
                    <a:pt x="61264" y="721563"/>
                  </a:lnTo>
                  <a:lnTo>
                    <a:pt x="44450" y="694690"/>
                  </a:lnTo>
                  <a:lnTo>
                    <a:pt x="0" y="767334"/>
                  </a:lnTo>
                  <a:lnTo>
                    <a:pt x="84836" y="759206"/>
                  </a:lnTo>
                  <a:lnTo>
                    <a:pt x="72186" y="739013"/>
                  </a:lnTo>
                  <a:lnTo>
                    <a:pt x="67957" y="732256"/>
                  </a:lnTo>
                  <a:lnTo>
                    <a:pt x="1222629" y="10668"/>
                  </a:lnTo>
                  <a:close/>
                </a:path>
                <a:path w="2743200" h="767714">
                  <a:moveTo>
                    <a:pt x="1409700" y="614934"/>
                  </a:moveTo>
                  <a:lnTo>
                    <a:pt x="1377950" y="614934"/>
                  </a:lnTo>
                  <a:lnTo>
                    <a:pt x="1377950" y="81534"/>
                  </a:lnTo>
                  <a:lnTo>
                    <a:pt x="1365250" y="81534"/>
                  </a:lnTo>
                  <a:lnTo>
                    <a:pt x="1365250" y="614934"/>
                  </a:lnTo>
                  <a:lnTo>
                    <a:pt x="1333500" y="614934"/>
                  </a:lnTo>
                  <a:lnTo>
                    <a:pt x="1371600" y="691134"/>
                  </a:lnTo>
                  <a:lnTo>
                    <a:pt x="1403350" y="627634"/>
                  </a:lnTo>
                  <a:lnTo>
                    <a:pt x="1409700" y="614934"/>
                  </a:lnTo>
                  <a:close/>
                </a:path>
                <a:path w="2743200" h="767714">
                  <a:moveTo>
                    <a:pt x="2743200" y="767334"/>
                  </a:moveTo>
                  <a:lnTo>
                    <a:pt x="2725864" y="739013"/>
                  </a:lnTo>
                  <a:lnTo>
                    <a:pt x="2698750" y="694690"/>
                  </a:lnTo>
                  <a:lnTo>
                    <a:pt x="2681884" y="721626"/>
                  </a:lnTo>
                  <a:lnTo>
                    <a:pt x="1527302" y="0"/>
                  </a:lnTo>
                  <a:lnTo>
                    <a:pt x="1520571" y="10668"/>
                  </a:lnTo>
                  <a:lnTo>
                    <a:pt x="2675191" y="732320"/>
                  </a:lnTo>
                  <a:lnTo>
                    <a:pt x="2658364" y="759206"/>
                  </a:lnTo>
                  <a:lnTo>
                    <a:pt x="2743200" y="7673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7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267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95481" y="5833479"/>
            <a:ext cx="14249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6"/>
              </a:lnSpc>
            </a:pPr>
            <a:r>
              <a:rPr sz="2200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953" y="5415916"/>
            <a:ext cx="173927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A</a:t>
            </a:r>
            <a:endParaRPr sz="198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65081" y="5473541"/>
            <a:ext cx="345758" cy="345758"/>
            <a:chOff x="5786437" y="4872037"/>
            <a:chExt cx="314325" cy="314325"/>
          </a:xfrm>
        </p:grpSpPr>
        <p:sp>
          <p:nvSpPr>
            <p:cNvPr id="19" name="object 19"/>
            <p:cNvSpPr/>
            <p:nvPr/>
          </p:nvSpPr>
          <p:spPr>
            <a:xfrm>
              <a:off x="5791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0" name="object 20"/>
            <p:cNvSpPr/>
            <p:nvPr/>
          </p:nvSpPr>
          <p:spPr>
            <a:xfrm>
              <a:off x="5791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71881" y="5833479"/>
            <a:ext cx="14249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6"/>
              </a:lnSpc>
            </a:pP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22631" y="5415916"/>
            <a:ext cx="164846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B</a:t>
            </a:r>
            <a:endParaRPr sz="198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41481" y="5473541"/>
            <a:ext cx="345758" cy="345758"/>
            <a:chOff x="7310437" y="4872037"/>
            <a:chExt cx="314325" cy="314325"/>
          </a:xfrm>
        </p:grpSpPr>
        <p:sp>
          <p:nvSpPr>
            <p:cNvPr id="24" name="object 24"/>
            <p:cNvSpPr/>
            <p:nvPr/>
          </p:nvSpPr>
          <p:spPr>
            <a:xfrm>
              <a:off x="7315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5" name="object 25"/>
            <p:cNvSpPr/>
            <p:nvPr/>
          </p:nvSpPr>
          <p:spPr>
            <a:xfrm>
              <a:off x="7315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050910" y="5749519"/>
            <a:ext cx="312928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15630" y="5415916"/>
            <a:ext cx="162052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C</a:t>
            </a:r>
            <a:endParaRPr sz="198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00810" y="4803191"/>
            <a:ext cx="2189798" cy="1854518"/>
            <a:chOff x="909827" y="4262628"/>
            <a:chExt cx="1990725" cy="1685925"/>
          </a:xfrm>
        </p:grpSpPr>
        <p:sp>
          <p:nvSpPr>
            <p:cNvPr id="29" name="object 29"/>
            <p:cNvSpPr/>
            <p:nvPr/>
          </p:nvSpPr>
          <p:spPr>
            <a:xfrm>
              <a:off x="914399" y="5029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0" name="object 30"/>
            <p:cNvSpPr/>
            <p:nvPr/>
          </p:nvSpPr>
          <p:spPr>
            <a:xfrm>
              <a:off x="914399" y="5029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1" name="object 31"/>
            <p:cNvSpPr/>
            <p:nvPr/>
          </p:nvSpPr>
          <p:spPr>
            <a:xfrm>
              <a:off x="1828800" y="4267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2" name="object 32"/>
            <p:cNvSpPr/>
            <p:nvPr/>
          </p:nvSpPr>
          <p:spPr>
            <a:xfrm>
              <a:off x="1828800" y="4267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3" name="object 33"/>
            <p:cNvSpPr/>
            <p:nvPr/>
          </p:nvSpPr>
          <p:spPr>
            <a:xfrm>
              <a:off x="1828800" y="5029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4" name="object 34"/>
            <p:cNvSpPr/>
            <p:nvPr/>
          </p:nvSpPr>
          <p:spPr>
            <a:xfrm>
              <a:off x="1828800" y="5029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5" name="object 35"/>
            <p:cNvSpPr/>
            <p:nvPr/>
          </p:nvSpPr>
          <p:spPr>
            <a:xfrm>
              <a:off x="1066799" y="44196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762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6" name="object 36"/>
            <p:cNvSpPr/>
            <p:nvPr/>
          </p:nvSpPr>
          <p:spPr>
            <a:xfrm>
              <a:off x="1828800" y="5791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7" name="object 37"/>
            <p:cNvSpPr/>
            <p:nvPr/>
          </p:nvSpPr>
          <p:spPr>
            <a:xfrm>
              <a:off x="1828800" y="5791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8" name="object 38"/>
            <p:cNvSpPr/>
            <p:nvPr/>
          </p:nvSpPr>
          <p:spPr>
            <a:xfrm>
              <a:off x="1066799" y="5105400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76200"/>
                  </a:moveTo>
                  <a:lnTo>
                    <a:pt x="762000" y="685800"/>
                  </a:lnTo>
                </a:path>
                <a:path w="762000" h="6858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0" y="5029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0" name="object 40"/>
            <p:cNvSpPr/>
            <p:nvPr/>
          </p:nvSpPr>
          <p:spPr>
            <a:xfrm>
              <a:off x="2743200" y="5029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1200" y="4419600"/>
              <a:ext cx="762000" cy="1371600"/>
            </a:xfrm>
            <a:custGeom>
              <a:avLst/>
              <a:gdLst/>
              <a:ahLst/>
              <a:cxnLst/>
              <a:rect l="l" t="t" r="r" b="b"/>
              <a:pathLst>
                <a:path w="762000" h="1371600">
                  <a:moveTo>
                    <a:pt x="0" y="685800"/>
                  </a:moveTo>
                  <a:lnTo>
                    <a:pt x="762000" y="685800"/>
                  </a:lnTo>
                </a:path>
                <a:path w="762000" h="1371600">
                  <a:moveTo>
                    <a:pt x="762000" y="762000"/>
                  </a:moveTo>
                  <a:lnTo>
                    <a:pt x="0" y="1371600"/>
                  </a:lnTo>
                </a:path>
                <a:path w="762000" h="1371600">
                  <a:moveTo>
                    <a:pt x="0" y="0"/>
                  </a:moveTo>
                  <a:lnTo>
                    <a:pt x="762000" y="609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008968" y="5331341"/>
            <a:ext cx="143891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S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021013" y="5331341"/>
            <a:ext cx="187198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G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14754" y="4493477"/>
            <a:ext cx="173927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A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014754" y="5331341"/>
            <a:ext cx="165545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B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014753" y="6170240"/>
            <a:ext cx="162052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C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95653" y="5414239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44248" y="4994719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44248" y="6168563"/>
            <a:ext cx="312928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01493" y="4994720"/>
            <a:ext cx="312928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85313" y="6000922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33853" y="5414239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688681" y="5814060"/>
            <a:ext cx="345758" cy="1011428"/>
            <a:chOff x="4262437" y="5181600"/>
            <a:chExt cx="314325" cy="919480"/>
          </a:xfrm>
        </p:grpSpPr>
        <p:sp>
          <p:nvSpPr>
            <p:cNvPr id="54" name="object 54"/>
            <p:cNvSpPr/>
            <p:nvPr/>
          </p:nvSpPr>
          <p:spPr>
            <a:xfrm>
              <a:off x="4337303" y="5198364"/>
              <a:ext cx="169545" cy="236220"/>
            </a:xfrm>
            <a:custGeom>
              <a:avLst/>
              <a:gdLst/>
              <a:ahLst/>
              <a:cxnLst/>
              <a:rect l="l" t="t" r="r" b="b"/>
              <a:pathLst>
                <a:path w="169545" h="236220">
                  <a:moveTo>
                    <a:pt x="169163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69163" y="236220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55" name="object 55"/>
            <p:cNvSpPr/>
            <p:nvPr/>
          </p:nvSpPr>
          <p:spPr>
            <a:xfrm>
              <a:off x="4381500" y="51816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31750" y="533400"/>
                  </a:moveTo>
                  <a:lnTo>
                    <a:pt x="0" y="533400"/>
                  </a:lnTo>
                  <a:lnTo>
                    <a:pt x="38100" y="609600"/>
                  </a:lnTo>
                  <a:lnTo>
                    <a:pt x="69850" y="546100"/>
                  </a:lnTo>
                  <a:lnTo>
                    <a:pt x="31750" y="546100"/>
                  </a:lnTo>
                  <a:lnTo>
                    <a:pt x="31750" y="533400"/>
                  </a:lnTo>
                  <a:close/>
                </a:path>
                <a:path w="76200" h="609600">
                  <a:moveTo>
                    <a:pt x="44450" y="0"/>
                  </a:moveTo>
                  <a:lnTo>
                    <a:pt x="31750" y="0"/>
                  </a:lnTo>
                  <a:lnTo>
                    <a:pt x="31750" y="546100"/>
                  </a:lnTo>
                  <a:lnTo>
                    <a:pt x="44450" y="546100"/>
                  </a:lnTo>
                  <a:lnTo>
                    <a:pt x="44450" y="0"/>
                  </a:lnTo>
                  <a:close/>
                </a:path>
                <a:path w="76200" h="609600">
                  <a:moveTo>
                    <a:pt x="76200" y="533400"/>
                  </a:moveTo>
                  <a:lnTo>
                    <a:pt x="44450" y="533400"/>
                  </a:lnTo>
                  <a:lnTo>
                    <a:pt x="44450" y="546100"/>
                  </a:lnTo>
                  <a:lnTo>
                    <a:pt x="69850" y="546100"/>
                  </a:lnTo>
                  <a:lnTo>
                    <a:pt x="76200" y="533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56" name="object 56"/>
            <p:cNvSpPr/>
            <p:nvPr/>
          </p:nvSpPr>
          <p:spPr>
            <a:xfrm>
              <a:off x="4267200" y="5791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9"/>
                  </a:lnTo>
                  <a:lnTo>
                    <a:pt x="62380" y="29405"/>
                  </a:lnTo>
                  <a:lnTo>
                    <a:pt x="29394" y="62396"/>
                  </a:lnTo>
                  <a:lnTo>
                    <a:pt x="7766" y="104231"/>
                  </a:lnTo>
                  <a:lnTo>
                    <a:pt x="0" y="152400"/>
                  </a:lnTo>
                  <a:lnTo>
                    <a:pt x="7766" y="200568"/>
                  </a:lnTo>
                  <a:lnTo>
                    <a:pt x="29394" y="242403"/>
                  </a:lnTo>
                  <a:lnTo>
                    <a:pt x="62380" y="275394"/>
                  </a:lnTo>
                  <a:lnTo>
                    <a:pt x="104217" y="297030"/>
                  </a:lnTo>
                  <a:lnTo>
                    <a:pt x="152400" y="304800"/>
                  </a:lnTo>
                  <a:lnTo>
                    <a:pt x="200582" y="297030"/>
                  </a:lnTo>
                  <a:lnTo>
                    <a:pt x="242419" y="275394"/>
                  </a:lnTo>
                  <a:lnTo>
                    <a:pt x="275405" y="242403"/>
                  </a:lnTo>
                  <a:lnTo>
                    <a:pt x="297033" y="200568"/>
                  </a:lnTo>
                  <a:lnTo>
                    <a:pt x="304800" y="152400"/>
                  </a:lnTo>
                  <a:lnTo>
                    <a:pt x="297033" y="104231"/>
                  </a:lnTo>
                  <a:lnTo>
                    <a:pt x="275405" y="62396"/>
                  </a:lnTo>
                  <a:lnTo>
                    <a:pt x="242419" y="29405"/>
                  </a:lnTo>
                  <a:lnTo>
                    <a:pt x="200582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57" name="object 57"/>
            <p:cNvSpPr/>
            <p:nvPr/>
          </p:nvSpPr>
          <p:spPr>
            <a:xfrm>
              <a:off x="4267200" y="5791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31"/>
                  </a:lnTo>
                  <a:lnTo>
                    <a:pt x="29394" y="62396"/>
                  </a:lnTo>
                  <a:lnTo>
                    <a:pt x="62380" y="29405"/>
                  </a:lnTo>
                  <a:lnTo>
                    <a:pt x="104217" y="7769"/>
                  </a:lnTo>
                  <a:lnTo>
                    <a:pt x="152400" y="0"/>
                  </a:lnTo>
                  <a:lnTo>
                    <a:pt x="200582" y="7769"/>
                  </a:lnTo>
                  <a:lnTo>
                    <a:pt x="242419" y="29405"/>
                  </a:lnTo>
                  <a:lnTo>
                    <a:pt x="275405" y="62396"/>
                  </a:lnTo>
                  <a:lnTo>
                    <a:pt x="297033" y="104231"/>
                  </a:lnTo>
                  <a:lnTo>
                    <a:pt x="304800" y="152400"/>
                  </a:lnTo>
                  <a:lnTo>
                    <a:pt x="297033" y="200568"/>
                  </a:lnTo>
                  <a:lnTo>
                    <a:pt x="275405" y="242403"/>
                  </a:lnTo>
                  <a:lnTo>
                    <a:pt x="242419" y="275394"/>
                  </a:lnTo>
                  <a:lnTo>
                    <a:pt x="200582" y="297030"/>
                  </a:lnTo>
                  <a:lnTo>
                    <a:pt x="152400" y="304800"/>
                  </a:lnTo>
                  <a:lnTo>
                    <a:pt x="104217" y="297030"/>
                  </a:lnTo>
                  <a:lnTo>
                    <a:pt x="62380" y="275394"/>
                  </a:lnTo>
                  <a:lnTo>
                    <a:pt x="29394" y="242403"/>
                  </a:lnTo>
                  <a:lnTo>
                    <a:pt x="7766" y="200568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445953" y="6421700"/>
            <a:ext cx="187198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G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725492" y="6757313"/>
            <a:ext cx="312928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11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688891" y="5473751"/>
            <a:ext cx="2022158" cy="1351598"/>
            <a:chOff x="4262628" y="4872228"/>
            <a:chExt cx="1838325" cy="1228725"/>
          </a:xfrm>
        </p:grpSpPr>
        <p:sp>
          <p:nvSpPr>
            <p:cNvPr id="61" name="object 61"/>
            <p:cNvSpPr/>
            <p:nvPr/>
          </p:nvSpPr>
          <p:spPr>
            <a:xfrm>
              <a:off x="4267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62" name="object 62"/>
            <p:cNvSpPr/>
            <p:nvPr/>
          </p:nvSpPr>
          <p:spPr>
            <a:xfrm>
              <a:off x="4267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63" name="object 63"/>
            <p:cNvSpPr/>
            <p:nvPr/>
          </p:nvSpPr>
          <p:spPr>
            <a:xfrm>
              <a:off x="5791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64" name="object 64"/>
            <p:cNvSpPr/>
            <p:nvPr/>
          </p:nvSpPr>
          <p:spPr>
            <a:xfrm>
              <a:off x="5791200" y="4876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65" name="object 65"/>
            <p:cNvSpPr/>
            <p:nvPr/>
          </p:nvSpPr>
          <p:spPr>
            <a:xfrm>
              <a:off x="5865876" y="5224272"/>
              <a:ext cx="182880" cy="196850"/>
            </a:xfrm>
            <a:custGeom>
              <a:avLst/>
              <a:gdLst/>
              <a:ahLst/>
              <a:cxnLst/>
              <a:rect l="l" t="t" r="r" b="b"/>
              <a:pathLst>
                <a:path w="182879" h="196850">
                  <a:moveTo>
                    <a:pt x="182879" y="0"/>
                  </a:moveTo>
                  <a:lnTo>
                    <a:pt x="0" y="0"/>
                  </a:lnTo>
                  <a:lnTo>
                    <a:pt x="0" y="196595"/>
                  </a:lnTo>
                  <a:lnTo>
                    <a:pt x="182879" y="196595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66" name="object 66"/>
            <p:cNvSpPr/>
            <p:nvPr/>
          </p:nvSpPr>
          <p:spPr>
            <a:xfrm>
              <a:off x="5905500" y="51816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31750" y="533400"/>
                  </a:moveTo>
                  <a:lnTo>
                    <a:pt x="0" y="533400"/>
                  </a:lnTo>
                  <a:lnTo>
                    <a:pt x="38100" y="609600"/>
                  </a:lnTo>
                  <a:lnTo>
                    <a:pt x="69850" y="546100"/>
                  </a:lnTo>
                  <a:lnTo>
                    <a:pt x="31750" y="546100"/>
                  </a:lnTo>
                  <a:lnTo>
                    <a:pt x="31750" y="533400"/>
                  </a:lnTo>
                  <a:close/>
                </a:path>
                <a:path w="76200" h="609600">
                  <a:moveTo>
                    <a:pt x="44450" y="0"/>
                  </a:moveTo>
                  <a:lnTo>
                    <a:pt x="31750" y="0"/>
                  </a:lnTo>
                  <a:lnTo>
                    <a:pt x="31750" y="546100"/>
                  </a:lnTo>
                  <a:lnTo>
                    <a:pt x="44450" y="546100"/>
                  </a:lnTo>
                  <a:lnTo>
                    <a:pt x="44450" y="0"/>
                  </a:lnTo>
                  <a:close/>
                </a:path>
                <a:path w="76200" h="609600">
                  <a:moveTo>
                    <a:pt x="76200" y="533400"/>
                  </a:moveTo>
                  <a:lnTo>
                    <a:pt x="44450" y="533400"/>
                  </a:lnTo>
                  <a:lnTo>
                    <a:pt x="44450" y="546100"/>
                  </a:lnTo>
                  <a:lnTo>
                    <a:pt x="69850" y="546100"/>
                  </a:lnTo>
                  <a:lnTo>
                    <a:pt x="76200" y="533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67" name="object 67"/>
            <p:cNvSpPr/>
            <p:nvPr/>
          </p:nvSpPr>
          <p:spPr>
            <a:xfrm>
              <a:off x="5791200" y="5791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9"/>
                  </a:lnTo>
                  <a:lnTo>
                    <a:pt x="62380" y="29405"/>
                  </a:lnTo>
                  <a:lnTo>
                    <a:pt x="29394" y="62396"/>
                  </a:lnTo>
                  <a:lnTo>
                    <a:pt x="7766" y="104231"/>
                  </a:lnTo>
                  <a:lnTo>
                    <a:pt x="0" y="152400"/>
                  </a:lnTo>
                  <a:lnTo>
                    <a:pt x="7766" y="200568"/>
                  </a:lnTo>
                  <a:lnTo>
                    <a:pt x="29394" y="242403"/>
                  </a:lnTo>
                  <a:lnTo>
                    <a:pt x="62380" y="275394"/>
                  </a:lnTo>
                  <a:lnTo>
                    <a:pt x="104217" y="297030"/>
                  </a:lnTo>
                  <a:lnTo>
                    <a:pt x="152400" y="304800"/>
                  </a:lnTo>
                  <a:lnTo>
                    <a:pt x="200582" y="297030"/>
                  </a:lnTo>
                  <a:lnTo>
                    <a:pt x="242419" y="275394"/>
                  </a:lnTo>
                  <a:lnTo>
                    <a:pt x="275405" y="242403"/>
                  </a:lnTo>
                  <a:lnTo>
                    <a:pt x="297033" y="200568"/>
                  </a:lnTo>
                  <a:lnTo>
                    <a:pt x="304800" y="152400"/>
                  </a:lnTo>
                  <a:lnTo>
                    <a:pt x="297033" y="104231"/>
                  </a:lnTo>
                  <a:lnTo>
                    <a:pt x="275405" y="62396"/>
                  </a:lnTo>
                  <a:lnTo>
                    <a:pt x="242419" y="29405"/>
                  </a:lnTo>
                  <a:lnTo>
                    <a:pt x="200582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68" name="object 68"/>
            <p:cNvSpPr/>
            <p:nvPr/>
          </p:nvSpPr>
          <p:spPr>
            <a:xfrm>
              <a:off x="5791200" y="5791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31"/>
                  </a:lnTo>
                  <a:lnTo>
                    <a:pt x="29394" y="62396"/>
                  </a:lnTo>
                  <a:lnTo>
                    <a:pt x="62380" y="29405"/>
                  </a:lnTo>
                  <a:lnTo>
                    <a:pt x="104217" y="7769"/>
                  </a:lnTo>
                  <a:lnTo>
                    <a:pt x="152400" y="0"/>
                  </a:lnTo>
                  <a:lnTo>
                    <a:pt x="200582" y="7769"/>
                  </a:lnTo>
                  <a:lnTo>
                    <a:pt x="242419" y="29405"/>
                  </a:lnTo>
                  <a:lnTo>
                    <a:pt x="275405" y="62396"/>
                  </a:lnTo>
                  <a:lnTo>
                    <a:pt x="297033" y="104231"/>
                  </a:lnTo>
                  <a:lnTo>
                    <a:pt x="304800" y="152400"/>
                  </a:lnTo>
                  <a:lnTo>
                    <a:pt x="297033" y="200568"/>
                  </a:lnTo>
                  <a:lnTo>
                    <a:pt x="275405" y="242403"/>
                  </a:lnTo>
                  <a:lnTo>
                    <a:pt x="242419" y="275394"/>
                  </a:lnTo>
                  <a:lnTo>
                    <a:pt x="200582" y="297030"/>
                  </a:lnTo>
                  <a:lnTo>
                    <a:pt x="152400" y="304800"/>
                  </a:lnTo>
                  <a:lnTo>
                    <a:pt x="104217" y="297030"/>
                  </a:lnTo>
                  <a:lnTo>
                    <a:pt x="62380" y="275394"/>
                  </a:lnTo>
                  <a:lnTo>
                    <a:pt x="29394" y="242403"/>
                  </a:lnTo>
                  <a:lnTo>
                    <a:pt x="7766" y="200568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122631" y="6421700"/>
            <a:ext cx="187198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G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374091" y="6755303"/>
            <a:ext cx="312928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983602" y="6362354"/>
            <a:ext cx="2958846" cy="12329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b="1" dirty="0">
                <a:latin typeface="Calibri"/>
                <a:cs typeface="Calibri"/>
              </a:rPr>
              <a:t>Nodes</a:t>
            </a:r>
            <a:r>
              <a:rPr sz="1980" b="1" spc="-61" dirty="0">
                <a:latin typeface="Calibri"/>
                <a:cs typeface="Calibri"/>
              </a:rPr>
              <a:t> </a:t>
            </a:r>
            <a:r>
              <a:rPr sz="1980" b="1" spc="-11" dirty="0">
                <a:latin typeface="Calibri"/>
                <a:cs typeface="Calibri"/>
              </a:rPr>
              <a:t>List</a:t>
            </a:r>
            <a:r>
              <a:rPr sz="1980" b="1" spc="-22" dirty="0">
                <a:latin typeface="Calibri"/>
                <a:cs typeface="Calibri"/>
              </a:rPr>
              <a:t> </a:t>
            </a:r>
            <a:r>
              <a:rPr sz="1980" b="1" dirty="0">
                <a:latin typeface="Calibri"/>
                <a:cs typeface="Calibri"/>
              </a:rPr>
              <a:t>=</a:t>
            </a:r>
            <a:r>
              <a:rPr sz="1980" b="1" spc="-6" dirty="0">
                <a:latin typeface="Calibri"/>
                <a:cs typeface="Calibri"/>
              </a:rPr>
              <a:t> </a:t>
            </a:r>
            <a:r>
              <a:rPr sz="1980" b="1" dirty="0">
                <a:latin typeface="Calibri"/>
                <a:cs typeface="Calibri"/>
              </a:rPr>
              <a:t>(S0)</a:t>
            </a:r>
            <a:endParaRPr sz="1980">
              <a:latin typeface="Calibri"/>
              <a:cs typeface="Calibri"/>
            </a:endParaRPr>
          </a:p>
          <a:p>
            <a:pPr marL="13970" marR="5588"/>
            <a:r>
              <a:rPr sz="1980" b="1" dirty="0">
                <a:latin typeface="Calibri"/>
                <a:cs typeface="Calibri"/>
              </a:rPr>
              <a:t>Nodes </a:t>
            </a:r>
            <a:r>
              <a:rPr sz="1980" b="1" spc="-11" dirty="0">
                <a:latin typeface="Calibri"/>
                <a:cs typeface="Calibri"/>
              </a:rPr>
              <a:t>List </a:t>
            </a:r>
            <a:r>
              <a:rPr sz="1980" b="1" dirty="0">
                <a:latin typeface="Calibri"/>
                <a:cs typeface="Calibri"/>
              </a:rPr>
              <a:t>= (A1, </a:t>
            </a:r>
            <a:r>
              <a:rPr sz="1980" b="1" spc="-6" dirty="0">
                <a:latin typeface="Calibri"/>
                <a:cs typeface="Calibri"/>
              </a:rPr>
              <a:t>B5, C15) </a:t>
            </a:r>
            <a:r>
              <a:rPr sz="1980" b="1" dirty="0">
                <a:latin typeface="Calibri"/>
                <a:cs typeface="Calibri"/>
              </a:rPr>
              <a:t> Nodes </a:t>
            </a:r>
            <a:r>
              <a:rPr sz="1980" b="1" spc="-11" dirty="0">
                <a:latin typeface="Calibri"/>
                <a:cs typeface="Calibri"/>
              </a:rPr>
              <a:t>List </a:t>
            </a:r>
            <a:r>
              <a:rPr sz="1980" b="1" dirty="0">
                <a:latin typeface="Calibri"/>
                <a:cs typeface="Calibri"/>
              </a:rPr>
              <a:t>= (B5, G11, </a:t>
            </a:r>
            <a:r>
              <a:rPr sz="1980" b="1" spc="-6" dirty="0">
                <a:latin typeface="Calibri"/>
                <a:cs typeface="Calibri"/>
              </a:rPr>
              <a:t>C15) </a:t>
            </a:r>
            <a:r>
              <a:rPr sz="1980" b="1" dirty="0">
                <a:latin typeface="Calibri"/>
                <a:cs typeface="Calibri"/>
              </a:rPr>
              <a:t> Nodes</a:t>
            </a:r>
            <a:r>
              <a:rPr sz="1980" b="1" spc="-55" dirty="0">
                <a:latin typeface="Calibri"/>
                <a:cs typeface="Calibri"/>
              </a:rPr>
              <a:t> </a:t>
            </a:r>
            <a:r>
              <a:rPr sz="1980" b="1" spc="-11" dirty="0">
                <a:latin typeface="Calibri"/>
                <a:cs typeface="Calibri"/>
              </a:rPr>
              <a:t>List</a:t>
            </a:r>
            <a:r>
              <a:rPr sz="1980" b="1" spc="-17" dirty="0">
                <a:latin typeface="Calibri"/>
                <a:cs typeface="Calibri"/>
              </a:rPr>
              <a:t> </a:t>
            </a:r>
            <a:r>
              <a:rPr sz="1980" b="1" dirty="0">
                <a:latin typeface="Calibri"/>
                <a:cs typeface="Calibri"/>
              </a:rPr>
              <a:t>= (G10,</a:t>
            </a:r>
            <a:r>
              <a:rPr sz="1980" b="1" spc="-22" dirty="0">
                <a:latin typeface="Calibri"/>
                <a:cs typeface="Calibri"/>
              </a:rPr>
              <a:t> </a:t>
            </a:r>
            <a:r>
              <a:rPr sz="1980" b="1" spc="-6" dirty="0">
                <a:latin typeface="Calibri"/>
                <a:cs typeface="Calibri"/>
              </a:rPr>
              <a:t>G11,</a:t>
            </a:r>
            <a:r>
              <a:rPr sz="1980" b="1" spc="-17" dirty="0">
                <a:latin typeface="Calibri"/>
                <a:cs typeface="Calibri"/>
              </a:rPr>
              <a:t> </a:t>
            </a:r>
            <a:r>
              <a:rPr sz="1980" b="1" spc="-6" dirty="0">
                <a:latin typeface="Calibri"/>
                <a:cs typeface="Calibri"/>
              </a:rPr>
              <a:t>C15)</a:t>
            </a:r>
            <a:endParaRPr sz="198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036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988" y="1437474"/>
            <a:ext cx="4544720" cy="383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82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988" y="1434122"/>
            <a:ext cx="4544720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988" y="1434122"/>
            <a:ext cx="4544720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79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988" y="1434122"/>
            <a:ext cx="4544720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1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988" y="1434122"/>
            <a:ext cx="4544720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60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797" y="1434122"/>
            <a:ext cx="4554778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512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797" y="1434122"/>
            <a:ext cx="4554778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6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797" y="1434122"/>
            <a:ext cx="4554778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50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797" y="1434122"/>
            <a:ext cx="4554778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82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797" y="1434122"/>
            <a:ext cx="4554778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26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4271645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33700" algn="l"/>
              </a:tabLst>
            </a:pPr>
            <a:r>
              <a:rPr u="none" spc="245" dirty="0"/>
              <a:t>Exercise:	</a:t>
            </a:r>
            <a:r>
              <a:rPr u="none" spc="585" dirty="0"/>
              <a:t>UCS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0842" y="1434122"/>
            <a:ext cx="4596688" cy="4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15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9523" y="2993462"/>
            <a:ext cx="4040823" cy="12708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lnSpc>
                <a:spcPts val="5330"/>
              </a:lnSpc>
              <a:spcBef>
                <a:spcPts val="110"/>
              </a:spcBef>
            </a:pPr>
            <a:r>
              <a:rPr sz="4620" spc="-17" dirty="0">
                <a:solidFill>
                  <a:srgbClr val="000000"/>
                </a:solidFill>
                <a:latin typeface="Calibri"/>
                <a:cs typeface="Calibri"/>
              </a:rPr>
              <a:t>Informed</a:t>
            </a:r>
            <a:r>
              <a:rPr sz="4620" spc="-6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620" spc="-17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endParaRPr sz="4620">
              <a:latin typeface="Calibri"/>
              <a:cs typeface="Calibri"/>
            </a:endParaRPr>
          </a:p>
          <a:p>
            <a:pPr marL="13970">
              <a:lnSpc>
                <a:spcPts val="4538"/>
              </a:lnSpc>
            </a:pPr>
            <a:r>
              <a:rPr sz="3960" dirty="0">
                <a:solidFill>
                  <a:srgbClr val="000000"/>
                </a:solidFill>
                <a:latin typeface="Calibri"/>
                <a:cs typeface="Calibri"/>
              </a:rPr>
              <a:t>[</a:t>
            </a:r>
            <a:r>
              <a:rPr sz="3960" spc="-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960" spc="-6" dirty="0">
                <a:solidFill>
                  <a:srgbClr val="C00000"/>
                </a:solidFill>
                <a:latin typeface="Calibri"/>
                <a:cs typeface="Calibri"/>
              </a:rPr>
              <a:t>Heuristic</a:t>
            </a:r>
            <a:r>
              <a:rPr sz="3960" spc="-28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960" b="0" spc="-11" dirty="0">
                <a:solidFill>
                  <a:srgbClr val="C00000"/>
                </a:solidFill>
                <a:latin typeface="Calibri"/>
                <a:cs typeface="Calibri"/>
              </a:rPr>
              <a:t>Search</a:t>
            </a:r>
            <a:r>
              <a:rPr sz="3960" b="0" spc="-4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960" dirty="0">
                <a:solidFill>
                  <a:srgbClr val="000000"/>
                </a:solidFill>
                <a:latin typeface="Calibri"/>
                <a:cs typeface="Calibri"/>
              </a:rPr>
              <a:t>]</a:t>
            </a:r>
            <a:endParaRPr sz="396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6361" y="1051408"/>
            <a:ext cx="5102962" cy="566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67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3391" y="642620"/>
            <a:ext cx="6012180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14625" algn="l"/>
              </a:tabLst>
            </a:pPr>
            <a:r>
              <a:rPr sz="4100" b="1" spc="295" dirty="0">
                <a:solidFill>
                  <a:srgbClr val="00007F"/>
                </a:solidFill>
                <a:latin typeface="Arial"/>
                <a:cs typeface="Arial"/>
              </a:rPr>
              <a:t>Artificial	</a:t>
            </a:r>
            <a:r>
              <a:rPr sz="4100" b="1" spc="270" dirty="0">
                <a:solidFill>
                  <a:srgbClr val="00007F"/>
                </a:solidFill>
                <a:latin typeface="Arial"/>
                <a:cs typeface="Arial"/>
              </a:rPr>
              <a:t>Intelligence</a:t>
            </a:r>
            <a:endParaRPr sz="4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91714" y="1278130"/>
            <a:ext cx="4676140" cy="1544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8279">
              <a:lnSpc>
                <a:spcPct val="121500"/>
              </a:lnSpc>
              <a:spcBef>
                <a:spcPts val="95"/>
              </a:spcBef>
              <a:tabLst>
                <a:tab pos="2416175" algn="l"/>
                <a:tab pos="2830195" algn="l"/>
              </a:tabLst>
            </a:pPr>
            <a:r>
              <a:rPr sz="4100" b="1" spc="280" dirty="0">
                <a:solidFill>
                  <a:srgbClr val="EC008C"/>
                </a:solidFill>
                <a:latin typeface="Arial"/>
                <a:cs typeface="Arial"/>
              </a:rPr>
              <a:t>Search	</a:t>
            </a:r>
            <a:r>
              <a:rPr sz="4100" b="1" spc="355" dirty="0">
                <a:solidFill>
                  <a:srgbClr val="EC008C"/>
                </a:solidFill>
                <a:latin typeface="Arial"/>
                <a:cs typeface="Arial"/>
              </a:rPr>
              <a:t>Agents </a:t>
            </a:r>
            <a:r>
              <a:rPr sz="4100" b="1" spc="36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4100" b="1" spc="315" dirty="0">
                <a:solidFill>
                  <a:srgbClr val="EC008C"/>
                </a:solidFill>
                <a:latin typeface="Arial"/>
                <a:cs typeface="Arial"/>
              </a:rPr>
              <a:t>In</a:t>
            </a:r>
            <a:r>
              <a:rPr sz="4100" b="1" spc="360" dirty="0">
                <a:solidFill>
                  <a:srgbClr val="EC008C"/>
                </a:solidFill>
                <a:latin typeface="Arial"/>
                <a:cs typeface="Arial"/>
              </a:rPr>
              <a:t>f</a:t>
            </a:r>
            <a:r>
              <a:rPr sz="4100" b="1" spc="160" dirty="0">
                <a:solidFill>
                  <a:srgbClr val="EC008C"/>
                </a:solidFill>
                <a:latin typeface="Arial"/>
                <a:cs typeface="Arial"/>
              </a:rPr>
              <a:t>o</a:t>
            </a:r>
            <a:r>
              <a:rPr sz="4100" b="1" spc="270" dirty="0">
                <a:solidFill>
                  <a:srgbClr val="EC008C"/>
                </a:solidFill>
                <a:latin typeface="Arial"/>
                <a:cs typeface="Arial"/>
              </a:rPr>
              <a:t>r</a:t>
            </a:r>
            <a:r>
              <a:rPr sz="4100" b="1" spc="505" dirty="0">
                <a:solidFill>
                  <a:srgbClr val="EC008C"/>
                </a:solidFill>
                <a:latin typeface="Arial"/>
                <a:cs typeface="Arial"/>
              </a:rPr>
              <a:t>me</a:t>
            </a:r>
            <a:r>
              <a:rPr sz="4100" b="1" spc="290" dirty="0">
                <a:solidFill>
                  <a:srgbClr val="EC008C"/>
                </a:solidFill>
                <a:latin typeface="Arial"/>
                <a:cs typeface="Arial"/>
              </a:rPr>
              <a:t>d</a:t>
            </a:r>
            <a:r>
              <a:rPr sz="4100" b="1" dirty="0">
                <a:solidFill>
                  <a:srgbClr val="EC008C"/>
                </a:solidFill>
                <a:latin typeface="Arial"/>
                <a:cs typeface="Arial"/>
              </a:rPr>
              <a:t>	</a:t>
            </a:r>
            <a:r>
              <a:rPr sz="4100" b="1" spc="90" dirty="0">
                <a:solidFill>
                  <a:srgbClr val="EC008C"/>
                </a:solidFill>
                <a:latin typeface="Arial"/>
                <a:cs typeface="Arial"/>
              </a:rPr>
              <a:t>se</a:t>
            </a:r>
            <a:r>
              <a:rPr sz="4100" b="1" spc="215" dirty="0">
                <a:solidFill>
                  <a:srgbClr val="EC008C"/>
                </a:solidFill>
                <a:latin typeface="Arial"/>
                <a:cs typeface="Arial"/>
              </a:rPr>
              <a:t>a</a:t>
            </a:r>
            <a:r>
              <a:rPr sz="4100" b="1" spc="270" dirty="0">
                <a:solidFill>
                  <a:srgbClr val="EC008C"/>
                </a:solidFill>
                <a:latin typeface="Arial"/>
                <a:cs typeface="Arial"/>
              </a:rPr>
              <a:t>r</a:t>
            </a:r>
            <a:r>
              <a:rPr sz="4100" b="1" spc="260" dirty="0">
                <a:solidFill>
                  <a:srgbClr val="EC008C"/>
                </a:solidFill>
                <a:latin typeface="Arial"/>
                <a:cs typeface="Arial"/>
              </a:rPr>
              <a:t>ch</a:t>
            </a:r>
            <a:endParaRPr sz="4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4419" y="3279025"/>
            <a:ext cx="5996822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56560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40" dirty="0"/>
              <a:t>Informed	</a:t>
            </a:r>
            <a:r>
              <a:rPr spc="195" dirty="0"/>
              <a:t>search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60" dirty="0">
                <a:solidFill>
                  <a:srgbClr val="0000FF"/>
                </a:solidFill>
              </a:rPr>
              <a:t>Use</a:t>
            </a:r>
            <a:r>
              <a:rPr spc="345" dirty="0">
                <a:solidFill>
                  <a:srgbClr val="0000FF"/>
                </a:solidFill>
              </a:rPr>
              <a:t> </a:t>
            </a:r>
            <a:r>
              <a:rPr spc="180" dirty="0">
                <a:solidFill>
                  <a:srgbClr val="0000FF"/>
                </a:solidFill>
              </a:rPr>
              <a:t>domain</a:t>
            </a:r>
            <a:r>
              <a:rPr spc="350" dirty="0">
                <a:solidFill>
                  <a:srgbClr val="0000FF"/>
                </a:solidFill>
              </a:rPr>
              <a:t> </a:t>
            </a:r>
            <a:r>
              <a:rPr spc="150" dirty="0">
                <a:solidFill>
                  <a:srgbClr val="0000FF"/>
                </a:solidFill>
              </a:rPr>
              <a:t>knowledge!</a:t>
            </a:r>
          </a:p>
          <a:p>
            <a:pPr marL="493395" indent="-260985">
              <a:lnSpc>
                <a:spcPct val="100000"/>
              </a:lnSpc>
              <a:spcBef>
                <a:spcPts val="1645"/>
              </a:spcBef>
              <a:buFont typeface="MS UI Gothic"/>
              <a:buChar char="•"/>
              <a:tabLst>
                <a:tab pos="494030" algn="l"/>
              </a:tabLst>
            </a:pPr>
            <a:r>
              <a:rPr b="0" spc="160" dirty="0">
                <a:solidFill>
                  <a:srgbClr val="000000"/>
                </a:solidFill>
                <a:latin typeface="Arial MT"/>
                <a:cs typeface="Arial MT"/>
              </a:rPr>
              <a:t>Are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95" dirty="0">
                <a:solidFill>
                  <a:srgbClr val="000000"/>
                </a:solidFill>
                <a:latin typeface="Arial MT"/>
                <a:cs typeface="Arial MT"/>
              </a:rPr>
              <a:t>we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85" dirty="0">
                <a:solidFill>
                  <a:srgbClr val="000000"/>
                </a:solidFill>
                <a:latin typeface="Arial MT"/>
                <a:cs typeface="Arial MT"/>
              </a:rPr>
              <a:t>getting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75" dirty="0">
                <a:solidFill>
                  <a:srgbClr val="000000"/>
                </a:solidFill>
                <a:latin typeface="Arial MT"/>
                <a:cs typeface="Arial MT"/>
              </a:rPr>
              <a:t>close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14" dirty="0">
                <a:solidFill>
                  <a:srgbClr val="000000"/>
                </a:solidFill>
                <a:latin typeface="Arial MT"/>
                <a:cs typeface="Arial MT"/>
              </a:rPr>
              <a:t>goal?</a:t>
            </a:r>
          </a:p>
          <a:p>
            <a:pPr marL="493395" marR="5080" indent="-260350">
              <a:lnSpc>
                <a:spcPct val="119200"/>
              </a:lnSpc>
              <a:spcBef>
                <a:spcPts val="2160"/>
              </a:spcBef>
              <a:buFont typeface="MS UI Gothic"/>
              <a:buChar char="•"/>
              <a:tabLst>
                <a:tab pos="494030" algn="l"/>
              </a:tabLst>
            </a:pPr>
            <a:r>
              <a:rPr b="0" spc="60" dirty="0">
                <a:solidFill>
                  <a:srgbClr val="000000"/>
                </a:solidFill>
                <a:latin typeface="Arial MT"/>
                <a:cs typeface="Arial MT"/>
              </a:rPr>
              <a:t>Use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85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heuristic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5" dirty="0">
                <a:solidFill>
                  <a:srgbClr val="000000"/>
                </a:solidFill>
                <a:latin typeface="Arial MT"/>
                <a:cs typeface="Arial MT"/>
              </a:rPr>
              <a:t>function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35" dirty="0">
                <a:solidFill>
                  <a:srgbClr val="000000"/>
                </a:solidFill>
                <a:latin typeface="Arial MT"/>
                <a:cs typeface="Arial MT"/>
              </a:rPr>
              <a:t>that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estimates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60" dirty="0">
                <a:solidFill>
                  <a:srgbClr val="000000"/>
                </a:solidFill>
                <a:latin typeface="Arial MT"/>
                <a:cs typeface="Arial MT"/>
              </a:rPr>
              <a:t>how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75" dirty="0">
                <a:solidFill>
                  <a:srgbClr val="000000"/>
                </a:solidFill>
                <a:latin typeface="Arial MT"/>
                <a:cs typeface="Arial MT"/>
              </a:rPr>
              <a:t>close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85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55" dirty="0">
                <a:solidFill>
                  <a:srgbClr val="000000"/>
                </a:solidFill>
                <a:latin typeface="Arial MT"/>
                <a:cs typeface="Arial MT"/>
              </a:rPr>
              <a:t>state</a:t>
            </a:r>
            <a:r>
              <a:rPr b="0" spc="25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45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to </a:t>
            </a:r>
            <a:r>
              <a:rPr b="0" spc="-5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25" dirty="0">
                <a:solidFill>
                  <a:srgbClr val="000000"/>
                </a:solidFill>
                <a:latin typeface="Arial MT"/>
                <a:cs typeface="Arial MT"/>
              </a:rPr>
              <a:t>goal</a:t>
            </a:r>
          </a:p>
          <a:p>
            <a:pPr>
              <a:lnSpc>
                <a:spcPct val="100000"/>
              </a:lnSpc>
              <a:spcBef>
                <a:spcPts val="25"/>
              </a:spcBef>
              <a:buFont typeface="MS UI Gothic"/>
              <a:buChar char="•"/>
            </a:pPr>
            <a:endParaRPr sz="2250" dirty="0">
              <a:latin typeface="Arial MT"/>
              <a:cs typeface="Arial MT"/>
            </a:endParaRPr>
          </a:p>
          <a:p>
            <a:pPr marL="493395" indent="-260985">
              <a:lnSpc>
                <a:spcPct val="100000"/>
              </a:lnSpc>
              <a:buFont typeface="MS UI Gothic"/>
              <a:buChar char="•"/>
              <a:tabLst>
                <a:tab pos="494030" algn="l"/>
              </a:tabLst>
            </a:pPr>
            <a:r>
              <a:rPr b="0" spc="295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heuristic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90" dirty="0">
                <a:solidFill>
                  <a:srgbClr val="000000"/>
                </a:solidFill>
                <a:latin typeface="Arial MT"/>
                <a:cs typeface="Arial MT"/>
              </a:rPr>
              <a:t>does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390" dirty="0">
                <a:solidFill>
                  <a:srgbClr val="000000"/>
                </a:solidFill>
                <a:latin typeface="Arial MT"/>
                <a:cs typeface="Arial MT"/>
              </a:rPr>
              <a:t>NOT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95" dirty="0">
                <a:solidFill>
                  <a:srgbClr val="000000"/>
                </a:solidFill>
                <a:latin typeface="Arial MT"/>
                <a:cs typeface="Arial MT"/>
              </a:rPr>
              <a:t>have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14" dirty="0">
                <a:solidFill>
                  <a:srgbClr val="000000"/>
                </a:solidFill>
                <a:latin typeface="Arial MT"/>
                <a:cs typeface="Arial MT"/>
              </a:rPr>
              <a:t>be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60" dirty="0">
                <a:solidFill>
                  <a:srgbClr val="000000"/>
                </a:solidFill>
                <a:latin typeface="Arial MT"/>
                <a:cs typeface="Arial MT"/>
              </a:rPr>
              <a:t>perfect!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56560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40" dirty="0"/>
              <a:t>Informed	</a:t>
            </a:r>
            <a:r>
              <a:rPr spc="195" dirty="0"/>
              <a:t>search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60" dirty="0">
                <a:solidFill>
                  <a:srgbClr val="0000FF"/>
                </a:solidFill>
              </a:rPr>
              <a:t>Use</a:t>
            </a:r>
            <a:r>
              <a:rPr spc="345" dirty="0">
                <a:solidFill>
                  <a:srgbClr val="0000FF"/>
                </a:solidFill>
              </a:rPr>
              <a:t> </a:t>
            </a:r>
            <a:r>
              <a:rPr spc="180" dirty="0">
                <a:solidFill>
                  <a:srgbClr val="0000FF"/>
                </a:solidFill>
              </a:rPr>
              <a:t>domain</a:t>
            </a:r>
            <a:r>
              <a:rPr spc="350" dirty="0">
                <a:solidFill>
                  <a:srgbClr val="0000FF"/>
                </a:solidFill>
              </a:rPr>
              <a:t> </a:t>
            </a:r>
            <a:r>
              <a:rPr spc="150" dirty="0">
                <a:solidFill>
                  <a:srgbClr val="0000FF"/>
                </a:solidFill>
              </a:rPr>
              <a:t>knowledge!</a:t>
            </a:r>
          </a:p>
          <a:p>
            <a:pPr marL="493395" indent="-260985">
              <a:lnSpc>
                <a:spcPct val="100000"/>
              </a:lnSpc>
              <a:spcBef>
                <a:spcPts val="1645"/>
              </a:spcBef>
              <a:buFont typeface="MS UI Gothic"/>
              <a:buChar char="•"/>
              <a:tabLst>
                <a:tab pos="494030" algn="l"/>
              </a:tabLst>
            </a:pPr>
            <a:r>
              <a:rPr b="0" spc="160" dirty="0">
                <a:solidFill>
                  <a:srgbClr val="000000"/>
                </a:solidFill>
                <a:latin typeface="Arial MT"/>
                <a:cs typeface="Arial MT"/>
              </a:rPr>
              <a:t>Are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95" dirty="0">
                <a:solidFill>
                  <a:srgbClr val="000000"/>
                </a:solidFill>
                <a:latin typeface="Arial MT"/>
                <a:cs typeface="Arial MT"/>
              </a:rPr>
              <a:t>we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85" dirty="0">
                <a:solidFill>
                  <a:srgbClr val="000000"/>
                </a:solidFill>
                <a:latin typeface="Arial MT"/>
                <a:cs typeface="Arial MT"/>
              </a:rPr>
              <a:t>getting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75" dirty="0">
                <a:solidFill>
                  <a:srgbClr val="000000"/>
                </a:solidFill>
                <a:latin typeface="Arial MT"/>
                <a:cs typeface="Arial MT"/>
              </a:rPr>
              <a:t>close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14" dirty="0">
                <a:solidFill>
                  <a:srgbClr val="000000"/>
                </a:solidFill>
                <a:latin typeface="Arial MT"/>
                <a:cs typeface="Arial MT"/>
              </a:rPr>
              <a:t>goal?</a:t>
            </a:r>
          </a:p>
          <a:p>
            <a:pPr marL="493395" marR="5080" indent="-260350">
              <a:lnSpc>
                <a:spcPct val="119200"/>
              </a:lnSpc>
              <a:spcBef>
                <a:spcPts val="2160"/>
              </a:spcBef>
              <a:buFont typeface="MS UI Gothic"/>
              <a:buChar char="•"/>
              <a:tabLst>
                <a:tab pos="494030" algn="l"/>
              </a:tabLst>
            </a:pPr>
            <a:r>
              <a:rPr b="0" spc="60" dirty="0">
                <a:solidFill>
                  <a:srgbClr val="000000"/>
                </a:solidFill>
                <a:latin typeface="Arial MT"/>
                <a:cs typeface="Arial MT"/>
              </a:rPr>
              <a:t>Use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85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heuristic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5" dirty="0">
                <a:solidFill>
                  <a:srgbClr val="000000"/>
                </a:solidFill>
                <a:latin typeface="Arial MT"/>
                <a:cs typeface="Arial MT"/>
              </a:rPr>
              <a:t>function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35" dirty="0">
                <a:solidFill>
                  <a:srgbClr val="000000"/>
                </a:solidFill>
                <a:latin typeface="Arial MT"/>
                <a:cs typeface="Arial MT"/>
              </a:rPr>
              <a:t>that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estimates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60" dirty="0">
                <a:solidFill>
                  <a:srgbClr val="000000"/>
                </a:solidFill>
                <a:latin typeface="Arial MT"/>
                <a:cs typeface="Arial MT"/>
              </a:rPr>
              <a:t>how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75" dirty="0">
                <a:solidFill>
                  <a:srgbClr val="000000"/>
                </a:solidFill>
                <a:latin typeface="Arial MT"/>
                <a:cs typeface="Arial MT"/>
              </a:rPr>
              <a:t>close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85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55" dirty="0">
                <a:solidFill>
                  <a:srgbClr val="000000"/>
                </a:solidFill>
                <a:latin typeface="Arial MT"/>
                <a:cs typeface="Arial MT"/>
              </a:rPr>
              <a:t>state</a:t>
            </a:r>
            <a:r>
              <a:rPr b="0" spc="25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45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b="0" spc="2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to </a:t>
            </a:r>
            <a:r>
              <a:rPr b="0" spc="-5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25" dirty="0">
                <a:solidFill>
                  <a:srgbClr val="000000"/>
                </a:solidFill>
                <a:latin typeface="Arial MT"/>
                <a:cs typeface="Arial MT"/>
              </a:rPr>
              <a:t>goal</a:t>
            </a:r>
          </a:p>
          <a:p>
            <a:pPr>
              <a:lnSpc>
                <a:spcPct val="100000"/>
              </a:lnSpc>
              <a:spcBef>
                <a:spcPts val="25"/>
              </a:spcBef>
              <a:buFont typeface="MS UI Gothic"/>
              <a:buChar char="•"/>
            </a:pPr>
            <a:endParaRPr sz="2250">
              <a:latin typeface="Arial MT"/>
              <a:cs typeface="Arial MT"/>
            </a:endParaRPr>
          </a:p>
          <a:p>
            <a:pPr marL="493395" indent="-260985">
              <a:lnSpc>
                <a:spcPct val="100000"/>
              </a:lnSpc>
              <a:buFont typeface="MS UI Gothic"/>
              <a:buChar char="•"/>
              <a:tabLst>
                <a:tab pos="494030" algn="l"/>
              </a:tabLst>
            </a:pPr>
            <a:r>
              <a:rPr b="0" spc="295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heuristic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90" dirty="0">
                <a:solidFill>
                  <a:srgbClr val="000000"/>
                </a:solidFill>
                <a:latin typeface="Arial MT"/>
                <a:cs typeface="Arial MT"/>
              </a:rPr>
              <a:t>does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390" dirty="0">
                <a:solidFill>
                  <a:srgbClr val="000000"/>
                </a:solidFill>
                <a:latin typeface="Arial MT"/>
                <a:cs typeface="Arial MT"/>
              </a:rPr>
              <a:t>NOT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95" dirty="0">
                <a:solidFill>
                  <a:srgbClr val="000000"/>
                </a:solidFill>
                <a:latin typeface="Arial MT"/>
                <a:cs typeface="Arial MT"/>
              </a:rPr>
              <a:t>have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14" dirty="0">
                <a:solidFill>
                  <a:srgbClr val="000000"/>
                </a:solidFill>
                <a:latin typeface="Arial MT"/>
                <a:cs typeface="Arial MT"/>
              </a:rPr>
              <a:t>be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60" dirty="0">
                <a:solidFill>
                  <a:srgbClr val="000000"/>
                </a:solidFill>
                <a:latin typeface="Arial MT"/>
                <a:cs typeface="Arial MT"/>
              </a:rPr>
              <a:t>perfect!</a:t>
            </a:r>
          </a:p>
          <a:p>
            <a:pPr marL="493395" indent="-260985">
              <a:lnSpc>
                <a:spcPct val="100000"/>
              </a:lnSpc>
              <a:spcBef>
                <a:spcPts val="2610"/>
              </a:spcBef>
              <a:buFont typeface="MS UI Gothic"/>
              <a:buChar char="•"/>
              <a:tabLst>
                <a:tab pos="494030" algn="l"/>
              </a:tabLst>
            </a:pPr>
            <a:r>
              <a:rPr b="0" spc="145" dirty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8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20" dirty="0">
                <a:solidFill>
                  <a:srgbClr val="000000"/>
                </a:solidFill>
                <a:latin typeface="Arial MT"/>
                <a:cs typeface="Arial MT"/>
              </a:rPr>
              <a:t>strategies:</a:t>
            </a:r>
          </a:p>
          <a:p>
            <a:pPr marL="872490" lvl="1" indent="-371475">
              <a:lnSpc>
                <a:spcPct val="100000"/>
              </a:lnSpc>
              <a:spcBef>
                <a:spcPts val="1645"/>
              </a:spcBef>
              <a:buAutoNum type="arabicPeriod"/>
              <a:tabLst>
                <a:tab pos="873125" algn="l"/>
              </a:tabLst>
            </a:pPr>
            <a:r>
              <a:rPr sz="1950" spc="100" dirty="0">
                <a:latin typeface="Arial MT"/>
                <a:cs typeface="Arial MT"/>
              </a:rPr>
              <a:t>Greedy</a:t>
            </a:r>
            <a:r>
              <a:rPr sz="1950" spc="26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best-first</a:t>
            </a:r>
            <a:r>
              <a:rPr sz="1950" spc="26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search</a:t>
            </a:r>
            <a:endParaRPr sz="195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Arial MT"/>
              <a:buAutoNum type="arabicPeriod"/>
            </a:pPr>
            <a:endParaRPr sz="2250">
              <a:latin typeface="Arial MT"/>
              <a:cs typeface="Arial MT"/>
            </a:endParaRPr>
          </a:p>
          <a:p>
            <a:pPr marL="872490" lvl="1" indent="-371475">
              <a:lnSpc>
                <a:spcPct val="100000"/>
              </a:lnSpc>
              <a:buAutoNum type="arabicPeriod"/>
              <a:tabLst>
                <a:tab pos="873125" algn="l"/>
              </a:tabLst>
            </a:pPr>
            <a:r>
              <a:rPr sz="1950" spc="385" dirty="0">
                <a:latin typeface="Arial MT"/>
                <a:cs typeface="Arial MT"/>
              </a:rPr>
              <a:t>A*</a:t>
            </a:r>
            <a:r>
              <a:rPr sz="1950" spc="23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search</a:t>
            </a:r>
            <a:endParaRPr sz="195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 MT"/>
              <a:buAutoNum type="arabicPeriod"/>
            </a:pPr>
            <a:endParaRPr sz="2250">
              <a:latin typeface="Arial MT"/>
              <a:cs typeface="Arial MT"/>
            </a:endParaRPr>
          </a:p>
          <a:p>
            <a:pPr marL="872490" lvl="1" indent="-371475">
              <a:lnSpc>
                <a:spcPct val="100000"/>
              </a:lnSpc>
              <a:buAutoNum type="arabicPeriod"/>
              <a:tabLst>
                <a:tab pos="873125" algn="l"/>
              </a:tabLst>
            </a:pPr>
            <a:r>
              <a:rPr sz="1950" spc="285" dirty="0">
                <a:latin typeface="Arial MT"/>
                <a:cs typeface="Arial MT"/>
              </a:rPr>
              <a:t>IDA*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56560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40" dirty="0"/>
              <a:t>Informed	</a:t>
            </a:r>
            <a:r>
              <a:rPr spc="195" dirty="0"/>
              <a:t>search	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988" y="2392974"/>
            <a:ext cx="5911997" cy="3374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43141" y="999453"/>
            <a:ext cx="1927859" cy="50850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400" y="6055225"/>
            <a:ext cx="8483600" cy="12179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438784" algn="r">
              <a:lnSpc>
                <a:spcPct val="100000"/>
              </a:lnSpc>
              <a:spcBef>
                <a:spcPts val="130"/>
              </a:spcBef>
            </a:pPr>
            <a:r>
              <a:rPr sz="1950" b="1" spc="145" dirty="0">
                <a:solidFill>
                  <a:srgbClr val="FF0000"/>
                </a:solidFill>
                <a:latin typeface="Arial"/>
                <a:cs typeface="Arial"/>
              </a:rPr>
              <a:t>Heuristic!</a:t>
            </a:r>
            <a:endParaRPr sz="1950">
              <a:latin typeface="Arial"/>
              <a:cs typeface="Arial"/>
            </a:endParaRPr>
          </a:p>
          <a:p>
            <a:pPr marL="12700" marR="5080">
              <a:lnSpc>
                <a:spcPct val="140900"/>
              </a:lnSpc>
              <a:spcBef>
                <a:spcPts val="1435"/>
              </a:spcBef>
            </a:pPr>
            <a:r>
              <a:rPr sz="1650" spc="195" dirty="0">
                <a:latin typeface="Arial MT"/>
                <a:cs typeface="Arial MT"/>
              </a:rPr>
              <a:t>The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90" dirty="0">
                <a:latin typeface="Arial MT"/>
                <a:cs typeface="Arial MT"/>
              </a:rPr>
              <a:t>distance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25" dirty="0">
                <a:latin typeface="Arial MT"/>
                <a:cs typeface="Arial MT"/>
              </a:rPr>
              <a:t>is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130" dirty="0">
                <a:latin typeface="Arial MT"/>
                <a:cs typeface="Arial MT"/>
              </a:rPr>
              <a:t>the</a:t>
            </a:r>
            <a:r>
              <a:rPr sz="1650" spc="100" dirty="0">
                <a:latin typeface="Arial MT"/>
                <a:cs typeface="Arial MT"/>
              </a:rPr>
              <a:t> </a:t>
            </a:r>
            <a:r>
              <a:rPr sz="1650" spc="130" dirty="0">
                <a:latin typeface="Arial MT"/>
                <a:cs typeface="Arial MT"/>
              </a:rPr>
              <a:t>straight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70" dirty="0">
                <a:latin typeface="Arial MT"/>
                <a:cs typeface="Arial MT"/>
              </a:rPr>
              <a:t>line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90" dirty="0">
                <a:latin typeface="Arial MT"/>
                <a:cs typeface="Arial MT"/>
              </a:rPr>
              <a:t>distance.</a:t>
            </a:r>
            <a:r>
              <a:rPr sz="1650" spc="425" dirty="0">
                <a:latin typeface="Arial MT"/>
                <a:cs typeface="Arial MT"/>
              </a:rPr>
              <a:t> </a:t>
            </a:r>
            <a:r>
              <a:rPr sz="1650" spc="195" dirty="0">
                <a:latin typeface="Arial MT"/>
                <a:cs typeface="Arial MT"/>
              </a:rPr>
              <a:t>The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90" dirty="0">
                <a:latin typeface="Arial MT"/>
                <a:cs typeface="Arial MT"/>
              </a:rPr>
              <a:t>goal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25" dirty="0">
                <a:latin typeface="Arial MT"/>
                <a:cs typeface="Arial MT"/>
              </a:rPr>
              <a:t>is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200" dirty="0">
                <a:latin typeface="Arial MT"/>
                <a:cs typeface="Arial MT"/>
              </a:rPr>
              <a:t>to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130" dirty="0">
                <a:latin typeface="Arial MT"/>
                <a:cs typeface="Arial MT"/>
              </a:rPr>
              <a:t>get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200" dirty="0">
                <a:latin typeface="Arial MT"/>
                <a:cs typeface="Arial MT"/>
              </a:rPr>
              <a:t>to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114" dirty="0">
                <a:latin typeface="Arial MT"/>
                <a:cs typeface="Arial MT"/>
              </a:rPr>
              <a:t>Sault</a:t>
            </a:r>
            <a:r>
              <a:rPr sz="1650" spc="105" dirty="0">
                <a:latin typeface="Arial MT"/>
                <a:cs typeface="Arial MT"/>
              </a:rPr>
              <a:t> </a:t>
            </a:r>
            <a:r>
              <a:rPr sz="1650" spc="110" dirty="0">
                <a:latin typeface="Arial MT"/>
                <a:cs typeface="Arial MT"/>
              </a:rPr>
              <a:t>Ste</a:t>
            </a:r>
            <a:r>
              <a:rPr sz="1650" spc="105" dirty="0">
                <a:latin typeface="Arial MT"/>
                <a:cs typeface="Arial MT"/>
              </a:rPr>
              <a:t> Marie, </a:t>
            </a:r>
            <a:r>
              <a:rPr sz="1650" spc="-440" dirty="0">
                <a:latin typeface="Arial MT"/>
                <a:cs typeface="Arial MT"/>
              </a:rPr>
              <a:t> </a:t>
            </a:r>
            <a:r>
              <a:rPr sz="1650" spc="40" dirty="0">
                <a:latin typeface="Arial MT"/>
                <a:cs typeface="Arial MT"/>
              </a:rPr>
              <a:t>so</a:t>
            </a:r>
            <a:r>
              <a:rPr sz="1650" spc="225" dirty="0">
                <a:latin typeface="Arial MT"/>
                <a:cs typeface="Arial MT"/>
              </a:rPr>
              <a:t> </a:t>
            </a:r>
            <a:r>
              <a:rPr sz="1650" spc="80" dirty="0">
                <a:latin typeface="Arial MT"/>
                <a:cs typeface="Arial MT"/>
              </a:rPr>
              <a:t>all</a:t>
            </a:r>
            <a:r>
              <a:rPr sz="1650" spc="229" dirty="0">
                <a:latin typeface="Arial MT"/>
                <a:cs typeface="Arial MT"/>
              </a:rPr>
              <a:t> </a:t>
            </a:r>
            <a:r>
              <a:rPr sz="1650" spc="130" dirty="0">
                <a:latin typeface="Arial MT"/>
                <a:cs typeface="Arial MT"/>
              </a:rPr>
              <a:t>the</a:t>
            </a:r>
            <a:r>
              <a:rPr sz="1650" spc="229" dirty="0">
                <a:latin typeface="Arial MT"/>
                <a:cs typeface="Arial MT"/>
              </a:rPr>
              <a:t> </a:t>
            </a:r>
            <a:r>
              <a:rPr sz="1650" spc="75" dirty="0">
                <a:latin typeface="Arial MT"/>
                <a:cs typeface="Arial MT"/>
              </a:rPr>
              <a:t>distances</a:t>
            </a:r>
            <a:r>
              <a:rPr sz="1650" spc="225" dirty="0">
                <a:latin typeface="Arial MT"/>
                <a:cs typeface="Arial MT"/>
              </a:rPr>
              <a:t> </a:t>
            </a:r>
            <a:r>
              <a:rPr sz="1650" spc="45" dirty="0">
                <a:latin typeface="Arial MT"/>
                <a:cs typeface="Arial MT"/>
              </a:rPr>
              <a:t>are</a:t>
            </a:r>
            <a:r>
              <a:rPr sz="1650" spc="229" dirty="0">
                <a:latin typeface="Arial MT"/>
                <a:cs typeface="Arial MT"/>
              </a:rPr>
              <a:t> </a:t>
            </a:r>
            <a:r>
              <a:rPr sz="1650" spc="160" dirty="0">
                <a:latin typeface="Arial MT"/>
                <a:cs typeface="Arial MT"/>
              </a:rPr>
              <a:t>from</a:t>
            </a:r>
            <a:r>
              <a:rPr sz="1650" spc="229" dirty="0">
                <a:latin typeface="Arial MT"/>
                <a:cs typeface="Arial MT"/>
              </a:rPr>
              <a:t> </a:t>
            </a:r>
            <a:r>
              <a:rPr sz="1650" spc="65" dirty="0">
                <a:latin typeface="Arial MT"/>
                <a:cs typeface="Arial MT"/>
              </a:rPr>
              <a:t>each</a:t>
            </a:r>
            <a:r>
              <a:rPr sz="1650" spc="225" dirty="0">
                <a:latin typeface="Arial MT"/>
                <a:cs typeface="Arial MT"/>
              </a:rPr>
              <a:t> </a:t>
            </a:r>
            <a:r>
              <a:rPr sz="1650" spc="125" dirty="0">
                <a:latin typeface="Arial MT"/>
                <a:cs typeface="Arial MT"/>
              </a:rPr>
              <a:t>city</a:t>
            </a:r>
            <a:r>
              <a:rPr sz="1650" spc="229" dirty="0">
                <a:latin typeface="Arial MT"/>
                <a:cs typeface="Arial MT"/>
              </a:rPr>
              <a:t> </a:t>
            </a:r>
            <a:r>
              <a:rPr sz="1650" spc="200" dirty="0">
                <a:latin typeface="Arial MT"/>
                <a:cs typeface="Arial MT"/>
              </a:rPr>
              <a:t>to</a:t>
            </a:r>
            <a:r>
              <a:rPr sz="1650" spc="225" dirty="0">
                <a:latin typeface="Arial MT"/>
                <a:cs typeface="Arial MT"/>
              </a:rPr>
              <a:t> </a:t>
            </a:r>
            <a:r>
              <a:rPr sz="1650" spc="114" dirty="0">
                <a:latin typeface="Arial MT"/>
                <a:cs typeface="Arial MT"/>
              </a:rPr>
              <a:t>Sault</a:t>
            </a:r>
            <a:r>
              <a:rPr sz="1650" spc="229" dirty="0">
                <a:latin typeface="Arial MT"/>
                <a:cs typeface="Arial MT"/>
              </a:rPr>
              <a:t> </a:t>
            </a:r>
            <a:r>
              <a:rPr sz="1650" spc="110" dirty="0">
                <a:latin typeface="Arial MT"/>
                <a:cs typeface="Arial MT"/>
              </a:rPr>
              <a:t>Ste</a:t>
            </a:r>
            <a:r>
              <a:rPr sz="1650" spc="229" dirty="0">
                <a:latin typeface="Arial MT"/>
                <a:cs typeface="Arial MT"/>
              </a:rPr>
              <a:t> </a:t>
            </a:r>
            <a:r>
              <a:rPr sz="1650" spc="105" dirty="0">
                <a:latin typeface="Arial MT"/>
                <a:cs typeface="Arial MT"/>
              </a:rPr>
              <a:t>Marie.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20620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20" dirty="0"/>
              <a:t>Greedy	</a:t>
            </a:r>
            <a:r>
              <a:rPr spc="195" dirty="0"/>
              <a:t>search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659" y="1539790"/>
            <a:ext cx="8415655" cy="29222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8615" indent="-260350">
              <a:lnSpc>
                <a:spcPct val="100000"/>
              </a:lnSpc>
              <a:spcBef>
                <a:spcPts val="130"/>
              </a:spcBef>
              <a:buFont typeface="MS UI Gothic"/>
              <a:buChar char="•"/>
              <a:tabLst>
                <a:tab pos="349250" algn="l"/>
              </a:tabLst>
            </a:pPr>
            <a:r>
              <a:rPr sz="1950" spc="155" dirty="0">
                <a:latin typeface="Arial MT"/>
                <a:cs typeface="Arial MT"/>
              </a:rPr>
              <a:t>Evaluation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75" dirty="0">
                <a:latin typeface="Arial MT"/>
                <a:cs typeface="Arial MT"/>
              </a:rPr>
              <a:t>function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i="1" spc="275" dirty="0">
                <a:latin typeface="Calibri"/>
                <a:cs typeface="Calibri"/>
              </a:rPr>
              <a:t>h</a:t>
            </a:r>
            <a:r>
              <a:rPr sz="1950" spc="275" dirty="0">
                <a:latin typeface="Arial MT"/>
                <a:cs typeface="Arial MT"/>
              </a:rPr>
              <a:t>(</a:t>
            </a:r>
            <a:r>
              <a:rPr sz="1950" i="1" spc="275" dirty="0">
                <a:latin typeface="Calibri"/>
                <a:cs typeface="Calibri"/>
              </a:rPr>
              <a:t>n</a:t>
            </a:r>
            <a:r>
              <a:rPr sz="1950" spc="275" dirty="0">
                <a:latin typeface="Arial MT"/>
                <a:cs typeface="Arial MT"/>
              </a:rPr>
              <a:t>)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(</a:t>
            </a:r>
            <a:r>
              <a:rPr sz="1950" i="1" spc="150" dirty="0">
                <a:latin typeface="Verdana"/>
                <a:cs typeface="Verdana"/>
              </a:rPr>
              <a:t>h</a:t>
            </a:r>
            <a:r>
              <a:rPr sz="1950" spc="150" dirty="0">
                <a:latin typeface="Arial MT"/>
                <a:cs typeface="Arial MT"/>
              </a:rPr>
              <a:t>euristic)</a:t>
            </a:r>
            <a:endParaRPr sz="1950" dirty="0">
              <a:latin typeface="Arial MT"/>
              <a:cs typeface="Arial MT"/>
            </a:endParaRPr>
          </a:p>
          <a:p>
            <a:pPr marL="348615" indent="-260350">
              <a:lnSpc>
                <a:spcPct val="100000"/>
              </a:lnSpc>
              <a:spcBef>
                <a:spcPts val="2610"/>
              </a:spcBef>
              <a:buFont typeface="MS UI Gothic"/>
              <a:buChar char="•"/>
              <a:tabLst>
                <a:tab pos="349250" algn="l"/>
              </a:tabLst>
            </a:pPr>
            <a:r>
              <a:rPr sz="1950" i="1" spc="275" dirty="0">
                <a:latin typeface="Calibri"/>
                <a:cs typeface="Calibri"/>
              </a:rPr>
              <a:t>h</a:t>
            </a:r>
            <a:r>
              <a:rPr sz="1950" spc="275" dirty="0">
                <a:latin typeface="Arial MT"/>
                <a:cs typeface="Arial MT"/>
              </a:rPr>
              <a:t>(</a:t>
            </a:r>
            <a:r>
              <a:rPr sz="1950" i="1" spc="275" dirty="0">
                <a:latin typeface="Calibri"/>
                <a:cs typeface="Calibri"/>
              </a:rPr>
              <a:t>n</a:t>
            </a:r>
            <a:r>
              <a:rPr sz="1950" spc="275" dirty="0">
                <a:latin typeface="Arial MT"/>
                <a:cs typeface="Arial MT"/>
              </a:rPr>
              <a:t>)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estimates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210" dirty="0">
                <a:latin typeface="Arial MT"/>
                <a:cs typeface="Arial MT"/>
              </a:rPr>
              <a:t>from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i="1" spc="270" dirty="0">
                <a:latin typeface="Calibri"/>
                <a:cs typeface="Calibri"/>
              </a:rPr>
              <a:t>n</a:t>
            </a:r>
            <a:r>
              <a:rPr sz="1950" i="1" spc="390" dirty="0">
                <a:latin typeface="Calibri"/>
                <a:cs typeface="Calibri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closest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goal</a:t>
            </a:r>
            <a:endParaRPr sz="1950" dirty="0">
              <a:latin typeface="Arial MT"/>
              <a:cs typeface="Arial MT"/>
            </a:endParaRPr>
          </a:p>
          <a:p>
            <a:pPr marL="348615" marR="81280" indent="-260350">
              <a:lnSpc>
                <a:spcPct val="119200"/>
              </a:lnSpc>
              <a:spcBef>
                <a:spcPts val="2160"/>
              </a:spcBef>
              <a:buFont typeface="MS UI Gothic"/>
              <a:buChar char="•"/>
              <a:tabLst>
                <a:tab pos="349250" algn="l"/>
                <a:tab pos="1661795" algn="l"/>
              </a:tabLst>
            </a:pPr>
            <a:r>
              <a:rPr sz="1950" spc="145" dirty="0">
                <a:latin typeface="Arial MT"/>
                <a:cs typeface="Arial MT"/>
              </a:rPr>
              <a:t>Example:	</a:t>
            </a:r>
            <a:r>
              <a:rPr sz="1950" i="1" spc="245" dirty="0">
                <a:latin typeface="Calibri"/>
                <a:cs typeface="Calibri"/>
              </a:rPr>
              <a:t>h</a:t>
            </a:r>
            <a:r>
              <a:rPr sz="2475" spc="367" baseline="-15151" dirty="0">
                <a:latin typeface="Arial MT"/>
                <a:cs typeface="Arial MT"/>
              </a:rPr>
              <a:t>SLD</a:t>
            </a:r>
            <a:r>
              <a:rPr sz="1950" spc="245" dirty="0">
                <a:latin typeface="Arial MT"/>
                <a:cs typeface="Arial MT"/>
              </a:rPr>
              <a:t>(</a:t>
            </a:r>
            <a:r>
              <a:rPr sz="1950" i="1" spc="245" dirty="0">
                <a:latin typeface="Calibri"/>
                <a:cs typeface="Calibri"/>
              </a:rPr>
              <a:t>n</a:t>
            </a:r>
            <a:r>
              <a:rPr sz="1950" spc="245" dirty="0">
                <a:latin typeface="Arial MT"/>
                <a:cs typeface="Arial MT"/>
              </a:rPr>
              <a:t>)</a:t>
            </a:r>
            <a:r>
              <a:rPr sz="1950" spc="114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=</a:t>
            </a:r>
            <a:r>
              <a:rPr sz="1950" spc="114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straight-line</a:t>
            </a:r>
            <a:r>
              <a:rPr sz="1950" spc="114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distance </a:t>
            </a:r>
            <a:r>
              <a:rPr sz="1950" spc="210" dirty="0">
                <a:latin typeface="Arial MT"/>
                <a:cs typeface="Arial MT"/>
              </a:rPr>
              <a:t>from</a:t>
            </a:r>
            <a:r>
              <a:rPr sz="1950" spc="114" dirty="0">
                <a:latin typeface="Arial MT"/>
                <a:cs typeface="Arial MT"/>
              </a:rPr>
              <a:t> </a:t>
            </a:r>
            <a:r>
              <a:rPr sz="1950" i="1" spc="270" dirty="0">
                <a:latin typeface="Calibri"/>
                <a:cs typeface="Calibri"/>
              </a:rPr>
              <a:t>n</a:t>
            </a:r>
            <a:r>
              <a:rPr sz="1950" i="1" spc="215" dirty="0">
                <a:latin typeface="Calibri"/>
                <a:cs typeface="Calibri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12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Sault</a:t>
            </a:r>
            <a:r>
              <a:rPr sz="1950" spc="114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Ste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140" dirty="0">
                <a:latin typeface="Arial MT"/>
                <a:cs typeface="Arial MT"/>
              </a:rPr>
              <a:t>Marie</a:t>
            </a:r>
            <a:endParaRPr sz="1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MS UI Gothic"/>
              <a:buChar char="•"/>
            </a:pPr>
            <a:endParaRPr sz="1850" dirty="0">
              <a:latin typeface="Arial MT"/>
              <a:cs typeface="Arial MT"/>
            </a:endParaRPr>
          </a:p>
          <a:p>
            <a:pPr marL="348615" marR="80645" indent="-260350">
              <a:lnSpc>
                <a:spcPct val="119200"/>
              </a:lnSpc>
              <a:buFont typeface="MS UI Gothic"/>
              <a:buChar char="•"/>
              <a:tabLst>
                <a:tab pos="349250" algn="l"/>
              </a:tabLst>
            </a:pPr>
            <a:r>
              <a:rPr sz="1950" spc="100" dirty="0">
                <a:latin typeface="Arial MT"/>
                <a:cs typeface="Arial MT"/>
              </a:rPr>
              <a:t>Greedy</a:t>
            </a:r>
            <a:r>
              <a:rPr sz="1950" spc="17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search</a:t>
            </a:r>
            <a:r>
              <a:rPr sz="1950" spc="17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expands</a:t>
            </a:r>
            <a:r>
              <a:rPr sz="1950" spc="18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175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180" dirty="0">
                <a:latin typeface="Arial MT"/>
                <a:cs typeface="Arial MT"/>
              </a:rPr>
              <a:t> </a:t>
            </a:r>
            <a:r>
              <a:rPr sz="1950" spc="235" dirty="0">
                <a:latin typeface="Arial MT"/>
                <a:cs typeface="Arial MT"/>
              </a:rPr>
              <a:t>that</a:t>
            </a:r>
            <a:r>
              <a:rPr sz="1950" spc="175" dirty="0">
                <a:latin typeface="Arial MT"/>
                <a:cs typeface="Arial MT"/>
              </a:rPr>
              <a:t> </a:t>
            </a:r>
            <a:r>
              <a:rPr sz="1950" b="1" spc="135" dirty="0">
                <a:latin typeface="Arial"/>
                <a:cs typeface="Arial"/>
              </a:rPr>
              <a:t>appears</a:t>
            </a:r>
            <a:r>
              <a:rPr sz="1950" b="1" spc="180" dirty="0">
                <a:latin typeface="Arial"/>
                <a:cs typeface="Arial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175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be</a:t>
            </a:r>
            <a:r>
              <a:rPr sz="1950" spc="17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closest</a:t>
            </a:r>
            <a:r>
              <a:rPr sz="1950" spc="180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goal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20620" algn="l"/>
                <a:tab pos="449135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20" dirty="0"/>
              <a:t>Greedy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065090"/>
            <a:ext cx="218249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50" dirty="0">
                <a:solidFill>
                  <a:srgbClr val="0000FF"/>
                </a:solidFill>
                <a:latin typeface="Arial MT"/>
                <a:cs typeface="Arial MT"/>
              </a:rPr>
              <a:t>The </a:t>
            </a:r>
            <a:r>
              <a:rPr sz="1950" spc="150" dirty="0">
                <a:solidFill>
                  <a:srgbClr val="0000FF"/>
                </a:solidFill>
                <a:latin typeface="Arial MT"/>
                <a:cs typeface="Arial MT"/>
              </a:rPr>
              <a:t>initial</a:t>
            </a:r>
            <a:r>
              <a:rPr sz="1950" spc="25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50" dirty="0">
                <a:solidFill>
                  <a:srgbClr val="0000FF"/>
                </a:solidFill>
                <a:latin typeface="Arial MT"/>
                <a:cs typeface="Arial MT"/>
              </a:rPr>
              <a:t>state: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664" y="1342339"/>
            <a:ext cx="8161020" cy="41090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20620" algn="l"/>
                <a:tab pos="449135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20" dirty="0"/>
              <a:t>Greedy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065090"/>
            <a:ext cx="33439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St</a:t>
            </a:r>
            <a:r>
              <a:rPr sz="1950" spc="2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40" dirty="0">
                <a:solidFill>
                  <a:srgbClr val="0000FF"/>
                </a:solidFill>
                <a:latin typeface="Arial MT"/>
                <a:cs typeface="Arial MT"/>
              </a:rPr>
              <a:t>Louis: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19" y="1377327"/>
            <a:ext cx="8192109" cy="41090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20620" algn="l"/>
                <a:tab pos="449135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20" dirty="0"/>
              <a:t>Greedy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065090"/>
            <a:ext cx="32981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6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35" dirty="0">
                <a:solidFill>
                  <a:srgbClr val="0000FF"/>
                </a:solidFill>
                <a:latin typeface="Arial MT"/>
                <a:cs typeface="Arial MT"/>
              </a:rPr>
              <a:t>Chicago: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19" y="1377327"/>
            <a:ext cx="8192109" cy="41090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20620" algn="l"/>
                <a:tab pos="449135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20" dirty="0"/>
              <a:t>Greedy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065090"/>
            <a:ext cx="31457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6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200" dirty="0">
                <a:solidFill>
                  <a:srgbClr val="0000FF"/>
                </a:solidFill>
                <a:latin typeface="Arial MT"/>
                <a:cs typeface="Arial MT"/>
              </a:rPr>
              <a:t>Duluth: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756" y="1377327"/>
            <a:ext cx="8212835" cy="41193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45790" algn="l"/>
                <a:tab pos="4881880" algn="l"/>
                <a:tab pos="606361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25" dirty="0"/>
              <a:t>Examples	</a:t>
            </a:r>
            <a:r>
              <a:rPr spc="170" dirty="0"/>
              <a:t>using	</a:t>
            </a:r>
            <a:r>
              <a:rPr spc="420" dirty="0"/>
              <a:t>the	</a:t>
            </a:r>
            <a:r>
              <a:rPr spc="459" dirty="0"/>
              <a:t>map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013060"/>
            <a:ext cx="313563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  <a:tabLst>
                <a:tab pos="904240" algn="l"/>
                <a:tab pos="972819" algn="l"/>
              </a:tabLst>
            </a:pPr>
            <a:r>
              <a:rPr sz="1950" b="1" spc="204" dirty="0">
                <a:latin typeface="Arial"/>
                <a:cs typeface="Arial"/>
              </a:rPr>
              <a:t>Start:		</a:t>
            </a:r>
            <a:r>
              <a:rPr sz="1950" b="1" spc="185" dirty="0">
                <a:latin typeface="Arial"/>
                <a:cs typeface="Arial"/>
              </a:rPr>
              <a:t>Saint</a:t>
            </a:r>
            <a:r>
              <a:rPr sz="1950" b="1" spc="355" dirty="0">
                <a:latin typeface="Arial"/>
                <a:cs typeface="Arial"/>
              </a:rPr>
              <a:t> </a:t>
            </a:r>
            <a:r>
              <a:rPr sz="1950" b="1" spc="135" dirty="0">
                <a:latin typeface="Arial"/>
                <a:cs typeface="Arial"/>
              </a:rPr>
              <a:t>Louis </a:t>
            </a:r>
            <a:r>
              <a:rPr sz="1950" b="1" spc="140" dirty="0">
                <a:latin typeface="Arial"/>
                <a:cs typeface="Arial"/>
              </a:rPr>
              <a:t> </a:t>
            </a:r>
            <a:r>
              <a:rPr sz="1950" b="1" spc="160" dirty="0">
                <a:latin typeface="Arial"/>
                <a:cs typeface="Arial"/>
              </a:rPr>
              <a:t>Goal:	</a:t>
            </a:r>
            <a:r>
              <a:rPr sz="1950" b="1" spc="185" dirty="0">
                <a:latin typeface="Arial"/>
                <a:cs typeface="Arial"/>
              </a:rPr>
              <a:t>Sault</a:t>
            </a:r>
            <a:r>
              <a:rPr sz="1950" b="1" spc="335" dirty="0">
                <a:latin typeface="Arial"/>
                <a:cs typeface="Arial"/>
              </a:rPr>
              <a:t> </a:t>
            </a:r>
            <a:r>
              <a:rPr sz="1950" b="1" spc="229" dirty="0">
                <a:latin typeface="Arial"/>
                <a:cs typeface="Arial"/>
              </a:rPr>
              <a:t>Ste</a:t>
            </a:r>
            <a:r>
              <a:rPr sz="1950" b="1" spc="340" dirty="0">
                <a:latin typeface="Arial"/>
                <a:cs typeface="Arial"/>
              </a:rPr>
              <a:t> </a:t>
            </a:r>
            <a:r>
              <a:rPr sz="1950" b="1" spc="215" dirty="0">
                <a:latin typeface="Arial"/>
                <a:cs typeface="Arial"/>
              </a:rPr>
              <a:t>Marie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973" y="1696580"/>
            <a:ext cx="6110478" cy="40187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16565" y="5805073"/>
            <a:ext cx="182562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00" dirty="0">
                <a:latin typeface="Arial MT"/>
                <a:cs typeface="Arial MT"/>
              </a:rPr>
              <a:t>Greedy</a:t>
            </a:r>
            <a:r>
              <a:rPr sz="1950" spc="22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search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45790" algn="l"/>
                <a:tab pos="4881880" algn="l"/>
                <a:tab pos="606361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25" dirty="0"/>
              <a:t>Examples	</a:t>
            </a:r>
            <a:r>
              <a:rPr spc="170" dirty="0"/>
              <a:t>using	</a:t>
            </a:r>
            <a:r>
              <a:rPr spc="420" dirty="0"/>
              <a:t>the	</a:t>
            </a:r>
            <a:r>
              <a:rPr spc="459" dirty="0"/>
              <a:t>map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012437"/>
            <a:ext cx="243205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  <a:tabLst>
                <a:tab pos="904240" algn="l"/>
                <a:tab pos="972819" algn="l"/>
              </a:tabLst>
            </a:pPr>
            <a:r>
              <a:rPr sz="1950" b="1" spc="204" dirty="0">
                <a:latin typeface="Arial"/>
                <a:cs typeface="Arial"/>
              </a:rPr>
              <a:t>Start:		</a:t>
            </a:r>
            <a:r>
              <a:rPr sz="1950" b="1" spc="165" dirty="0">
                <a:latin typeface="Arial"/>
                <a:cs typeface="Arial"/>
              </a:rPr>
              <a:t>Las</a:t>
            </a:r>
            <a:r>
              <a:rPr sz="1950" b="1" spc="280" dirty="0">
                <a:latin typeface="Arial"/>
                <a:cs typeface="Arial"/>
              </a:rPr>
              <a:t> </a:t>
            </a:r>
            <a:r>
              <a:rPr sz="1950" b="1" spc="170" dirty="0">
                <a:latin typeface="Arial"/>
                <a:cs typeface="Arial"/>
              </a:rPr>
              <a:t>Vegas </a:t>
            </a:r>
            <a:r>
              <a:rPr sz="1950" b="1" spc="-530" dirty="0">
                <a:latin typeface="Arial"/>
                <a:cs typeface="Arial"/>
              </a:rPr>
              <a:t> </a:t>
            </a:r>
            <a:r>
              <a:rPr sz="1950" b="1" spc="160" dirty="0">
                <a:latin typeface="Arial"/>
                <a:cs typeface="Arial"/>
              </a:rPr>
              <a:t>Goal:	</a:t>
            </a:r>
            <a:r>
              <a:rPr sz="1950" b="1" spc="155" dirty="0">
                <a:latin typeface="Arial"/>
                <a:cs typeface="Arial"/>
              </a:rPr>
              <a:t>Calgary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008" y="1730895"/>
            <a:ext cx="7328458" cy="46716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16565" y="6492257"/>
            <a:ext cx="182562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00" dirty="0">
                <a:latin typeface="Arial MT"/>
                <a:cs typeface="Arial MT"/>
              </a:rPr>
              <a:t>Greedy</a:t>
            </a:r>
            <a:r>
              <a:rPr sz="1950" spc="22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search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01420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960" dirty="0"/>
              <a:t>A*	</a:t>
            </a:r>
            <a:r>
              <a:rPr spc="195" dirty="0"/>
              <a:t>search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7859" y="1558561"/>
            <a:ext cx="6961505" cy="31832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2415" indent="-260350">
              <a:lnSpc>
                <a:spcPct val="100000"/>
              </a:lnSpc>
              <a:spcBef>
                <a:spcPts val="130"/>
              </a:spcBef>
              <a:buFont typeface="MS UI Gothic"/>
              <a:buChar char="•"/>
              <a:tabLst>
                <a:tab pos="273050" algn="l"/>
              </a:tabLst>
            </a:pPr>
            <a:r>
              <a:rPr sz="1950" spc="160" dirty="0">
                <a:latin typeface="Arial MT"/>
                <a:cs typeface="Arial MT"/>
              </a:rPr>
              <a:t>Minimize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210" dirty="0">
                <a:latin typeface="Arial MT"/>
                <a:cs typeface="Arial MT"/>
              </a:rPr>
              <a:t>total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estimated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solution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</a:t>
            </a:r>
            <a:endParaRPr sz="1950">
              <a:latin typeface="Arial MT"/>
              <a:cs typeface="Arial MT"/>
            </a:endParaRPr>
          </a:p>
          <a:p>
            <a:pPr marL="272415" indent="-260350">
              <a:lnSpc>
                <a:spcPct val="100000"/>
              </a:lnSpc>
              <a:spcBef>
                <a:spcPts val="2610"/>
              </a:spcBef>
              <a:buFont typeface="MS UI Gothic"/>
              <a:buChar char="•"/>
              <a:tabLst>
                <a:tab pos="273050" algn="l"/>
              </a:tabLst>
            </a:pPr>
            <a:r>
              <a:rPr sz="1950" spc="130" dirty="0">
                <a:latin typeface="Arial MT"/>
                <a:cs typeface="Arial MT"/>
              </a:rPr>
              <a:t>Combines:</a:t>
            </a:r>
            <a:endParaRPr sz="1950">
              <a:latin typeface="Arial MT"/>
              <a:cs typeface="Arial MT"/>
            </a:endParaRPr>
          </a:p>
          <a:p>
            <a:pPr marL="652145" lvl="1" indent="-300355">
              <a:lnSpc>
                <a:spcPct val="100000"/>
              </a:lnSpc>
              <a:spcBef>
                <a:spcPts val="450"/>
              </a:spcBef>
              <a:buFont typeface="Arial"/>
              <a:buChar char="–"/>
              <a:tabLst>
                <a:tab pos="652780" algn="l"/>
                <a:tab pos="1423670" algn="l"/>
              </a:tabLst>
            </a:pPr>
            <a:r>
              <a:rPr sz="1950" i="1" spc="220" dirty="0">
                <a:latin typeface="Calibri"/>
                <a:cs typeface="Calibri"/>
              </a:rPr>
              <a:t>g</a:t>
            </a:r>
            <a:r>
              <a:rPr sz="1950" spc="220" dirty="0">
                <a:latin typeface="Arial MT"/>
                <a:cs typeface="Arial MT"/>
              </a:rPr>
              <a:t>(</a:t>
            </a:r>
            <a:r>
              <a:rPr sz="1950" i="1" spc="220" dirty="0">
                <a:latin typeface="Calibri"/>
                <a:cs typeface="Calibri"/>
              </a:rPr>
              <a:t>n</a:t>
            </a:r>
            <a:r>
              <a:rPr sz="1950" spc="220" dirty="0">
                <a:latin typeface="Arial MT"/>
                <a:cs typeface="Arial MT"/>
              </a:rPr>
              <a:t>):	</a:t>
            </a:r>
            <a:r>
              <a:rPr sz="1950" spc="150" dirty="0">
                <a:latin typeface="Arial MT"/>
                <a:cs typeface="Arial MT"/>
              </a:rPr>
              <a:t>cost</a:t>
            </a:r>
            <a:r>
              <a:rPr sz="1950" spc="265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reach</a:t>
            </a:r>
            <a:r>
              <a:rPr sz="1950" spc="265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i="1" spc="270" dirty="0">
                <a:latin typeface="Calibri"/>
                <a:cs typeface="Calibri"/>
              </a:rPr>
              <a:t>n</a:t>
            </a:r>
            <a:endParaRPr sz="1950">
              <a:latin typeface="Calibri"/>
              <a:cs typeface="Calibri"/>
            </a:endParaRPr>
          </a:p>
          <a:p>
            <a:pPr marL="652145" lvl="1" indent="-300355">
              <a:lnSpc>
                <a:spcPct val="100000"/>
              </a:lnSpc>
              <a:spcBef>
                <a:spcPts val="450"/>
              </a:spcBef>
              <a:buFont typeface="Arial"/>
              <a:buChar char="–"/>
              <a:tabLst>
                <a:tab pos="652780" algn="l"/>
                <a:tab pos="1441450" algn="l"/>
              </a:tabLst>
            </a:pPr>
            <a:r>
              <a:rPr sz="1950" i="1" spc="250" dirty="0">
                <a:latin typeface="Calibri"/>
                <a:cs typeface="Calibri"/>
              </a:rPr>
              <a:t>h</a:t>
            </a:r>
            <a:r>
              <a:rPr sz="1950" spc="250" dirty="0">
                <a:latin typeface="Arial MT"/>
                <a:cs typeface="Arial MT"/>
              </a:rPr>
              <a:t>(</a:t>
            </a:r>
            <a:r>
              <a:rPr sz="1950" i="1" spc="250" dirty="0">
                <a:latin typeface="Calibri"/>
                <a:cs typeface="Calibri"/>
              </a:rPr>
              <a:t>n</a:t>
            </a:r>
            <a:r>
              <a:rPr sz="1950" spc="250" dirty="0">
                <a:latin typeface="Arial MT"/>
                <a:cs typeface="Arial MT"/>
              </a:rPr>
              <a:t>):	</a:t>
            </a:r>
            <a:r>
              <a:rPr sz="1950" spc="150" dirty="0">
                <a:latin typeface="Arial MT"/>
                <a:cs typeface="Arial MT"/>
              </a:rPr>
              <a:t>cost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get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10" dirty="0">
                <a:latin typeface="Arial MT"/>
                <a:cs typeface="Arial MT"/>
              </a:rPr>
              <a:t>from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i="1" spc="270" dirty="0">
                <a:latin typeface="Calibri"/>
                <a:cs typeface="Calibri"/>
              </a:rPr>
              <a:t>n</a:t>
            </a:r>
            <a:r>
              <a:rPr sz="1950" i="1" spc="385" dirty="0">
                <a:latin typeface="Calibri"/>
                <a:cs typeface="Calibri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goal</a:t>
            </a:r>
            <a:endParaRPr sz="195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450"/>
              </a:spcBef>
            </a:pPr>
            <a:r>
              <a:rPr sz="1950" b="1" spc="275" dirty="0">
                <a:latin typeface="Arial"/>
                <a:cs typeface="Arial"/>
              </a:rPr>
              <a:t>– </a:t>
            </a:r>
            <a:r>
              <a:rPr sz="1950" b="1" spc="-90" dirty="0">
                <a:latin typeface="Arial"/>
                <a:cs typeface="Arial"/>
              </a:rPr>
              <a:t> </a:t>
            </a:r>
            <a:r>
              <a:rPr sz="1950" i="1" spc="415" dirty="0">
                <a:latin typeface="Calibri"/>
                <a:cs typeface="Calibri"/>
              </a:rPr>
              <a:t>f</a:t>
            </a:r>
            <a:r>
              <a:rPr sz="1950" i="1" spc="-225" dirty="0">
                <a:latin typeface="Calibri"/>
                <a:cs typeface="Calibri"/>
              </a:rPr>
              <a:t> </a:t>
            </a:r>
            <a:r>
              <a:rPr sz="1950" spc="310" dirty="0">
                <a:latin typeface="Arial MT"/>
                <a:cs typeface="Arial MT"/>
              </a:rPr>
              <a:t>(</a:t>
            </a:r>
            <a:r>
              <a:rPr sz="1950" i="1" spc="270" dirty="0">
                <a:latin typeface="Calibri"/>
                <a:cs typeface="Calibri"/>
              </a:rPr>
              <a:t>n</a:t>
            </a:r>
            <a:r>
              <a:rPr sz="1950" spc="310" dirty="0">
                <a:latin typeface="Arial MT"/>
                <a:cs typeface="Arial MT"/>
              </a:rPr>
              <a:t>)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=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i="1" spc="65" dirty="0">
                <a:latin typeface="Calibri"/>
                <a:cs typeface="Calibri"/>
              </a:rPr>
              <a:t>g</a:t>
            </a:r>
            <a:r>
              <a:rPr sz="1950" spc="310" dirty="0">
                <a:latin typeface="Arial MT"/>
                <a:cs typeface="Arial MT"/>
              </a:rPr>
              <a:t>(</a:t>
            </a:r>
            <a:r>
              <a:rPr sz="1950" i="1" spc="270" dirty="0">
                <a:latin typeface="Calibri"/>
                <a:cs typeface="Calibri"/>
              </a:rPr>
              <a:t>n</a:t>
            </a:r>
            <a:r>
              <a:rPr sz="1950" spc="865" dirty="0">
                <a:latin typeface="Arial MT"/>
                <a:cs typeface="Arial MT"/>
              </a:rPr>
              <a:t>)</a:t>
            </a:r>
            <a:r>
              <a:rPr sz="1950" spc="700" dirty="0">
                <a:latin typeface="Arial MT"/>
                <a:cs typeface="Arial MT"/>
              </a:rPr>
              <a:t>+</a:t>
            </a:r>
            <a:r>
              <a:rPr sz="1950" spc="-75" dirty="0">
                <a:latin typeface="Arial MT"/>
                <a:cs typeface="Arial MT"/>
              </a:rPr>
              <a:t> </a:t>
            </a:r>
            <a:r>
              <a:rPr sz="1950" i="1" spc="210" dirty="0">
                <a:latin typeface="Calibri"/>
                <a:cs typeface="Calibri"/>
              </a:rPr>
              <a:t>h</a:t>
            </a:r>
            <a:r>
              <a:rPr sz="1950" spc="310" dirty="0">
                <a:latin typeface="Arial MT"/>
                <a:cs typeface="Arial MT"/>
              </a:rPr>
              <a:t>(</a:t>
            </a:r>
            <a:r>
              <a:rPr sz="1950" i="1" spc="270" dirty="0">
                <a:latin typeface="Calibri"/>
                <a:cs typeface="Calibri"/>
              </a:rPr>
              <a:t>n</a:t>
            </a:r>
            <a:r>
              <a:rPr sz="1950" spc="310" dirty="0">
                <a:latin typeface="Arial MT"/>
                <a:cs typeface="Arial MT"/>
              </a:rPr>
              <a:t>)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Arial MT"/>
              <a:cs typeface="Arial MT"/>
            </a:endParaRPr>
          </a:p>
          <a:p>
            <a:pPr marL="2726690" marR="5080" indent="-1748789">
              <a:lnSpc>
                <a:spcPct val="119200"/>
              </a:lnSpc>
            </a:pPr>
            <a:r>
              <a:rPr sz="1950" i="1" spc="415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950" i="1" spc="-2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950" spc="310" dirty="0">
                <a:solidFill>
                  <a:srgbClr val="0000FF"/>
                </a:solidFill>
                <a:latin typeface="Arial MT"/>
                <a:cs typeface="Arial MT"/>
              </a:rPr>
              <a:t>(</a:t>
            </a:r>
            <a:r>
              <a:rPr sz="1950" i="1" spc="270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1950" spc="310" dirty="0">
                <a:solidFill>
                  <a:srgbClr val="0000FF"/>
                </a:solidFill>
                <a:latin typeface="Arial MT"/>
                <a:cs typeface="Arial MT"/>
              </a:rPr>
              <a:t>)</a:t>
            </a:r>
            <a:r>
              <a:rPr sz="19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-1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b="1" spc="5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95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215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95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5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950" b="1" spc="5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950" b="1" spc="225" dirty="0">
                <a:solidFill>
                  <a:srgbClr val="0000FF"/>
                </a:solidFill>
                <a:latin typeface="Arial"/>
                <a:cs typeface="Arial"/>
              </a:rPr>
              <a:t>timated</a:t>
            </a:r>
            <a:r>
              <a:rPr sz="195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120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950" b="1" spc="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50" b="1" spc="5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950" b="1" spc="33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5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175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95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215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95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120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950" b="1" spc="160" dirty="0">
                <a:solidFill>
                  <a:srgbClr val="0000FF"/>
                </a:solidFill>
                <a:latin typeface="Arial"/>
                <a:cs typeface="Arial"/>
              </a:rPr>
              <a:t>hea</a:t>
            </a:r>
            <a:r>
              <a:rPr sz="1950" b="1" spc="24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950" b="1" spc="5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950" b="1" spc="5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950" b="1" spc="295" dirty="0">
                <a:solidFill>
                  <a:srgbClr val="0000FF"/>
                </a:solidFill>
                <a:latin typeface="Arial"/>
                <a:cs typeface="Arial"/>
              </a:rPr>
              <a:t>t  </a:t>
            </a:r>
            <a:r>
              <a:rPr sz="1950" b="1" spc="130" dirty="0">
                <a:solidFill>
                  <a:srgbClr val="0000FF"/>
                </a:solidFill>
                <a:latin typeface="Arial"/>
                <a:cs typeface="Arial"/>
              </a:rPr>
              <a:t>solution</a:t>
            </a:r>
            <a:r>
              <a:rPr sz="1950" b="1" spc="3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b="1" spc="180" dirty="0">
                <a:solidFill>
                  <a:srgbClr val="0000FF"/>
                </a:solidFill>
                <a:latin typeface="Arial"/>
                <a:cs typeface="Arial"/>
              </a:rPr>
              <a:t>through</a:t>
            </a:r>
            <a:r>
              <a:rPr sz="1950" b="1" spc="3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50" i="1" spc="270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01420" algn="l"/>
                <a:tab pos="327342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960" dirty="0"/>
              <a:t>A*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4241"/>
            <a:ext cx="218249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50" dirty="0">
                <a:solidFill>
                  <a:srgbClr val="0000FF"/>
                </a:solidFill>
                <a:latin typeface="Arial MT"/>
                <a:cs typeface="Arial MT"/>
              </a:rPr>
              <a:t>The </a:t>
            </a:r>
            <a:r>
              <a:rPr sz="1950" spc="150" dirty="0">
                <a:solidFill>
                  <a:srgbClr val="0000FF"/>
                </a:solidFill>
                <a:latin typeface="Arial MT"/>
                <a:cs typeface="Arial MT"/>
              </a:rPr>
              <a:t>initial</a:t>
            </a:r>
            <a:r>
              <a:rPr sz="1950" spc="25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50" dirty="0">
                <a:solidFill>
                  <a:srgbClr val="0000FF"/>
                </a:solidFill>
                <a:latin typeface="Arial MT"/>
                <a:cs typeface="Arial MT"/>
              </a:rPr>
              <a:t>state: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286" y="1561490"/>
            <a:ext cx="9637776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01420" algn="l"/>
                <a:tab pos="327342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960" dirty="0"/>
              <a:t>A*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4241"/>
            <a:ext cx="33439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St</a:t>
            </a:r>
            <a:r>
              <a:rPr sz="1950" spc="2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40" dirty="0">
                <a:solidFill>
                  <a:srgbClr val="0000FF"/>
                </a:solidFill>
                <a:latin typeface="Arial MT"/>
                <a:cs typeface="Arial MT"/>
              </a:rPr>
              <a:t>Louis: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286" y="1596478"/>
            <a:ext cx="9637776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01420" algn="l"/>
                <a:tab pos="327342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960" dirty="0"/>
              <a:t>A*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4241"/>
            <a:ext cx="32981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6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35" dirty="0">
                <a:solidFill>
                  <a:srgbClr val="0000FF"/>
                </a:solidFill>
                <a:latin typeface="Arial MT"/>
                <a:cs typeface="Arial MT"/>
              </a:rPr>
              <a:t>Chicago: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23" y="1596478"/>
            <a:ext cx="9658502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01420" algn="l"/>
                <a:tab pos="327342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960" dirty="0"/>
              <a:t>A*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4241"/>
            <a:ext cx="379476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05" dirty="0">
                <a:solidFill>
                  <a:srgbClr val="0000FF"/>
                </a:solidFill>
                <a:latin typeface="Arial MT"/>
                <a:cs typeface="Arial MT"/>
              </a:rPr>
              <a:t>Kansas</a:t>
            </a:r>
            <a:r>
              <a:rPr sz="1950" spc="2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65" dirty="0">
                <a:solidFill>
                  <a:srgbClr val="0000FF"/>
                </a:solidFill>
                <a:latin typeface="Arial MT"/>
                <a:cs typeface="Arial MT"/>
              </a:rPr>
              <a:t>City: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23" y="1596478"/>
            <a:ext cx="9658502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01420" algn="l"/>
                <a:tab pos="327342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960" dirty="0"/>
              <a:t>A*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4241"/>
            <a:ext cx="37172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Little</a:t>
            </a:r>
            <a:r>
              <a:rPr sz="1950" spc="2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75" dirty="0">
                <a:solidFill>
                  <a:srgbClr val="0000FF"/>
                </a:solidFill>
                <a:latin typeface="Arial MT"/>
                <a:cs typeface="Arial MT"/>
              </a:rPr>
              <a:t>Rock: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23" y="1596478"/>
            <a:ext cx="9658502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01420" algn="l"/>
                <a:tab pos="327342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960" dirty="0"/>
              <a:t>A*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4241"/>
            <a:ext cx="338772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5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5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05" dirty="0">
                <a:solidFill>
                  <a:srgbClr val="0000FF"/>
                </a:solidFill>
                <a:latin typeface="Arial MT"/>
                <a:cs typeface="Arial MT"/>
              </a:rPr>
              <a:t>Nashville: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41" y="1596478"/>
            <a:ext cx="9668865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01420" algn="l"/>
                <a:tab pos="327342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960" dirty="0"/>
              <a:t>A*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4241"/>
            <a:ext cx="361632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5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6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80" dirty="0">
                <a:solidFill>
                  <a:srgbClr val="0000FF"/>
                </a:solidFill>
                <a:latin typeface="Arial MT"/>
                <a:cs typeface="Arial MT"/>
              </a:rPr>
              <a:t>Pittsburgh: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446" y="1596478"/>
            <a:ext cx="9671456" cy="528782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01420" algn="l"/>
                <a:tab pos="327342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960" dirty="0"/>
              <a:t>A*	</a:t>
            </a:r>
            <a:r>
              <a:rPr spc="195" dirty="0"/>
              <a:t>search	</a:t>
            </a:r>
            <a:r>
              <a:rPr spc="320" dirty="0"/>
              <a:t>example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4241"/>
            <a:ext cx="33051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10" dirty="0">
                <a:solidFill>
                  <a:srgbClr val="0000FF"/>
                </a:solidFill>
                <a:latin typeface="Arial MT"/>
                <a:cs typeface="Arial MT"/>
              </a:rPr>
              <a:t>After</a:t>
            </a:r>
            <a:r>
              <a:rPr sz="1950" spc="2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0000FF"/>
                </a:solidFill>
                <a:latin typeface="Arial MT"/>
                <a:cs typeface="Arial MT"/>
              </a:rPr>
              <a:t>expanding</a:t>
            </a:r>
            <a:r>
              <a:rPr sz="1950" spc="25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50" spc="200" dirty="0">
                <a:solidFill>
                  <a:srgbClr val="0000FF"/>
                </a:solidFill>
                <a:latin typeface="Arial MT"/>
                <a:cs typeface="Arial MT"/>
              </a:rPr>
              <a:t>Toronto: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446" y="1596478"/>
            <a:ext cx="9671456" cy="528782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45790" algn="l"/>
                <a:tab pos="4881880" algn="l"/>
                <a:tab pos="606361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25" dirty="0"/>
              <a:t>Examples	</a:t>
            </a:r>
            <a:r>
              <a:rPr spc="170" dirty="0"/>
              <a:t>using	</a:t>
            </a:r>
            <a:r>
              <a:rPr spc="420" dirty="0"/>
              <a:t>the	</a:t>
            </a:r>
            <a:r>
              <a:rPr spc="459" dirty="0"/>
              <a:t>map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013060"/>
            <a:ext cx="313563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  <a:tabLst>
                <a:tab pos="904240" algn="l"/>
                <a:tab pos="972819" algn="l"/>
              </a:tabLst>
            </a:pPr>
            <a:r>
              <a:rPr sz="1950" b="1" spc="204" dirty="0">
                <a:latin typeface="Arial"/>
                <a:cs typeface="Arial"/>
              </a:rPr>
              <a:t>Start:		</a:t>
            </a:r>
            <a:r>
              <a:rPr sz="1950" b="1" spc="185" dirty="0">
                <a:latin typeface="Arial"/>
                <a:cs typeface="Arial"/>
              </a:rPr>
              <a:t>Saint</a:t>
            </a:r>
            <a:r>
              <a:rPr sz="1950" b="1" spc="355" dirty="0">
                <a:latin typeface="Arial"/>
                <a:cs typeface="Arial"/>
              </a:rPr>
              <a:t> </a:t>
            </a:r>
            <a:r>
              <a:rPr sz="1950" b="1" spc="135" dirty="0">
                <a:latin typeface="Arial"/>
                <a:cs typeface="Arial"/>
              </a:rPr>
              <a:t>Louis </a:t>
            </a:r>
            <a:r>
              <a:rPr sz="1950" b="1" spc="140" dirty="0">
                <a:latin typeface="Arial"/>
                <a:cs typeface="Arial"/>
              </a:rPr>
              <a:t> </a:t>
            </a:r>
            <a:r>
              <a:rPr sz="1950" b="1" spc="160" dirty="0">
                <a:latin typeface="Arial"/>
                <a:cs typeface="Arial"/>
              </a:rPr>
              <a:t>Goal:	</a:t>
            </a:r>
            <a:r>
              <a:rPr sz="1950" b="1" spc="185" dirty="0">
                <a:latin typeface="Arial"/>
                <a:cs typeface="Arial"/>
              </a:rPr>
              <a:t>Sault</a:t>
            </a:r>
            <a:r>
              <a:rPr sz="1950" b="1" spc="335" dirty="0">
                <a:latin typeface="Arial"/>
                <a:cs typeface="Arial"/>
              </a:rPr>
              <a:t> </a:t>
            </a:r>
            <a:r>
              <a:rPr sz="1950" b="1" spc="229" dirty="0">
                <a:latin typeface="Arial"/>
                <a:cs typeface="Arial"/>
              </a:rPr>
              <a:t>Ste</a:t>
            </a:r>
            <a:r>
              <a:rPr sz="1950" b="1" spc="340" dirty="0">
                <a:latin typeface="Arial"/>
                <a:cs typeface="Arial"/>
              </a:rPr>
              <a:t> </a:t>
            </a:r>
            <a:r>
              <a:rPr sz="1950" b="1" spc="215" dirty="0">
                <a:latin typeface="Arial"/>
                <a:cs typeface="Arial"/>
              </a:rPr>
              <a:t>Marie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7959" y="1696554"/>
            <a:ext cx="6542532" cy="44110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6337" y="6197312"/>
            <a:ext cx="38608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385" dirty="0">
                <a:latin typeface="Arial MT"/>
                <a:cs typeface="Arial MT"/>
              </a:rPr>
              <a:t>A*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45790" algn="l"/>
                <a:tab pos="4881880" algn="l"/>
                <a:tab pos="6063615" algn="l"/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25" dirty="0"/>
              <a:t>Examples	</a:t>
            </a:r>
            <a:r>
              <a:rPr spc="170" dirty="0"/>
              <a:t>using	</a:t>
            </a:r>
            <a:r>
              <a:rPr spc="420" dirty="0"/>
              <a:t>the	</a:t>
            </a:r>
            <a:r>
              <a:rPr spc="459" dirty="0"/>
              <a:t>map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012437"/>
            <a:ext cx="243205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  <a:tabLst>
                <a:tab pos="904240" algn="l"/>
                <a:tab pos="972819" algn="l"/>
              </a:tabLst>
            </a:pPr>
            <a:r>
              <a:rPr sz="1950" b="1" spc="204" dirty="0">
                <a:latin typeface="Arial"/>
                <a:cs typeface="Arial"/>
              </a:rPr>
              <a:t>Start:		</a:t>
            </a:r>
            <a:r>
              <a:rPr sz="1950" b="1" spc="165" dirty="0">
                <a:latin typeface="Arial"/>
                <a:cs typeface="Arial"/>
              </a:rPr>
              <a:t>Las</a:t>
            </a:r>
            <a:r>
              <a:rPr sz="1950" b="1" spc="280" dirty="0">
                <a:latin typeface="Arial"/>
                <a:cs typeface="Arial"/>
              </a:rPr>
              <a:t> </a:t>
            </a:r>
            <a:r>
              <a:rPr sz="1950" b="1" spc="170" dirty="0">
                <a:latin typeface="Arial"/>
                <a:cs typeface="Arial"/>
              </a:rPr>
              <a:t>Vegas </a:t>
            </a:r>
            <a:r>
              <a:rPr sz="1950" b="1" spc="-530" dirty="0">
                <a:latin typeface="Arial"/>
                <a:cs typeface="Arial"/>
              </a:rPr>
              <a:t> </a:t>
            </a:r>
            <a:r>
              <a:rPr sz="1950" b="1" spc="160" dirty="0">
                <a:latin typeface="Arial"/>
                <a:cs typeface="Arial"/>
              </a:rPr>
              <a:t>Goal:	</a:t>
            </a:r>
            <a:r>
              <a:rPr sz="1950" b="1" spc="155" dirty="0">
                <a:latin typeface="Arial"/>
                <a:cs typeface="Arial"/>
              </a:rPr>
              <a:t>Calgary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134" y="1730895"/>
            <a:ext cx="7144207" cy="449930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6337" y="6319906"/>
            <a:ext cx="38608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385" dirty="0">
                <a:latin typeface="Arial MT"/>
                <a:cs typeface="Arial MT"/>
              </a:rPr>
              <a:t>A*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489" y="735685"/>
            <a:ext cx="5855311" cy="645754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pc="-330" dirty="0"/>
              <a:t>H</a:t>
            </a:r>
            <a:r>
              <a:rPr spc="-336" dirty="0"/>
              <a:t>eu</a:t>
            </a:r>
            <a:r>
              <a:rPr spc="-330" dirty="0"/>
              <a:t>r</a:t>
            </a:r>
            <a:r>
              <a:rPr spc="-336" dirty="0"/>
              <a:t>is</a:t>
            </a:r>
            <a:r>
              <a:rPr spc="-347" dirty="0"/>
              <a:t>ti</a:t>
            </a:r>
            <a:r>
              <a:rPr dirty="0"/>
              <a:t>c</a:t>
            </a:r>
            <a:r>
              <a:rPr spc="-721" dirty="0"/>
              <a:t> </a:t>
            </a:r>
            <a:r>
              <a:rPr spc="-336" dirty="0"/>
              <a:t>Func</a:t>
            </a:r>
            <a:r>
              <a:rPr spc="-347" dirty="0"/>
              <a:t>t</a:t>
            </a:r>
            <a:r>
              <a:rPr spc="-336" dirty="0"/>
              <a:t>i</a:t>
            </a:r>
            <a:r>
              <a:rPr spc="-347" dirty="0"/>
              <a:t>o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6489" y="1888993"/>
            <a:ext cx="7853934" cy="163070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640" spc="-6" dirty="0">
                <a:latin typeface="Calibri"/>
                <a:cs typeface="Calibri"/>
              </a:rPr>
              <a:t>Function</a:t>
            </a:r>
            <a:r>
              <a:rPr sz="2640" spc="-17" dirty="0">
                <a:latin typeface="Calibri"/>
                <a:cs typeface="Calibri"/>
              </a:rPr>
              <a:t> </a:t>
            </a:r>
            <a:r>
              <a:rPr sz="2640" spc="-6" dirty="0">
                <a:solidFill>
                  <a:srgbClr val="CC6600"/>
                </a:solidFill>
                <a:latin typeface="Calibri"/>
                <a:cs typeface="Calibri"/>
              </a:rPr>
              <a:t>h(N)</a:t>
            </a:r>
            <a:r>
              <a:rPr sz="2640" spc="-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that</a:t>
            </a:r>
            <a:r>
              <a:rPr sz="2640" spc="-22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estimate</a:t>
            </a:r>
            <a:r>
              <a:rPr sz="2640" spc="-11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the</a:t>
            </a:r>
            <a:r>
              <a:rPr sz="2640" spc="-17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cost</a:t>
            </a:r>
            <a:r>
              <a:rPr sz="2640" spc="-28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of </a:t>
            </a:r>
            <a:r>
              <a:rPr sz="2640" dirty="0">
                <a:latin typeface="Calibri"/>
                <a:cs typeface="Calibri"/>
              </a:rPr>
              <a:t>the </a:t>
            </a:r>
            <a:r>
              <a:rPr sz="2640" spc="-6" dirty="0">
                <a:latin typeface="Calibri"/>
                <a:cs typeface="Calibri"/>
              </a:rPr>
              <a:t>cheapest</a:t>
            </a:r>
            <a:r>
              <a:rPr sz="2640" spc="-22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path</a:t>
            </a:r>
            <a:endParaRPr sz="2640">
              <a:latin typeface="Calibri"/>
              <a:cs typeface="Calibri"/>
            </a:endParaRPr>
          </a:p>
          <a:p>
            <a:pPr marL="13970">
              <a:spcBef>
                <a:spcPts val="6"/>
              </a:spcBef>
            </a:pPr>
            <a:r>
              <a:rPr sz="2640" spc="-6" dirty="0">
                <a:latin typeface="Calibri"/>
                <a:cs typeface="Calibri"/>
              </a:rPr>
              <a:t>from</a:t>
            </a:r>
            <a:r>
              <a:rPr sz="2640" spc="-22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node</a:t>
            </a:r>
            <a:r>
              <a:rPr sz="2640" spc="-22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N</a:t>
            </a:r>
            <a:r>
              <a:rPr sz="2640" spc="-28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to</a:t>
            </a:r>
            <a:r>
              <a:rPr sz="2640" spc="-17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goal</a:t>
            </a:r>
            <a:r>
              <a:rPr sz="2640" spc="-33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node.</a:t>
            </a:r>
            <a:endParaRPr sz="2640">
              <a:latin typeface="Calibri"/>
              <a:cs typeface="Calibri"/>
            </a:endParaRPr>
          </a:p>
          <a:p>
            <a:pPr>
              <a:spcBef>
                <a:spcPts val="11"/>
              </a:spcBef>
            </a:pPr>
            <a:endParaRPr sz="2585">
              <a:latin typeface="Calibri"/>
              <a:cs typeface="Calibri"/>
            </a:endParaRPr>
          </a:p>
          <a:p>
            <a:pPr marL="13970"/>
            <a:r>
              <a:rPr sz="2640" dirty="0">
                <a:latin typeface="Calibri"/>
                <a:cs typeface="Calibri"/>
              </a:rPr>
              <a:t>Example:</a:t>
            </a:r>
            <a:r>
              <a:rPr sz="2640" spc="-61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8-puzzle</a:t>
            </a:r>
            <a:endParaRPr sz="264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50389" y="4776369"/>
          <a:ext cx="1353690" cy="13025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187"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88"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88"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011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01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73989" y="4776368"/>
          <a:ext cx="1341816" cy="1341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599"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107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1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921"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9408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9408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9408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98"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595654" y="6170240"/>
            <a:ext cx="190691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1013" y="6086419"/>
            <a:ext cx="456121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spc="-11" dirty="0">
                <a:latin typeface="Calibri"/>
                <a:cs typeface="Calibri"/>
              </a:rPr>
              <a:t>g</a:t>
            </a:r>
            <a:r>
              <a:rPr sz="1980" spc="-6" dirty="0">
                <a:latin typeface="Calibri"/>
                <a:cs typeface="Calibri"/>
              </a:rPr>
              <a:t>oal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313" y="4820373"/>
            <a:ext cx="5205921" cy="961353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13970">
              <a:spcBef>
                <a:spcPts val="105"/>
              </a:spcBef>
            </a:pP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h(N)</a:t>
            </a:r>
            <a:r>
              <a:rPr sz="3080" spc="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3080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number</a:t>
            </a:r>
            <a:r>
              <a:rPr sz="3080" spc="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of</a:t>
            </a:r>
            <a:r>
              <a:rPr sz="3080" spc="-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misplaced</a:t>
            </a:r>
            <a:r>
              <a:rPr sz="3080" spc="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tiles</a:t>
            </a:r>
            <a:endParaRPr sz="3080">
              <a:latin typeface="Calibri"/>
              <a:cs typeface="Calibri"/>
            </a:endParaRPr>
          </a:p>
          <a:p>
            <a:pPr marL="815150">
              <a:spcBef>
                <a:spcPts val="6"/>
              </a:spcBef>
            </a:pP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3080" spc="-33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6</a:t>
            </a:r>
            <a:endParaRPr sz="308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08401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489" y="735685"/>
            <a:ext cx="3228467" cy="127669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pc="-330" dirty="0"/>
              <a:t>H</a:t>
            </a:r>
            <a:r>
              <a:rPr spc="-336" dirty="0"/>
              <a:t>eu</a:t>
            </a:r>
            <a:r>
              <a:rPr spc="-330" dirty="0"/>
              <a:t>r</a:t>
            </a:r>
            <a:r>
              <a:rPr spc="-336" dirty="0"/>
              <a:t>is</a:t>
            </a:r>
            <a:r>
              <a:rPr spc="-347" dirty="0"/>
              <a:t>ti</a:t>
            </a:r>
            <a:r>
              <a:rPr dirty="0"/>
              <a:t>c</a:t>
            </a:r>
            <a:r>
              <a:rPr spc="-721" dirty="0"/>
              <a:t> </a:t>
            </a:r>
            <a:r>
              <a:rPr spc="-336" dirty="0"/>
              <a:t>Func</a:t>
            </a:r>
            <a:r>
              <a:rPr spc="-347" dirty="0"/>
              <a:t>t</a:t>
            </a:r>
            <a:r>
              <a:rPr spc="-336" dirty="0"/>
              <a:t>i</a:t>
            </a:r>
            <a:r>
              <a:rPr spc="-347" dirty="0"/>
              <a:t>o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6489" y="1888993"/>
            <a:ext cx="7853934" cy="163070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640" spc="-6" dirty="0">
                <a:latin typeface="Calibri"/>
                <a:cs typeface="Calibri"/>
              </a:rPr>
              <a:t>Function</a:t>
            </a:r>
            <a:r>
              <a:rPr sz="2640" spc="-17" dirty="0">
                <a:latin typeface="Calibri"/>
                <a:cs typeface="Calibri"/>
              </a:rPr>
              <a:t> </a:t>
            </a:r>
            <a:r>
              <a:rPr sz="2640" spc="-6" dirty="0">
                <a:solidFill>
                  <a:srgbClr val="CC6600"/>
                </a:solidFill>
                <a:latin typeface="Calibri"/>
                <a:cs typeface="Calibri"/>
              </a:rPr>
              <a:t>h(N)</a:t>
            </a:r>
            <a:r>
              <a:rPr sz="2640" spc="-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that</a:t>
            </a:r>
            <a:r>
              <a:rPr sz="2640" spc="-22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estimate</a:t>
            </a:r>
            <a:r>
              <a:rPr sz="2640" spc="-11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the</a:t>
            </a:r>
            <a:r>
              <a:rPr sz="2640" spc="-17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cost</a:t>
            </a:r>
            <a:r>
              <a:rPr sz="2640" spc="-28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of </a:t>
            </a:r>
            <a:r>
              <a:rPr sz="2640" dirty="0">
                <a:latin typeface="Calibri"/>
                <a:cs typeface="Calibri"/>
              </a:rPr>
              <a:t>the </a:t>
            </a:r>
            <a:r>
              <a:rPr sz="2640" spc="-6" dirty="0">
                <a:latin typeface="Calibri"/>
                <a:cs typeface="Calibri"/>
              </a:rPr>
              <a:t>cheapest</a:t>
            </a:r>
            <a:r>
              <a:rPr sz="2640" spc="-22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path</a:t>
            </a:r>
            <a:endParaRPr sz="2640">
              <a:latin typeface="Calibri"/>
              <a:cs typeface="Calibri"/>
            </a:endParaRPr>
          </a:p>
          <a:p>
            <a:pPr marL="13970">
              <a:spcBef>
                <a:spcPts val="6"/>
              </a:spcBef>
            </a:pPr>
            <a:r>
              <a:rPr sz="2640" spc="-6" dirty="0">
                <a:latin typeface="Calibri"/>
                <a:cs typeface="Calibri"/>
              </a:rPr>
              <a:t>from</a:t>
            </a:r>
            <a:r>
              <a:rPr sz="2640" spc="-22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node</a:t>
            </a:r>
            <a:r>
              <a:rPr sz="2640" spc="-22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N</a:t>
            </a:r>
            <a:r>
              <a:rPr sz="2640" spc="-28" dirty="0">
                <a:latin typeface="Calibri"/>
                <a:cs typeface="Calibri"/>
              </a:rPr>
              <a:t> </a:t>
            </a:r>
            <a:r>
              <a:rPr sz="2640" dirty="0">
                <a:latin typeface="Calibri"/>
                <a:cs typeface="Calibri"/>
              </a:rPr>
              <a:t>to</a:t>
            </a:r>
            <a:r>
              <a:rPr sz="2640" spc="-17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goal</a:t>
            </a:r>
            <a:r>
              <a:rPr sz="2640" spc="-33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node.</a:t>
            </a:r>
            <a:endParaRPr sz="2640">
              <a:latin typeface="Calibri"/>
              <a:cs typeface="Calibri"/>
            </a:endParaRPr>
          </a:p>
          <a:p>
            <a:pPr>
              <a:spcBef>
                <a:spcPts val="11"/>
              </a:spcBef>
            </a:pPr>
            <a:endParaRPr sz="2585">
              <a:latin typeface="Calibri"/>
              <a:cs typeface="Calibri"/>
            </a:endParaRPr>
          </a:p>
          <a:p>
            <a:pPr marL="13970"/>
            <a:r>
              <a:rPr sz="2640" dirty="0">
                <a:latin typeface="Calibri"/>
                <a:cs typeface="Calibri"/>
              </a:rPr>
              <a:t>Example:</a:t>
            </a:r>
            <a:r>
              <a:rPr sz="2640" spc="-61" dirty="0">
                <a:latin typeface="Calibri"/>
                <a:cs typeface="Calibri"/>
              </a:rPr>
              <a:t> </a:t>
            </a:r>
            <a:r>
              <a:rPr sz="2640" spc="-6" dirty="0">
                <a:latin typeface="Calibri"/>
                <a:cs typeface="Calibri"/>
              </a:rPr>
              <a:t>8-puzzle</a:t>
            </a:r>
            <a:endParaRPr sz="264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50389" y="4776369"/>
          <a:ext cx="1353690" cy="13025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187"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88"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88"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011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01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73989" y="4776368"/>
          <a:ext cx="1341816" cy="1341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599"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107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10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921"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9408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9408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9408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98"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595654" y="6170240"/>
            <a:ext cx="190691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dirty="0">
                <a:latin typeface="Calibri"/>
                <a:cs typeface="Calibri"/>
              </a:rPr>
              <a:t>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1013" y="6086419"/>
            <a:ext cx="456121" cy="31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1980" spc="-11" dirty="0">
                <a:latin typeface="Calibri"/>
                <a:cs typeface="Calibri"/>
              </a:rPr>
              <a:t>g</a:t>
            </a:r>
            <a:r>
              <a:rPr sz="1980" spc="-6" dirty="0">
                <a:latin typeface="Calibri"/>
                <a:cs typeface="Calibri"/>
              </a:rPr>
              <a:t>oal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313" y="4820373"/>
            <a:ext cx="5481828" cy="1909305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993266" marR="5588" indent="-979296">
              <a:spcBef>
                <a:spcPts val="105"/>
              </a:spcBef>
            </a:pP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h(N)</a:t>
            </a:r>
            <a:r>
              <a:rPr sz="3080" spc="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3080" spc="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sum</a:t>
            </a:r>
            <a:r>
              <a:rPr sz="3080" spc="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of the </a:t>
            </a:r>
            <a:r>
              <a:rPr sz="3080" spc="-17" dirty="0">
                <a:solidFill>
                  <a:srgbClr val="CC6600"/>
                </a:solidFill>
                <a:latin typeface="Calibri"/>
                <a:cs typeface="Calibri"/>
              </a:rPr>
              <a:t>distances</a:t>
            </a:r>
            <a:r>
              <a:rPr sz="3080" spc="50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of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every</a:t>
            </a:r>
            <a:r>
              <a:rPr sz="3080" spc="-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tile</a:t>
            </a: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17" dirty="0">
                <a:solidFill>
                  <a:srgbClr val="CC6600"/>
                </a:solidFill>
                <a:latin typeface="Calibri"/>
                <a:cs typeface="Calibri"/>
              </a:rPr>
              <a:t>to</a:t>
            </a:r>
            <a:r>
              <a:rPr sz="3080" spc="-22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its</a:t>
            </a:r>
            <a:r>
              <a:rPr sz="3080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goal</a:t>
            </a:r>
            <a:r>
              <a:rPr sz="3080" spc="-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position</a:t>
            </a:r>
            <a:endParaRPr sz="3080">
              <a:latin typeface="Calibri"/>
              <a:cs typeface="Calibri"/>
            </a:endParaRPr>
          </a:p>
          <a:p>
            <a:pPr marL="726440"/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3080" spc="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2</a:t>
            </a:r>
            <a:r>
              <a:rPr sz="3080" spc="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+</a:t>
            </a:r>
            <a:r>
              <a:rPr sz="3080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3</a:t>
            </a:r>
            <a:r>
              <a:rPr sz="3080" spc="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+</a:t>
            </a:r>
            <a:r>
              <a:rPr sz="3080" spc="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0</a:t>
            </a:r>
            <a:r>
              <a:rPr sz="3080" spc="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+</a:t>
            </a:r>
            <a:r>
              <a:rPr sz="3080" spc="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1</a:t>
            </a:r>
            <a:r>
              <a:rPr sz="3080" spc="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+</a:t>
            </a:r>
            <a:r>
              <a:rPr sz="3080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3</a:t>
            </a:r>
            <a:r>
              <a:rPr sz="3080" spc="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+</a:t>
            </a:r>
            <a:r>
              <a:rPr sz="3080" spc="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0</a:t>
            </a:r>
            <a:r>
              <a:rPr sz="3080" spc="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+</a:t>
            </a:r>
            <a:r>
              <a:rPr sz="3080" spc="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3</a:t>
            </a:r>
            <a:r>
              <a:rPr sz="3080" spc="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+ 1</a:t>
            </a:r>
            <a:endParaRPr sz="3080">
              <a:latin typeface="Calibri"/>
              <a:cs typeface="Calibri"/>
            </a:endParaRPr>
          </a:p>
          <a:p>
            <a:pPr marL="726440"/>
            <a:r>
              <a:rPr sz="3080" spc="-6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3080" spc="-33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080" spc="-11" dirty="0">
                <a:solidFill>
                  <a:srgbClr val="CC6600"/>
                </a:solidFill>
                <a:latin typeface="Calibri"/>
                <a:cs typeface="Calibri"/>
              </a:rPr>
              <a:t>13</a:t>
            </a:r>
            <a:endParaRPr sz="308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6928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489" y="735685"/>
            <a:ext cx="5649468" cy="127669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pc="-336" dirty="0"/>
              <a:t>Example</a:t>
            </a:r>
            <a:r>
              <a:rPr dirty="0"/>
              <a:t>s</a:t>
            </a:r>
            <a:r>
              <a:rPr spc="-726" dirty="0"/>
              <a:t> </a:t>
            </a:r>
            <a:r>
              <a:rPr spc="-336" dirty="0"/>
              <a:t>o</a:t>
            </a:r>
            <a:r>
              <a:rPr dirty="0"/>
              <a:t>f</a:t>
            </a:r>
            <a:r>
              <a:rPr spc="-688" dirty="0"/>
              <a:t> </a:t>
            </a:r>
            <a:r>
              <a:rPr spc="-336" dirty="0"/>
              <a:t>Evalua</a:t>
            </a:r>
            <a:r>
              <a:rPr spc="-347" dirty="0"/>
              <a:t>tio</a:t>
            </a:r>
            <a:r>
              <a:rPr dirty="0"/>
              <a:t>n</a:t>
            </a:r>
            <a:r>
              <a:rPr spc="-721" dirty="0"/>
              <a:t> </a:t>
            </a:r>
            <a:r>
              <a:rPr spc="-330" dirty="0"/>
              <a:t>f</a:t>
            </a:r>
            <a:r>
              <a:rPr spc="-336" dirty="0"/>
              <a:t>unc</a:t>
            </a:r>
            <a:r>
              <a:rPr spc="-347" dirty="0"/>
              <a:t>tio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4800" y="3048000"/>
            <a:ext cx="9969500" cy="2933221"/>
          </a:xfrm>
          <a:prstGeom prst="rect">
            <a:avLst/>
          </a:prstGeom>
        </p:spPr>
        <p:txBody>
          <a:bodyPr vert="horz" wrap="square" lIns="0" tIns="72499" rIns="0" bIns="0" rtlCol="0">
            <a:spAutoFit/>
          </a:bodyPr>
          <a:lstStyle/>
          <a:p>
            <a:pPr marL="13970" marR="5588">
              <a:spcBef>
                <a:spcPts val="105"/>
              </a:spcBef>
            </a:pPr>
            <a:r>
              <a:rPr sz="3080" spc="-6" dirty="0"/>
              <a:t>Let</a:t>
            </a:r>
            <a:r>
              <a:rPr sz="3080" spc="6" dirty="0"/>
              <a:t> </a:t>
            </a:r>
            <a:r>
              <a:rPr sz="3080" spc="-6" dirty="0">
                <a:solidFill>
                  <a:srgbClr val="CC6600"/>
                </a:solidFill>
              </a:rPr>
              <a:t>g(N)</a:t>
            </a:r>
            <a:r>
              <a:rPr sz="3080" dirty="0">
                <a:solidFill>
                  <a:srgbClr val="CC6600"/>
                </a:solidFill>
              </a:rPr>
              <a:t> </a:t>
            </a:r>
            <a:r>
              <a:rPr sz="3080" spc="-6" dirty="0"/>
              <a:t>be</a:t>
            </a:r>
            <a:r>
              <a:rPr sz="3080" spc="6" dirty="0"/>
              <a:t> </a:t>
            </a:r>
            <a:r>
              <a:rPr sz="3080" spc="-6" dirty="0"/>
              <a:t>the cost</a:t>
            </a:r>
            <a:r>
              <a:rPr sz="3080" spc="17" dirty="0"/>
              <a:t> </a:t>
            </a:r>
            <a:r>
              <a:rPr sz="3080" spc="-6" dirty="0"/>
              <a:t>of the</a:t>
            </a:r>
            <a:r>
              <a:rPr sz="3080" spc="6" dirty="0"/>
              <a:t> </a:t>
            </a:r>
            <a:r>
              <a:rPr sz="3080" spc="-11" dirty="0"/>
              <a:t>best</a:t>
            </a:r>
            <a:r>
              <a:rPr sz="3080" spc="17" dirty="0"/>
              <a:t> </a:t>
            </a:r>
            <a:r>
              <a:rPr sz="3080" spc="-6" dirty="0"/>
              <a:t>path</a:t>
            </a:r>
            <a:r>
              <a:rPr sz="3080" spc="11" dirty="0"/>
              <a:t> </a:t>
            </a:r>
            <a:r>
              <a:rPr sz="3080" spc="-11" dirty="0"/>
              <a:t>found</a:t>
            </a:r>
            <a:r>
              <a:rPr sz="3080" spc="33" dirty="0"/>
              <a:t> </a:t>
            </a:r>
            <a:r>
              <a:rPr sz="3080" spc="-6" dirty="0"/>
              <a:t>so </a:t>
            </a:r>
            <a:r>
              <a:rPr sz="3080" spc="-11" dirty="0"/>
              <a:t>far </a:t>
            </a:r>
            <a:r>
              <a:rPr sz="3080" spc="-682" dirty="0"/>
              <a:t> </a:t>
            </a:r>
            <a:r>
              <a:rPr sz="3080" spc="-11" dirty="0"/>
              <a:t>between</a:t>
            </a:r>
            <a:r>
              <a:rPr sz="3080" dirty="0"/>
              <a:t> </a:t>
            </a:r>
            <a:r>
              <a:rPr sz="3080" spc="-6" dirty="0"/>
              <a:t>the initial</a:t>
            </a:r>
            <a:r>
              <a:rPr sz="3080" spc="22" dirty="0"/>
              <a:t> </a:t>
            </a:r>
            <a:r>
              <a:rPr sz="3080" spc="-11" dirty="0"/>
              <a:t>node</a:t>
            </a:r>
            <a:r>
              <a:rPr sz="3080" spc="6" dirty="0"/>
              <a:t> </a:t>
            </a:r>
            <a:r>
              <a:rPr sz="3080" spc="-6" dirty="0"/>
              <a:t>and</a:t>
            </a:r>
            <a:r>
              <a:rPr sz="3080" spc="11" dirty="0"/>
              <a:t> </a:t>
            </a:r>
            <a:r>
              <a:rPr sz="3080" spc="-6" dirty="0"/>
              <a:t>N</a:t>
            </a:r>
            <a:endParaRPr sz="3080" dirty="0"/>
          </a:p>
          <a:p>
            <a:pPr marL="102680" marR="2807272">
              <a:lnSpc>
                <a:spcPct val="199300"/>
              </a:lnSpc>
              <a:spcBef>
                <a:spcPts val="55"/>
              </a:spcBef>
            </a:pPr>
            <a:r>
              <a:rPr sz="3080" spc="-11" dirty="0">
                <a:solidFill>
                  <a:srgbClr val="CC6600"/>
                </a:solidFill>
              </a:rPr>
              <a:t>f(N)</a:t>
            </a:r>
            <a:r>
              <a:rPr sz="3080" spc="6" dirty="0">
                <a:solidFill>
                  <a:srgbClr val="CC6600"/>
                </a:solidFill>
              </a:rPr>
              <a:t> </a:t>
            </a:r>
            <a:r>
              <a:rPr sz="3080" spc="-6" dirty="0">
                <a:solidFill>
                  <a:srgbClr val="CC6600"/>
                </a:solidFill>
              </a:rPr>
              <a:t>=</a:t>
            </a:r>
            <a:r>
              <a:rPr sz="3080" spc="6" dirty="0">
                <a:solidFill>
                  <a:srgbClr val="CC6600"/>
                </a:solidFill>
              </a:rPr>
              <a:t> </a:t>
            </a:r>
            <a:r>
              <a:rPr sz="3080" spc="-11" dirty="0">
                <a:solidFill>
                  <a:srgbClr val="CC6600"/>
                </a:solidFill>
              </a:rPr>
              <a:t>h(N)</a:t>
            </a:r>
            <a:r>
              <a:rPr sz="3080" spc="28" dirty="0">
                <a:solidFill>
                  <a:srgbClr val="CC6600"/>
                </a:solidFill>
              </a:rPr>
              <a:t> </a:t>
            </a:r>
            <a:r>
              <a:rPr sz="3080" spc="-6" dirty="0">
                <a:latin typeface="Wingdings"/>
                <a:cs typeface="Wingdings"/>
              </a:rPr>
              <a:t></a:t>
            </a:r>
            <a:r>
              <a:rPr sz="3080" spc="-66" dirty="0">
                <a:latin typeface="Times New Roman"/>
                <a:cs typeface="Times New Roman"/>
              </a:rPr>
              <a:t> </a:t>
            </a:r>
            <a:r>
              <a:rPr sz="3080" spc="-6" dirty="0"/>
              <a:t>greedy</a:t>
            </a:r>
            <a:r>
              <a:rPr sz="3080" dirty="0"/>
              <a:t> </a:t>
            </a:r>
            <a:r>
              <a:rPr sz="3080" spc="-11" dirty="0"/>
              <a:t>best-first </a:t>
            </a:r>
            <a:endParaRPr lang="en-US" sz="3080" spc="-11" dirty="0"/>
          </a:p>
          <a:p>
            <a:pPr marL="102680" marR="2807272">
              <a:lnSpc>
                <a:spcPct val="199300"/>
              </a:lnSpc>
              <a:spcBef>
                <a:spcPts val="55"/>
              </a:spcBef>
            </a:pPr>
            <a:r>
              <a:rPr sz="3080" spc="-682" dirty="0"/>
              <a:t> </a:t>
            </a:r>
            <a:r>
              <a:rPr sz="3080" spc="-11" dirty="0">
                <a:solidFill>
                  <a:srgbClr val="CC6600"/>
                </a:solidFill>
              </a:rPr>
              <a:t>f(N)</a:t>
            </a:r>
            <a:r>
              <a:rPr sz="3080" spc="6" dirty="0">
                <a:solidFill>
                  <a:srgbClr val="CC6600"/>
                </a:solidFill>
              </a:rPr>
              <a:t> </a:t>
            </a:r>
            <a:r>
              <a:rPr sz="3080" spc="-6" dirty="0">
                <a:solidFill>
                  <a:srgbClr val="CC6600"/>
                </a:solidFill>
              </a:rPr>
              <a:t>=</a:t>
            </a:r>
            <a:r>
              <a:rPr sz="3080" spc="11" dirty="0">
                <a:solidFill>
                  <a:srgbClr val="CC6600"/>
                </a:solidFill>
              </a:rPr>
              <a:t> </a:t>
            </a:r>
            <a:r>
              <a:rPr sz="3080" spc="-6" dirty="0">
                <a:solidFill>
                  <a:srgbClr val="CC6600"/>
                </a:solidFill>
              </a:rPr>
              <a:t>g(N)</a:t>
            </a:r>
            <a:r>
              <a:rPr sz="3080" dirty="0">
                <a:solidFill>
                  <a:srgbClr val="CC6600"/>
                </a:solidFill>
              </a:rPr>
              <a:t> </a:t>
            </a:r>
            <a:r>
              <a:rPr sz="3080" spc="-6" dirty="0">
                <a:solidFill>
                  <a:srgbClr val="CC6600"/>
                </a:solidFill>
              </a:rPr>
              <a:t>+</a:t>
            </a:r>
            <a:r>
              <a:rPr sz="3080" spc="11" dirty="0">
                <a:solidFill>
                  <a:srgbClr val="CC6600"/>
                </a:solidFill>
              </a:rPr>
              <a:t> </a:t>
            </a:r>
            <a:r>
              <a:rPr sz="3080" spc="-11" dirty="0">
                <a:solidFill>
                  <a:srgbClr val="CC6600"/>
                </a:solidFill>
              </a:rPr>
              <a:t>h(N)</a:t>
            </a:r>
            <a:endParaRPr sz="308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9467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245" dirty="0"/>
              <a:t>Heuristics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1810" y="1273492"/>
            <a:ext cx="4343400" cy="2194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1659" y="3597154"/>
            <a:ext cx="8415655" cy="25057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48615" indent="-260350">
              <a:lnSpc>
                <a:spcPct val="100000"/>
              </a:lnSpc>
              <a:spcBef>
                <a:spcPts val="540"/>
              </a:spcBef>
              <a:buFont typeface="MS UI Gothic"/>
              <a:buChar char="•"/>
              <a:tabLst>
                <a:tab pos="349250" algn="l"/>
              </a:tabLst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solution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45" dirty="0">
                <a:latin typeface="Arial MT"/>
                <a:cs typeface="Arial MT"/>
              </a:rPr>
              <a:t>is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26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steps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long.</a:t>
            </a:r>
            <a:endParaRPr sz="1950">
              <a:latin typeface="Arial MT"/>
              <a:cs typeface="Arial MT"/>
            </a:endParaRPr>
          </a:p>
          <a:p>
            <a:pPr marL="348615" indent="-260350">
              <a:lnSpc>
                <a:spcPct val="100000"/>
              </a:lnSpc>
              <a:spcBef>
                <a:spcPts val="450"/>
              </a:spcBef>
              <a:buFont typeface="MS UI Gothic"/>
              <a:buChar char="•"/>
              <a:tabLst>
                <a:tab pos="349250" algn="l"/>
              </a:tabLst>
            </a:pPr>
            <a:r>
              <a:rPr sz="1950" i="1" spc="254" dirty="0">
                <a:latin typeface="Calibri"/>
                <a:cs typeface="Calibri"/>
              </a:rPr>
              <a:t>h</a:t>
            </a:r>
            <a:r>
              <a:rPr sz="2475" spc="382" baseline="-13468" dirty="0">
                <a:latin typeface="Arial MT"/>
                <a:cs typeface="Arial MT"/>
              </a:rPr>
              <a:t>1</a:t>
            </a:r>
            <a:r>
              <a:rPr sz="1950" spc="254" dirty="0">
                <a:latin typeface="Arial MT"/>
                <a:cs typeface="Arial MT"/>
              </a:rPr>
              <a:t>(</a:t>
            </a:r>
            <a:r>
              <a:rPr sz="1950" i="1" spc="254" dirty="0">
                <a:latin typeface="Calibri"/>
                <a:cs typeface="Calibri"/>
              </a:rPr>
              <a:t>n</a:t>
            </a:r>
            <a:r>
              <a:rPr sz="1950" spc="254" dirty="0">
                <a:latin typeface="Arial MT"/>
                <a:cs typeface="Arial MT"/>
              </a:rPr>
              <a:t>)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=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number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misplaced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tiles</a:t>
            </a:r>
            <a:endParaRPr sz="1950">
              <a:latin typeface="Arial MT"/>
              <a:cs typeface="Arial MT"/>
            </a:endParaRPr>
          </a:p>
          <a:p>
            <a:pPr marL="348615" marR="81280" indent="-260350">
              <a:lnSpc>
                <a:spcPct val="119200"/>
              </a:lnSpc>
              <a:buFont typeface="MS UI Gothic"/>
              <a:buChar char="•"/>
              <a:tabLst>
                <a:tab pos="349250" algn="l"/>
              </a:tabLst>
            </a:pPr>
            <a:r>
              <a:rPr sz="1950" i="1" spc="254" dirty="0">
                <a:latin typeface="Calibri"/>
                <a:cs typeface="Calibri"/>
              </a:rPr>
              <a:t>h</a:t>
            </a:r>
            <a:r>
              <a:rPr sz="2475" spc="382" baseline="-13468" dirty="0">
                <a:latin typeface="Arial MT"/>
                <a:cs typeface="Arial MT"/>
              </a:rPr>
              <a:t>2</a:t>
            </a:r>
            <a:r>
              <a:rPr sz="1950" spc="254" dirty="0">
                <a:latin typeface="Arial MT"/>
                <a:cs typeface="Arial MT"/>
              </a:rPr>
              <a:t>(</a:t>
            </a:r>
            <a:r>
              <a:rPr sz="1950" i="1" spc="254" dirty="0">
                <a:latin typeface="Calibri"/>
                <a:cs typeface="Calibri"/>
              </a:rPr>
              <a:t>n</a:t>
            </a:r>
            <a:r>
              <a:rPr sz="1950" spc="254" dirty="0">
                <a:latin typeface="Arial MT"/>
                <a:cs typeface="Arial MT"/>
              </a:rPr>
              <a:t>)</a:t>
            </a:r>
            <a:r>
              <a:rPr sz="1950" spc="220" dirty="0">
                <a:latin typeface="Arial MT"/>
                <a:cs typeface="Arial MT"/>
              </a:rPr>
              <a:t> </a:t>
            </a:r>
            <a:r>
              <a:rPr sz="1950" spc="305" dirty="0">
                <a:latin typeface="Arial MT"/>
                <a:cs typeface="Arial MT"/>
              </a:rPr>
              <a:t>=total</a:t>
            </a:r>
            <a:r>
              <a:rPr sz="1950" spc="420" dirty="0">
                <a:latin typeface="Arial MT"/>
                <a:cs typeface="Arial MT"/>
              </a:rPr>
              <a:t> </a:t>
            </a:r>
            <a:r>
              <a:rPr sz="1950" spc="200" dirty="0">
                <a:latin typeface="Arial MT"/>
                <a:cs typeface="Arial MT"/>
              </a:rPr>
              <a:t>Manhattan</a:t>
            </a:r>
            <a:r>
              <a:rPr sz="1950" spc="409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distance</a:t>
            </a:r>
            <a:r>
              <a:rPr sz="1950" spc="409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(sum</a:t>
            </a:r>
            <a:r>
              <a:rPr sz="1950" spc="415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41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409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horizontal</a:t>
            </a:r>
            <a:r>
              <a:rPr sz="1950" spc="42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and </a:t>
            </a:r>
            <a:r>
              <a:rPr sz="1950" spc="-53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vertical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distances).</a:t>
            </a:r>
            <a:endParaRPr sz="1950">
              <a:latin typeface="Arial MT"/>
              <a:cs typeface="Arial MT"/>
            </a:endParaRPr>
          </a:p>
          <a:p>
            <a:pPr marL="348615" indent="-260350">
              <a:lnSpc>
                <a:spcPct val="100000"/>
              </a:lnSpc>
              <a:spcBef>
                <a:spcPts val="450"/>
              </a:spcBef>
              <a:buFont typeface="MS UI Gothic"/>
              <a:buChar char="•"/>
              <a:tabLst>
                <a:tab pos="349250" algn="l"/>
              </a:tabLst>
            </a:pPr>
            <a:r>
              <a:rPr sz="1950" i="1" spc="254" dirty="0">
                <a:latin typeface="Calibri"/>
                <a:cs typeface="Calibri"/>
              </a:rPr>
              <a:t>h</a:t>
            </a:r>
            <a:r>
              <a:rPr sz="2475" spc="382" baseline="-13468" dirty="0">
                <a:latin typeface="Arial MT"/>
                <a:cs typeface="Arial MT"/>
              </a:rPr>
              <a:t>1</a:t>
            </a:r>
            <a:r>
              <a:rPr sz="1950" spc="254" dirty="0">
                <a:latin typeface="Arial MT"/>
                <a:cs typeface="Arial MT"/>
              </a:rPr>
              <a:t>(</a:t>
            </a:r>
            <a:r>
              <a:rPr sz="1950" i="1" spc="254" dirty="0">
                <a:latin typeface="Calibri"/>
                <a:cs typeface="Calibri"/>
              </a:rPr>
              <a:t>n</a:t>
            </a:r>
            <a:r>
              <a:rPr sz="1950" spc="254" dirty="0">
                <a:latin typeface="Arial MT"/>
                <a:cs typeface="Arial MT"/>
              </a:rPr>
              <a:t>)</a:t>
            </a:r>
            <a:r>
              <a:rPr sz="1950" spc="5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=</a:t>
            </a:r>
            <a:r>
              <a:rPr sz="1950" spc="1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8</a:t>
            </a:r>
            <a:endParaRPr sz="1950">
              <a:latin typeface="Arial MT"/>
              <a:cs typeface="Arial MT"/>
            </a:endParaRPr>
          </a:p>
          <a:p>
            <a:pPr marL="348615" marR="80645" indent="-260350">
              <a:lnSpc>
                <a:spcPct val="119200"/>
              </a:lnSpc>
              <a:buFont typeface="MS UI Gothic"/>
              <a:buChar char="•"/>
              <a:tabLst>
                <a:tab pos="349250" algn="l"/>
                <a:tab pos="5113655" algn="l"/>
              </a:tabLst>
            </a:pPr>
            <a:r>
              <a:rPr sz="1950" spc="160" dirty="0">
                <a:latin typeface="Arial MT"/>
                <a:cs typeface="Arial MT"/>
              </a:rPr>
              <a:t>Tiles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1</a:t>
            </a:r>
            <a:r>
              <a:rPr sz="1950" spc="305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8</a:t>
            </a:r>
            <a:r>
              <a:rPr sz="1950" spc="305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in</a:t>
            </a:r>
            <a:r>
              <a:rPr sz="1950" spc="30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start</a:t>
            </a:r>
            <a:r>
              <a:rPr sz="1950" spc="305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state</a:t>
            </a:r>
            <a:r>
              <a:rPr sz="1950" spc="300" dirty="0">
                <a:latin typeface="Arial MT"/>
                <a:cs typeface="Arial MT"/>
              </a:rPr>
              <a:t> </a:t>
            </a:r>
            <a:r>
              <a:rPr sz="1950" spc="85" dirty="0">
                <a:latin typeface="Arial MT"/>
                <a:cs typeface="Arial MT"/>
              </a:rPr>
              <a:t>gives:	</a:t>
            </a:r>
            <a:r>
              <a:rPr sz="1950" i="1" spc="160" dirty="0">
                <a:latin typeface="Calibri"/>
                <a:cs typeface="Calibri"/>
              </a:rPr>
              <a:t>h</a:t>
            </a:r>
            <a:r>
              <a:rPr sz="2475" spc="240" baseline="-13468" dirty="0">
                <a:latin typeface="Arial MT"/>
                <a:cs typeface="Arial MT"/>
              </a:rPr>
              <a:t>2</a:t>
            </a:r>
            <a:r>
              <a:rPr sz="2475" spc="254" baseline="-13468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=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3</a:t>
            </a:r>
            <a:r>
              <a:rPr sz="1950" spc="-95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+</a:t>
            </a:r>
            <a:r>
              <a:rPr sz="1950" spc="-95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1</a:t>
            </a:r>
            <a:r>
              <a:rPr sz="1950" spc="-100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+</a:t>
            </a:r>
            <a:r>
              <a:rPr sz="1950" spc="-95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2</a:t>
            </a:r>
            <a:r>
              <a:rPr sz="1950" spc="-100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+</a:t>
            </a:r>
            <a:r>
              <a:rPr sz="1950" spc="-10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2</a:t>
            </a:r>
            <a:r>
              <a:rPr sz="1950" spc="-95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+</a:t>
            </a:r>
            <a:r>
              <a:rPr sz="1950" spc="-95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2</a:t>
            </a:r>
            <a:r>
              <a:rPr sz="1950" spc="-100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+ </a:t>
            </a:r>
            <a:r>
              <a:rPr sz="1950" spc="-53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3</a:t>
            </a:r>
            <a:r>
              <a:rPr sz="1950" spc="-140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+</a:t>
            </a:r>
            <a:r>
              <a:rPr sz="1950" spc="-135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3</a:t>
            </a:r>
            <a:r>
              <a:rPr sz="1950" spc="-140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+</a:t>
            </a:r>
            <a:r>
              <a:rPr sz="1950" spc="-14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2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=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18</a:t>
            </a:r>
            <a:r>
              <a:rPr sz="1950" spc="245" dirty="0">
                <a:latin typeface="Arial MT"/>
                <a:cs typeface="Arial MT"/>
              </a:rPr>
              <a:t> </a:t>
            </a:r>
            <a:r>
              <a:rPr sz="1950" spc="155" dirty="0">
                <a:latin typeface="Arial MT"/>
                <a:cs typeface="Arial MT"/>
              </a:rPr>
              <a:t>which</a:t>
            </a:r>
            <a:r>
              <a:rPr sz="1950" spc="24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does</a:t>
            </a:r>
            <a:r>
              <a:rPr sz="1950" spc="245" dirty="0">
                <a:latin typeface="Arial MT"/>
                <a:cs typeface="Arial MT"/>
              </a:rPr>
              <a:t> </a:t>
            </a:r>
            <a:r>
              <a:rPr sz="1950" spc="220" dirty="0">
                <a:latin typeface="Arial MT"/>
                <a:cs typeface="Arial MT"/>
              </a:rPr>
              <a:t>not</a:t>
            </a:r>
            <a:r>
              <a:rPr sz="1950" spc="250" dirty="0">
                <a:latin typeface="Arial MT"/>
                <a:cs typeface="Arial MT"/>
              </a:rPr>
              <a:t> </a:t>
            </a:r>
            <a:r>
              <a:rPr sz="1950" spc="140" dirty="0">
                <a:latin typeface="Arial MT"/>
                <a:cs typeface="Arial MT"/>
              </a:rPr>
              <a:t>overestimate</a:t>
            </a:r>
            <a:r>
              <a:rPr sz="1950" spc="24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4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true</a:t>
            </a:r>
            <a:r>
              <a:rPr sz="1950" spc="245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solution.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94853"/>
            <a:ext cx="5245711" cy="645754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pc="-297" dirty="0"/>
              <a:t>8-Puzzle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3730" y="4132631"/>
            <a:ext cx="512978" cy="5129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9473" y="4575619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44850" y="2456230"/>
            <a:ext cx="5877878" cy="2860358"/>
            <a:chOff x="2586227" y="2129027"/>
            <a:chExt cx="5343525" cy="26003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7" y="2129027"/>
              <a:ext cx="466344" cy="4663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3027" y="4262627"/>
              <a:ext cx="466344" cy="46634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021013" y="2898941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44850" y="5976671"/>
            <a:ext cx="512978" cy="51297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021013" y="6420022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4850" y="4635551"/>
            <a:ext cx="512978" cy="51297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21013" y="5078539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05253" y="2037130"/>
            <a:ext cx="4035235" cy="4196587"/>
            <a:chOff x="1822957" y="1748027"/>
            <a:chExt cx="3668395" cy="3815079"/>
          </a:xfrm>
        </p:grpSpPr>
        <p:sp>
          <p:nvSpPr>
            <p:cNvPr id="14" name="object 14"/>
            <p:cNvSpPr/>
            <p:nvPr/>
          </p:nvSpPr>
          <p:spPr>
            <a:xfrm>
              <a:off x="1822958" y="2362199"/>
              <a:ext cx="771525" cy="3200400"/>
            </a:xfrm>
            <a:custGeom>
              <a:avLst/>
              <a:gdLst/>
              <a:ahLst/>
              <a:cxnLst/>
              <a:rect l="l" t="t" r="r" b="b"/>
              <a:pathLst>
                <a:path w="771525" h="3200400">
                  <a:moveTo>
                    <a:pt x="771017" y="3115310"/>
                  </a:moveTo>
                  <a:lnTo>
                    <a:pt x="742149" y="3128429"/>
                  </a:lnTo>
                  <a:lnTo>
                    <a:pt x="20180" y="1540052"/>
                  </a:lnTo>
                  <a:lnTo>
                    <a:pt x="699236" y="1947456"/>
                  </a:lnTo>
                  <a:lnTo>
                    <a:pt x="682879" y="1974723"/>
                  </a:lnTo>
                  <a:lnTo>
                    <a:pt x="767842" y="1981200"/>
                  </a:lnTo>
                  <a:lnTo>
                    <a:pt x="750544" y="1954022"/>
                  </a:lnTo>
                  <a:lnTo>
                    <a:pt x="722122" y="1909318"/>
                  </a:lnTo>
                  <a:lnTo>
                    <a:pt x="705764" y="1936572"/>
                  </a:lnTo>
                  <a:lnTo>
                    <a:pt x="14173" y="1521561"/>
                  </a:lnTo>
                  <a:lnTo>
                    <a:pt x="739444" y="71005"/>
                  </a:lnTo>
                  <a:lnTo>
                    <a:pt x="767842" y="85217"/>
                  </a:lnTo>
                  <a:lnTo>
                    <a:pt x="767842" y="53975"/>
                  </a:lnTo>
                  <a:lnTo>
                    <a:pt x="767842" y="0"/>
                  </a:lnTo>
                  <a:lnTo>
                    <a:pt x="699643" y="51054"/>
                  </a:lnTo>
                  <a:lnTo>
                    <a:pt x="728129" y="65328"/>
                  </a:lnTo>
                  <a:lnTo>
                    <a:pt x="127" y="1521206"/>
                  </a:lnTo>
                  <a:lnTo>
                    <a:pt x="5842" y="1524000"/>
                  </a:lnTo>
                  <a:lnTo>
                    <a:pt x="0" y="1526667"/>
                  </a:lnTo>
                  <a:lnTo>
                    <a:pt x="730554" y="3133687"/>
                  </a:lnTo>
                  <a:lnTo>
                    <a:pt x="701675" y="3146806"/>
                  </a:lnTo>
                  <a:lnTo>
                    <a:pt x="767842" y="3200400"/>
                  </a:lnTo>
                  <a:lnTo>
                    <a:pt x="769886" y="3145282"/>
                  </a:lnTo>
                  <a:lnTo>
                    <a:pt x="771017" y="31153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4627" y="1748027"/>
              <a:ext cx="466344" cy="46634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703531" y="2479841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27091" y="3210610"/>
            <a:ext cx="512978" cy="51297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703531" y="3652985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89310" y="2037130"/>
            <a:ext cx="2692019" cy="1430528"/>
            <a:chOff x="4263009" y="1748027"/>
            <a:chExt cx="2447290" cy="1300480"/>
          </a:xfrm>
        </p:grpSpPr>
        <p:sp>
          <p:nvSpPr>
            <p:cNvPr id="20" name="object 20"/>
            <p:cNvSpPr/>
            <p:nvPr/>
          </p:nvSpPr>
          <p:spPr>
            <a:xfrm>
              <a:off x="4263009" y="1981199"/>
              <a:ext cx="766445" cy="1066800"/>
            </a:xfrm>
            <a:custGeom>
              <a:avLst/>
              <a:gdLst/>
              <a:ahLst/>
              <a:cxnLst/>
              <a:rect l="l" t="t" r="r" b="b"/>
              <a:pathLst>
                <a:path w="766445" h="1066800">
                  <a:moveTo>
                    <a:pt x="766191" y="0"/>
                  </a:moveTo>
                  <a:lnTo>
                    <a:pt x="680974" y="0"/>
                  </a:lnTo>
                  <a:lnTo>
                    <a:pt x="695147" y="28409"/>
                  </a:lnTo>
                  <a:lnTo>
                    <a:pt x="1397" y="375285"/>
                  </a:lnTo>
                  <a:lnTo>
                    <a:pt x="4191" y="381000"/>
                  </a:lnTo>
                  <a:lnTo>
                    <a:pt x="0" y="385699"/>
                  </a:lnTo>
                  <a:lnTo>
                    <a:pt x="705307" y="1020584"/>
                  </a:lnTo>
                  <a:lnTo>
                    <a:pt x="684022" y="1044194"/>
                  </a:lnTo>
                  <a:lnTo>
                    <a:pt x="766191" y="1066800"/>
                  </a:lnTo>
                  <a:lnTo>
                    <a:pt x="751370" y="1029081"/>
                  </a:lnTo>
                  <a:lnTo>
                    <a:pt x="735076" y="987552"/>
                  </a:lnTo>
                  <a:lnTo>
                    <a:pt x="713854" y="1011097"/>
                  </a:lnTo>
                  <a:lnTo>
                    <a:pt x="15316" y="382549"/>
                  </a:lnTo>
                  <a:lnTo>
                    <a:pt x="700798" y="39751"/>
                  </a:lnTo>
                  <a:lnTo>
                    <a:pt x="715010" y="68199"/>
                  </a:lnTo>
                  <a:lnTo>
                    <a:pt x="749122" y="22733"/>
                  </a:lnTo>
                  <a:lnTo>
                    <a:pt x="7661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43828" y="1748027"/>
              <a:ext cx="466344" cy="46634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045070" y="2479841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35040" y="2037130"/>
            <a:ext cx="2687828" cy="513398"/>
            <a:chOff x="5486400" y="1748027"/>
            <a:chExt cx="2443480" cy="466725"/>
          </a:xfrm>
        </p:grpSpPr>
        <p:sp>
          <p:nvSpPr>
            <p:cNvPr id="24" name="object 24"/>
            <p:cNvSpPr/>
            <p:nvPr/>
          </p:nvSpPr>
          <p:spPr>
            <a:xfrm>
              <a:off x="5486400" y="1943099"/>
              <a:ext cx="762000" cy="76200"/>
            </a:xfrm>
            <a:custGeom>
              <a:avLst/>
              <a:gdLst/>
              <a:ahLst/>
              <a:cxnLst/>
              <a:rect l="l" t="t" r="r" b="b"/>
              <a:pathLst>
                <a:path w="762000" h="76200">
                  <a:moveTo>
                    <a:pt x="685800" y="0"/>
                  </a:moveTo>
                  <a:lnTo>
                    <a:pt x="685800" y="76200"/>
                  </a:lnTo>
                  <a:lnTo>
                    <a:pt x="749300" y="44450"/>
                  </a:lnTo>
                  <a:lnTo>
                    <a:pt x="698500" y="44450"/>
                  </a:lnTo>
                  <a:lnTo>
                    <a:pt x="698500" y="31750"/>
                  </a:lnTo>
                  <a:lnTo>
                    <a:pt x="749300" y="31750"/>
                  </a:lnTo>
                  <a:lnTo>
                    <a:pt x="685800" y="0"/>
                  </a:lnTo>
                  <a:close/>
                </a:path>
                <a:path w="762000" h="76200">
                  <a:moveTo>
                    <a:pt x="685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85800" y="44450"/>
                  </a:lnTo>
                  <a:lnTo>
                    <a:pt x="685800" y="31750"/>
                  </a:lnTo>
                  <a:close/>
                </a:path>
                <a:path w="762000" h="76200">
                  <a:moveTo>
                    <a:pt x="749300" y="31750"/>
                  </a:moveTo>
                  <a:lnTo>
                    <a:pt x="698500" y="31750"/>
                  </a:lnTo>
                  <a:lnTo>
                    <a:pt x="698500" y="44450"/>
                  </a:lnTo>
                  <a:lnTo>
                    <a:pt x="749300" y="44450"/>
                  </a:lnTo>
                  <a:lnTo>
                    <a:pt x="762000" y="38100"/>
                  </a:lnTo>
                  <a:lnTo>
                    <a:pt x="749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63027" y="1748027"/>
              <a:ext cx="466344" cy="46634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386190" y="2479841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526881" y="2251710"/>
            <a:ext cx="2687828" cy="3484118"/>
            <a:chOff x="5024437" y="1943100"/>
            <a:chExt cx="2443480" cy="3167380"/>
          </a:xfrm>
        </p:grpSpPr>
        <p:sp>
          <p:nvSpPr>
            <p:cNvPr id="28" name="object 28"/>
            <p:cNvSpPr/>
            <p:nvPr/>
          </p:nvSpPr>
          <p:spPr>
            <a:xfrm>
              <a:off x="6705600" y="1943100"/>
              <a:ext cx="762000" cy="76200"/>
            </a:xfrm>
            <a:custGeom>
              <a:avLst/>
              <a:gdLst/>
              <a:ahLst/>
              <a:cxnLst/>
              <a:rect l="l" t="t" r="r" b="b"/>
              <a:pathLst>
                <a:path w="762000" h="76200">
                  <a:moveTo>
                    <a:pt x="685800" y="0"/>
                  </a:moveTo>
                  <a:lnTo>
                    <a:pt x="685800" y="76200"/>
                  </a:lnTo>
                  <a:lnTo>
                    <a:pt x="749300" y="44450"/>
                  </a:lnTo>
                  <a:lnTo>
                    <a:pt x="698500" y="44450"/>
                  </a:lnTo>
                  <a:lnTo>
                    <a:pt x="698500" y="31750"/>
                  </a:lnTo>
                  <a:lnTo>
                    <a:pt x="749300" y="31750"/>
                  </a:lnTo>
                  <a:lnTo>
                    <a:pt x="685800" y="0"/>
                  </a:lnTo>
                  <a:close/>
                </a:path>
                <a:path w="762000" h="76200">
                  <a:moveTo>
                    <a:pt x="685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85800" y="44450"/>
                  </a:lnTo>
                  <a:lnTo>
                    <a:pt x="685800" y="31750"/>
                  </a:lnTo>
                  <a:close/>
                </a:path>
                <a:path w="762000" h="76200">
                  <a:moveTo>
                    <a:pt x="749300" y="31750"/>
                  </a:moveTo>
                  <a:lnTo>
                    <a:pt x="698500" y="31750"/>
                  </a:lnTo>
                  <a:lnTo>
                    <a:pt x="698500" y="44450"/>
                  </a:lnTo>
                  <a:lnTo>
                    <a:pt x="749300" y="44450"/>
                  </a:lnTo>
                  <a:lnTo>
                    <a:pt x="762000" y="38100"/>
                  </a:lnTo>
                  <a:lnTo>
                    <a:pt x="749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0292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0292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1816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1816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0292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4" name="object 34"/>
            <p:cNvSpPr/>
            <p:nvPr/>
          </p:nvSpPr>
          <p:spPr>
            <a:xfrm>
              <a:off x="50292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5" name="object 35"/>
            <p:cNvSpPr/>
            <p:nvPr/>
          </p:nvSpPr>
          <p:spPr>
            <a:xfrm>
              <a:off x="53340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6" name="object 36"/>
            <p:cNvSpPr/>
            <p:nvPr/>
          </p:nvSpPr>
          <p:spPr>
            <a:xfrm>
              <a:off x="53340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0292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8" name="object 38"/>
            <p:cNvSpPr/>
            <p:nvPr/>
          </p:nvSpPr>
          <p:spPr>
            <a:xfrm>
              <a:off x="5029200" y="4648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152400" y="457200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457200"/>
                  </a:lnTo>
                  <a:close/>
                </a:path>
                <a:path w="457200" h="457200">
                  <a:moveTo>
                    <a:pt x="304800" y="152400"/>
                  </a:moveTo>
                  <a:lnTo>
                    <a:pt x="457200" y="152400"/>
                  </a:lnTo>
                  <a:lnTo>
                    <a:pt x="457200" y="0"/>
                  </a:lnTo>
                  <a:lnTo>
                    <a:pt x="304800" y="0"/>
                  </a:lnTo>
                  <a:lnTo>
                    <a:pt x="30480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0" name="object 40"/>
            <p:cNvSpPr/>
            <p:nvPr/>
          </p:nvSpPr>
          <p:spPr>
            <a:xfrm>
              <a:off x="53340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1" name="object 41"/>
            <p:cNvSpPr/>
            <p:nvPr/>
          </p:nvSpPr>
          <p:spPr>
            <a:xfrm>
              <a:off x="51816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2" name="object 42"/>
            <p:cNvSpPr/>
            <p:nvPr/>
          </p:nvSpPr>
          <p:spPr>
            <a:xfrm>
              <a:off x="51816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717641" y="5663268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27091" y="4216451"/>
            <a:ext cx="512978" cy="512978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5717641" y="4657763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689868" y="4216451"/>
            <a:ext cx="2691321" cy="1519238"/>
            <a:chOff x="4263516" y="3729228"/>
            <a:chExt cx="2446655" cy="1381125"/>
          </a:xfrm>
        </p:grpSpPr>
        <p:sp>
          <p:nvSpPr>
            <p:cNvPr id="47" name="object 47"/>
            <p:cNvSpPr/>
            <p:nvPr/>
          </p:nvSpPr>
          <p:spPr>
            <a:xfrm>
              <a:off x="5181599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353C3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8" name="object 48"/>
            <p:cNvSpPr/>
            <p:nvPr/>
          </p:nvSpPr>
          <p:spPr>
            <a:xfrm>
              <a:off x="5181599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9" name="object 49"/>
            <p:cNvSpPr/>
            <p:nvPr/>
          </p:nvSpPr>
          <p:spPr>
            <a:xfrm>
              <a:off x="4263517" y="3962400"/>
              <a:ext cx="765810" cy="914400"/>
            </a:xfrm>
            <a:custGeom>
              <a:avLst/>
              <a:gdLst/>
              <a:ahLst/>
              <a:cxnLst/>
              <a:rect l="l" t="t" r="r" b="b"/>
              <a:pathLst>
                <a:path w="765810" h="914400">
                  <a:moveTo>
                    <a:pt x="765683" y="0"/>
                  </a:moveTo>
                  <a:lnTo>
                    <a:pt x="680466" y="0"/>
                  </a:lnTo>
                  <a:lnTo>
                    <a:pt x="694639" y="28409"/>
                  </a:lnTo>
                  <a:lnTo>
                    <a:pt x="889" y="375285"/>
                  </a:lnTo>
                  <a:lnTo>
                    <a:pt x="3683" y="381000"/>
                  </a:lnTo>
                  <a:lnTo>
                    <a:pt x="0" y="386207"/>
                  </a:lnTo>
                  <a:lnTo>
                    <a:pt x="699604" y="875855"/>
                  </a:lnTo>
                  <a:lnTo>
                    <a:pt x="681355" y="901954"/>
                  </a:lnTo>
                  <a:lnTo>
                    <a:pt x="765683" y="914400"/>
                  </a:lnTo>
                  <a:lnTo>
                    <a:pt x="748728" y="883158"/>
                  </a:lnTo>
                  <a:lnTo>
                    <a:pt x="725043" y="839470"/>
                  </a:lnTo>
                  <a:lnTo>
                    <a:pt x="706869" y="865454"/>
                  </a:lnTo>
                  <a:lnTo>
                    <a:pt x="16090" y="381914"/>
                  </a:lnTo>
                  <a:lnTo>
                    <a:pt x="700290" y="39751"/>
                  </a:lnTo>
                  <a:lnTo>
                    <a:pt x="714502" y="68199"/>
                  </a:lnTo>
                  <a:lnTo>
                    <a:pt x="748614" y="22733"/>
                  </a:lnTo>
                  <a:lnTo>
                    <a:pt x="765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43827" y="3729228"/>
              <a:ext cx="466344" cy="466344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7058761" y="4657763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035040" y="3629710"/>
            <a:ext cx="2687828" cy="885698"/>
            <a:chOff x="5486400" y="3195827"/>
            <a:chExt cx="2443480" cy="805180"/>
          </a:xfrm>
        </p:grpSpPr>
        <p:pic>
          <p:nvPicPr>
            <p:cNvPr id="53" name="object 5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63027" y="3195827"/>
              <a:ext cx="466344" cy="46634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486400" y="3924300"/>
              <a:ext cx="762000" cy="76200"/>
            </a:xfrm>
            <a:custGeom>
              <a:avLst/>
              <a:gdLst/>
              <a:ahLst/>
              <a:cxnLst/>
              <a:rect l="l" t="t" r="r" b="b"/>
              <a:pathLst>
                <a:path w="762000" h="76200">
                  <a:moveTo>
                    <a:pt x="685800" y="0"/>
                  </a:moveTo>
                  <a:lnTo>
                    <a:pt x="685800" y="76200"/>
                  </a:lnTo>
                  <a:lnTo>
                    <a:pt x="749300" y="44450"/>
                  </a:lnTo>
                  <a:lnTo>
                    <a:pt x="698500" y="44450"/>
                  </a:lnTo>
                  <a:lnTo>
                    <a:pt x="698500" y="31750"/>
                  </a:lnTo>
                  <a:lnTo>
                    <a:pt x="749300" y="31750"/>
                  </a:lnTo>
                  <a:lnTo>
                    <a:pt x="685800" y="0"/>
                  </a:lnTo>
                  <a:close/>
                </a:path>
                <a:path w="762000" h="76200">
                  <a:moveTo>
                    <a:pt x="685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85800" y="44450"/>
                  </a:lnTo>
                  <a:lnTo>
                    <a:pt x="685800" y="31750"/>
                  </a:lnTo>
                  <a:close/>
                </a:path>
                <a:path w="762000" h="76200">
                  <a:moveTo>
                    <a:pt x="749300" y="31750"/>
                  </a:moveTo>
                  <a:lnTo>
                    <a:pt x="698500" y="31750"/>
                  </a:lnTo>
                  <a:lnTo>
                    <a:pt x="698500" y="44450"/>
                  </a:lnTo>
                  <a:lnTo>
                    <a:pt x="749300" y="44450"/>
                  </a:lnTo>
                  <a:lnTo>
                    <a:pt x="762000" y="38100"/>
                  </a:lnTo>
                  <a:lnTo>
                    <a:pt x="749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400160" y="4070409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400160" y="5244503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185971" y="2456230"/>
            <a:ext cx="4028947" cy="2604008"/>
            <a:chOff x="3805428" y="2129027"/>
            <a:chExt cx="3662679" cy="2367280"/>
          </a:xfrm>
        </p:grpSpPr>
        <p:sp>
          <p:nvSpPr>
            <p:cNvPr id="58" name="object 58"/>
            <p:cNvSpPr/>
            <p:nvPr/>
          </p:nvSpPr>
          <p:spPr>
            <a:xfrm>
              <a:off x="6701917" y="3428999"/>
              <a:ext cx="765810" cy="1066800"/>
            </a:xfrm>
            <a:custGeom>
              <a:avLst/>
              <a:gdLst/>
              <a:ahLst/>
              <a:cxnLst/>
              <a:rect l="l" t="t" r="r" b="b"/>
              <a:pathLst>
                <a:path w="765809" h="1066800">
                  <a:moveTo>
                    <a:pt x="765683" y="0"/>
                  </a:moveTo>
                  <a:lnTo>
                    <a:pt x="681355" y="12446"/>
                  </a:lnTo>
                  <a:lnTo>
                    <a:pt x="699604" y="38557"/>
                  </a:lnTo>
                  <a:lnTo>
                    <a:pt x="0" y="528193"/>
                  </a:lnTo>
                  <a:lnTo>
                    <a:pt x="3683" y="533400"/>
                  </a:lnTo>
                  <a:lnTo>
                    <a:pt x="0" y="538607"/>
                  </a:lnTo>
                  <a:lnTo>
                    <a:pt x="699604" y="1028255"/>
                  </a:lnTo>
                  <a:lnTo>
                    <a:pt x="681355" y="1054354"/>
                  </a:lnTo>
                  <a:lnTo>
                    <a:pt x="765683" y="1066800"/>
                  </a:lnTo>
                  <a:lnTo>
                    <a:pt x="748728" y="1035558"/>
                  </a:lnTo>
                  <a:lnTo>
                    <a:pt x="725043" y="991870"/>
                  </a:lnTo>
                  <a:lnTo>
                    <a:pt x="706869" y="1017854"/>
                  </a:lnTo>
                  <a:lnTo>
                    <a:pt x="14795" y="533412"/>
                  </a:lnTo>
                  <a:lnTo>
                    <a:pt x="706869" y="48958"/>
                  </a:lnTo>
                  <a:lnTo>
                    <a:pt x="725043" y="74930"/>
                  </a:lnTo>
                  <a:lnTo>
                    <a:pt x="748728" y="31242"/>
                  </a:lnTo>
                  <a:lnTo>
                    <a:pt x="765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05428" y="2129027"/>
              <a:ext cx="466344" cy="466344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4362133" y="2898941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61" name="object 6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185971" y="5976671"/>
            <a:ext cx="512978" cy="512978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4362133" y="6434104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63" name="object 6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185971" y="4635551"/>
            <a:ext cx="512978" cy="512978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4376242" y="5076863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346234" y="2712719"/>
            <a:ext cx="854266" cy="3520440"/>
          </a:xfrm>
          <a:custGeom>
            <a:avLst/>
            <a:gdLst/>
            <a:ahLst/>
            <a:cxnLst/>
            <a:rect l="l" t="t" r="r" b="b"/>
            <a:pathLst>
              <a:path w="776604" h="3200400">
                <a:moveTo>
                  <a:pt x="776224" y="84836"/>
                </a:moveTo>
                <a:lnTo>
                  <a:pt x="773506" y="57023"/>
                </a:lnTo>
                <a:lnTo>
                  <a:pt x="767969" y="0"/>
                </a:lnTo>
                <a:lnTo>
                  <a:pt x="705104" y="57404"/>
                </a:lnTo>
                <a:lnTo>
                  <a:pt x="734720" y="68834"/>
                </a:lnTo>
                <a:lnTo>
                  <a:pt x="0" y="1978914"/>
                </a:lnTo>
                <a:lnTo>
                  <a:pt x="5905" y="1981187"/>
                </a:lnTo>
                <a:lnTo>
                  <a:pt x="635" y="1984502"/>
                </a:lnTo>
                <a:lnTo>
                  <a:pt x="722185" y="3139135"/>
                </a:lnTo>
                <a:lnTo>
                  <a:pt x="695325" y="3155950"/>
                </a:lnTo>
                <a:lnTo>
                  <a:pt x="767969" y="3200400"/>
                </a:lnTo>
                <a:lnTo>
                  <a:pt x="763130" y="3149981"/>
                </a:lnTo>
                <a:lnTo>
                  <a:pt x="759841" y="3115564"/>
                </a:lnTo>
                <a:lnTo>
                  <a:pt x="732942" y="3132404"/>
                </a:lnTo>
                <a:lnTo>
                  <a:pt x="17411" y="1987550"/>
                </a:lnTo>
                <a:lnTo>
                  <a:pt x="691769" y="1987550"/>
                </a:lnTo>
                <a:lnTo>
                  <a:pt x="691769" y="2019300"/>
                </a:lnTo>
                <a:lnTo>
                  <a:pt x="755269" y="1987550"/>
                </a:lnTo>
                <a:lnTo>
                  <a:pt x="767969" y="1981200"/>
                </a:lnTo>
                <a:lnTo>
                  <a:pt x="755269" y="1974850"/>
                </a:lnTo>
                <a:lnTo>
                  <a:pt x="691769" y="1943100"/>
                </a:lnTo>
                <a:lnTo>
                  <a:pt x="691769" y="1974850"/>
                </a:lnTo>
                <a:lnTo>
                  <a:pt x="15252" y="1974850"/>
                </a:lnTo>
                <a:lnTo>
                  <a:pt x="746531" y="73393"/>
                </a:lnTo>
                <a:lnTo>
                  <a:pt x="776224" y="848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980"/>
          </a:p>
        </p:txBody>
      </p:sp>
      <p:sp>
        <p:nvSpPr>
          <p:cNvPr id="66" name="object 66"/>
          <p:cNvSpPr txBox="1"/>
          <p:nvPr/>
        </p:nvSpPr>
        <p:spPr>
          <a:xfrm>
            <a:off x="3440113" y="1138300"/>
            <a:ext cx="4516501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b="1" spc="-6" dirty="0">
                <a:solidFill>
                  <a:srgbClr val="CC6600"/>
                </a:solidFill>
                <a:latin typeface="Calibri"/>
                <a:cs typeface="Calibri"/>
              </a:rPr>
              <a:t>f(N)</a:t>
            </a:r>
            <a:r>
              <a:rPr sz="2200" b="1" spc="-22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2200" b="1" spc="-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h(N)</a:t>
            </a:r>
            <a:r>
              <a:rPr sz="2200" b="1" spc="-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2200" b="1" spc="-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number</a:t>
            </a:r>
            <a:r>
              <a:rPr sz="2200" b="1" spc="-22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of</a:t>
            </a:r>
            <a:r>
              <a:rPr sz="2200" b="1" spc="-6" dirty="0">
                <a:solidFill>
                  <a:srgbClr val="CC6600"/>
                </a:solidFill>
                <a:latin typeface="Calibri"/>
                <a:cs typeface="Calibri"/>
              </a:rPr>
              <a:t> misplaced</a:t>
            </a:r>
            <a:r>
              <a:rPr sz="2200" b="1" spc="-28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tiles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21000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209" y="332312"/>
            <a:ext cx="5920001" cy="645754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pc="-297" dirty="0"/>
              <a:t>8-Puzzle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3730" y="4132631"/>
            <a:ext cx="512978" cy="5129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9474" y="4575620"/>
            <a:ext cx="45193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0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44850" y="2456230"/>
            <a:ext cx="5877878" cy="2860358"/>
            <a:chOff x="2586227" y="2129027"/>
            <a:chExt cx="5343525" cy="26003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7" y="2129027"/>
              <a:ext cx="466344" cy="4663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3027" y="4262627"/>
              <a:ext cx="466344" cy="46634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021013" y="2898940"/>
            <a:ext cx="451930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1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44850" y="5976671"/>
            <a:ext cx="512978" cy="51297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021013" y="6420023"/>
            <a:ext cx="45193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4850" y="4635551"/>
            <a:ext cx="512978" cy="51297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21013" y="5078540"/>
            <a:ext cx="45193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05253" y="2037130"/>
            <a:ext cx="4035235" cy="4196587"/>
            <a:chOff x="1822957" y="1748027"/>
            <a:chExt cx="3668395" cy="3815079"/>
          </a:xfrm>
        </p:grpSpPr>
        <p:sp>
          <p:nvSpPr>
            <p:cNvPr id="14" name="object 14"/>
            <p:cNvSpPr/>
            <p:nvPr/>
          </p:nvSpPr>
          <p:spPr>
            <a:xfrm>
              <a:off x="1822958" y="2362199"/>
              <a:ext cx="771525" cy="3200400"/>
            </a:xfrm>
            <a:custGeom>
              <a:avLst/>
              <a:gdLst/>
              <a:ahLst/>
              <a:cxnLst/>
              <a:rect l="l" t="t" r="r" b="b"/>
              <a:pathLst>
                <a:path w="771525" h="3200400">
                  <a:moveTo>
                    <a:pt x="771017" y="3115310"/>
                  </a:moveTo>
                  <a:lnTo>
                    <a:pt x="742149" y="3128429"/>
                  </a:lnTo>
                  <a:lnTo>
                    <a:pt x="20180" y="1540052"/>
                  </a:lnTo>
                  <a:lnTo>
                    <a:pt x="699236" y="1947456"/>
                  </a:lnTo>
                  <a:lnTo>
                    <a:pt x="682879" y="1974723"/>
                  </a:lnTo>
                  <a:lnTo>
                    <a:pt x="767842" y="1981200"/>
                  </a:lnTo>
                  <a:lnTo>
                    <a:pt x="750544" y="1954022"/>
                  </a:lnTo>
                  <a:lnTo>
                    <a:pt x="722122" y="1909318"/>
                  </a:lnTo>
                  <a:lnTo>
                    <a:pt x="705764" y="1936572"/>
                  </a:lnTo>
                  <a:lnTo>
                    <a:pt x="14173" y="1521561"/>
                  </a:lnTo>
                  <a:lnTo>
                    <a:pt x="739444" y="71005"/>
                  </a:lnTo>
                  <a:lnTo>
                    <a:pt x="767842" y="85217"/>
                  </a:lnTo>
                  <a:lnTo>
                    <a:pt x="767842" y="53975"/>
                  </a:lnTo>
                  <a:lnTo>
                    <a:pt x="767842" y="0"/>
                  </a:lnTo>
                  <a:lnTo>
                    <a:pt x="699643" y="51054"/>
                  </a:lnTo>
                  <a:lnTo>
                    <a:pt x="728129" y="65328"/>
                  </a:lnTo>
                  <a:lnTo>
                    <a:pt x="127" y="1521206"/>
                  </a:lnTo>
                  <a:lnTo>
                    <a:pt x="5842" y="1524000"/>
                  </a:lnTo>
                  <a:lnTo>
                    <a:pt x="0" y="1526667"/>
                  </a:lnTo>
                  <a:lnTo>
                    <a:pt x="730554" y="3133687"/>
                  </a:lnTo>
                  <a:lnTo>
                    <a:pt x="701675" y="3146806"/>
                  </a:lnTo>
                  <a:lnTo>
                    <a:pt x="767842" y="3200400"/>
                  </a:lnTo>
                  <a:lnTo>
                    <a:pt x="769886" y="3145282"/>
                  </a:lnTo>
                  <a:lnTo>
                    <a:pt x="771017" y="31153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4627" y="1748027"/>
              <a:ext cx="466344" cy="46634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703531" y="2479840"/>
            <a:ext cx="451930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27091" y="3210610"/>
            <a:ext cx="512978" cy="51297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703531" y="3652985"/>
            <a:ext cx="451930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89310" y="2037130"/>
            <a:ext cx="4033139" cy="3698558"/>
            <a:chOff x="4263009" y="1748027"/>
            <a:chExt cx="3666490" cy="3362325"/>
          </a:xfrm>
        </p:grpSpPr>
        <p:sp>
          <p:nvSpPr>
            <p:cNvPr id="20" name="object 20"/>
            <p:cNvSpPr/>
            <p:nvPr/>
          </p:nvSpPr>
          <p:spPr>
            <a:xfrm>
              <a:off x="4263009" y="1981199"/>
              <a:ext cx="766445" cy="1066800"/>
            </a:xfrm>
            <a:custGeom>
              <a:avLst/>
              <a:gdLst/>
              <a:ahLst/>
              <a:cxnLst/>
              <a:rect l="l" t="t" r="r" b="b"/>
              <a:pathLst>
                <a:path w="766445" h="1066800">
                  <a:moveTo>
                    <a:pt x="766191" y="0"/>
                  </a:moveTo>
                  <a:lnTo>
                    <a:pt x="680974" y="0"/>
                  </a:lnTo>
                  <a:lnTo>
                    <a:pt x="695147" y="28409"/>
                  </a:lnTo>
                  <a:lnTo>
                    <a:pt x="1397" y="375285"/>
                  </a:lnTo>
                  <a:lnTo>
                    <a:pt x="4191" y="381000"/>
                  </a:lnTo>
                  <a:lnTo>
                    <a:pt x="0" y="385699"/>
                  </a:lnTo>
                  <a:lnTo>
                    <a:pt x="705307" y="1020584"/>
                  </a:lnTo>
                  <a:lnTo>
                    <a:pt x="684022" y="1044194"/>
                  </a:lnTo>
                  <a:lnTo>
                    <a:pt x="766191" y="1066800"/>
                  </a:lnTo>
                  <a:lnTo>
                    <a:pt x="751370" y="1029081"/>
                  </a:lnTo>
                  <a:lnTo>
                    <a:pt x="735076" y="987552"/>
                  </a:lnTo>
                  <a:lnTo>
                    <a:pt x="713854" y="1011097"/>
                  </a:lnTo>
                  <a:lnTo>
                    <a:pt x="15316" y="382549"/>
                  </a:lnTo>
                  <a:lnTo>
                    <a:pt x="700798" y="39751"/>
                  </a:lnTo>
                  <a:lnTo>
                    <a:pt x="715010" y="68199"/>
                  </a:lnTo>
                  <a:lnTo>
                    <a:pt x="749122" y="22733"/>
                  </a:lnTo>
                  <a:lnTo>
                    <a:pt x="7661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43828" y="1748027"/>
              <a:ext cx="466344" cy="4663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486400" y="1943099"/>
              <a:ext cx="762000" cy="76200"/>
            </a:xfrm>
            <a:custGeom>
              <a:avLst/>
              <a:gdLst/>
              <a:ahLst/>
              <a:cxnLst/>
              <a:rect l="l" t="t" r="r" b="b"/>
              <a:pathLst>
                <a:path w="762000" h="76200">
                  <a:moveTo>
                    <a:pt x="685800" y="0"/>
                  </a:moveTo>
                  <a:lnTo>
                    <a:pt x="685800" y="76200"/>
                  </a:lnTo>
                  <a:lnTo>
                    <a:pt x="749300" y="44450"/>
                  </a:lnTo>
                  <a:lnTo>
                    <a:pt x="698500" y="44450"/>
                  </a:lnTo>
                  <a:lnTo>
                    <a:pt x="698500" y="31750"/>
                  </a:lnTo>
                  <a:lnTo>
                    <a:pt x="749300" y="31750"/>
                  </a:lnTo>
                  <a:lnTo>
                    <a:pt x="685800" y="0"/>
                  </a:lnTo>
                  <a:close/>
                </a:path>
                <a:path w="762000" h="76200">
                  <a:moveTo>
                    <a:pt x="685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85800" y="44450"/>
                  </a:lnTo>
                  <a:lnTo>
                    <a:pt x="685800" y="31750"/>
                  </a:lnTo>
                  <a:close/>
                </a:path>
                <a:path w="762000" h="76200">
                  <a:moveTo>
                    <a:pt x="749300" y="31750"/>
                  </a:moveTo>
                  <a:lnTo>
                    <a:pt x="698500" y="31750"/>
                  </a:lnTo>
                  <a:lnTo>
                    <a:pt x="698500" y="44450"/>
                  </a:lnTo>
                  <a:lnTo>
                    <a:pt x="749300" y="44450"/>
                  </a:lnTo>
                  <a:lnTo>
                    <a:pt x="762000" y="38100"/>
                  </a:lnTo>
                  <a:lnTo>
                    <a:pt x="749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63028" y="1748027"/>
              <a:ext cx="466344" cy="4663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705600" y="1943099"/>
              <a:ext cx="762000" cy="76200"/>
            </a:xfrm>
            <a:custGeom>
              <a:avLst/>
              <a:gdLst/>
              <a:ahLst/>
              <a:cxnLst/>
              <a:rect l="l" t="t" r="r" b="b"/>
              <a:pathLst>
                <a:path w="762000" h="76200">
                  <a:moveTo>
                    <a:pt x="685800" y="0"/>
                  </a:moveTo>
                  <a:lnTo>
                    <a:pt x="685800" y="76200"/>
                  </a:lnTo>
                  <a:lnTo>
                    <a:pt x="749300" y="44450"/>
                  </a:lnTo>
                  <a:lnTo>
                    <a:pt x="698500" y="44450"/>
                  </a:lnTo>
                  <a:lnTo>
                    <a:pt x="698500" y="31750"/>
                  </a:lnTo>
                  <a:lnTo>
                    <a:pt x="749300" y="31750"/>
                  </a:lnTo>
                  <a:lnTo>
                    <a:pt x="685800" y="0"/>
                  </a:lnTo>
                  <a:close/>
                </a:path>
                <a:path w="762000" h="76200">
                  <a:moveTo>
                    <a:pt x="685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85800" y="44450"/>
                  </a:lnTo>
                  <a:lnTo>
                    <a:pt x="685800" y="31750"/>
                  </a:lnTo>
                  <a:close/>
                </a:path>
                <a:path w="762000" h="76200">
                  <a:moveTo>
                    <a:pt x="749300" y="31750"/>
                  </a:moveTo>
                  <a:lnTo>
                    <a:pt x="698500" y="31750"/>
                  </a:lnTo>
                  <a:lnTo>
                    <a:pt x="698500" y="44450"/>
                  </a:lnTo>
                  <a:lnTo>
                    <a:pt x="749300" y="44450"/>
                  </a:lnTo>
                  <a:lnTo>
                    <a:pt x="762000" y="38100"/>
                  </a:lnTo>
                  <a:lnTo>
                    <a:pt x="749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0292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6" name="object 26"/>
            <p:cNvSpPr/>
            <p:nvPr/>
          </p:nvSpPr>
          <p:spPr>
            <a:xfrm>
              <a:off x="50292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7" name="object 27"/>
            <p:cNvSpPr/>
            <p:nvPr/>
          </p:nvSpPr>
          <p:spPr>
            <a:xfrm>
              <a:off x="51816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1816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0292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0292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3340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40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0292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4" name="object 34"/>
            <p:cNvSpPr/>
            <p:nvPr/>
          </p:nvSpPr>
          <p:spPr>
            <a:xfrm>
              <a:off x="5029200" y="4648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152400" y="457200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457200"/>
                  </a:lnTo>
                  <a:close/>
                </a:path>
                <a:path w="457200" h="457200">
                  <a:moveTo>
                    <a:pt x="304800" y="152400"/>
                  </a:moveTo>
                  <a:lnTo>
                    <a:pt x="457200" y="152400"/>
                  </a:lnTo>
                  <a:lnTo>
                    <a:pt x="457200" y="0"/>
                  </a:lnTo>
                  <a:lnTo>
                    <a:pt x="304800" y="0"/>
                  </a:lnTo>
                  <a:lnTo>
                    <a:pt x="30480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5" name="object 35"/>
            <p:cNvSpPr/>
            <p:nvPr/>
          </p:nvSpPr>
          <p:spPr>
            <a:xfrm>
              <a:off x="53340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6" name="object 36"/>
            <p:cNvSpPr/>
            <p:nvPr/>
          </p:nvSpPr>
          <p:spPr>
            <a:xfrm>
              <a:off x="53340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1816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8" name="object 38"/>
            <p:cNvSpPr/>
            <p:nvPr/>
          </p:nvSpPr>
          <p:spPr>
            <a:xfrm>
              <a:off x="51816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717641" y="5663268"/>
            <a:ext cx="451930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27091" y="4216451"/>
            <a:ext cx="512978" cy="512978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5717641" y="4657763"/>
            <a:ext cx="45193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689868" y="4216451"/>
            <a:ext cx="2691321" cy="1519238"/>
            <a:chOff x="4263516" y="3729228"/>
            <a:chExt cx="2446655" cy="1381125"/>
          </a:xfrm>
        </p:grpSpPr>
        <p:sp>
          <p:nvSpPr>
            <p:cNvPr id="43" name="object 43"/>
            <p:cNvSpPr/>
            <p:nvPr/>
          </p:nvSpPr>
          <p:spPr>
            <a:xfrm>
              <a:off x="5181599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353C3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4" name="object 44"/>
            <p:cNvSpPr/>
            <p:nvPr/>
          </p:nvSpPr>
          <p:spPr>
            <a:xfrm>
              <a:off x="5181599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5" name="object 45"/>
            <p:cNvSpPr/>
            <p:nvPr/>
          </p:nvSpPr>
          <p:spPr>
            <a:xfrm>
              <a:off x="4263517" y="3962400"/>
              <a:ext cx="765810" cy="914400"/>
            </a:xfrm>
            <a:custGeom>
              <a:avLst/>
              <a:gdLst/>
              <a:ahLst/>
              <a:cxnLst/>
              <a:rect l="l" t="t" r="r" b="b"/>
              <a:pathLst>
                <a:path w="765810" h="914400">
                  <a:moveTo>
                    <a:pt x="765683" y="0"/>
                  </a:moveTo>
                  <a:lnTo>
                    <a:pt x="680466" y="0"/>
                  </a:lnTo>
                  <a:lnTo>
                    <a:pt x="694639" y="28409"/>
                  </a:lnTo>
                  <a:lnTo>
                    <a:pt x="889" y="375285"/>
                  </a:lnTo>
                  <a:lnTo>
                    <a:pt x="3683" y="381000"/>
                  </a:lnTo>
                  <a:lnTo>
                    <a:pt x="0" y="386207"/>
                  </a:lnTo>
                  <a:lnTo>
                    <a:pt x="699604" y="875855"/>
                  </a:lnTo>
                  <a:lnTo>
                    <a:pt x="681355" y="901954"/>
                  </a:lnTo>
                  <a:lnTo>
                    <a:pt x="765683" y="914400"/>
                  </a:lnTo>
                  <a:lnTo>
                    <a:pt x="748728" y="883158"/>
                  </a:lnTo>
                  <a:lnTo>
                    <a:pt x="725043" y="839470"/>
                  </a:lnTo>
                  <a:lnTo>
                    <a:pt x="706869" y="865454"/>
                  </a:lnTo>
                  <a:lnTo>
                    <a:pt x="16090" y="381914"/>
                  </a:lnTo>
                  <a:lnTo>
                    <a:pt x="700290" y="39751"/>
                  </a:lnTo>
                  <a:lnTo>
                    <a:pt x="714502" y="68199"/>
                  </a:lnTo>
                  <a:lnTo>
                    <a:pt x="748614" y="22733"/>
                  </a:lnTo>
                  <a:lnTo>
                    <a:pt x="765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43827" y="3729228"/>
              <a:ext cx="466344" cy="46634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058761" y="4657763"/>
            <a:ext cx="45193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4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035040" y="3629710"/>
            <a:ext cx="2687828" cy="885698"/>
            <a:chOff x="5486400" y="3195827"/>
            <a:chExt cx="2443480" cy="805180"/>
          </a:xfrm>
        </p:grpSpPr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63027" y="3195827"/>
              <a:ext cx="466344" cy="46634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486400" y="3924300"/>
              <a:ext cx="762000" cy="76200"/>
            </a:xfrm>
            <a:custGeom>
              <a:avLst/>
              <a:gdLst/>
              <a:ahLst/>
              <a:cxnLst/>
              <a:rect l="l" t="t" r="r" b="b"/>
              <a:pathLst>
                <a:path w="762000" h="76200">
                  <a:moveTo>
                    <a:pt x="685800" y="0"/>
                  </a:moveTo>
                  <a:lnTo>
                    <a:pt x="685800" y="76200"/>
                  </a:lnTo>
                  <a:lnTo>
                    <a:pt x="749300" y="44450"/>
                  </a:lnTo>
                  <a:lnTo>
                    <a:pt x="698500" y="44450"/>
                  </a:lnTo>
                  <a:lnTo>
                    <a:pt x="698500" y="31750"/>
                  </a:lnTo>
                  <a:lnTo>
                    <a:pt x="749300" y="31750"/>
                  </a:lnTo>
                  <a:lnTo>
                    <a:pt x="685800" y="0"/>
                  </a:lnTo>
                  <a:close/>
                </a:path>
                <a:path w="762000" h="76200">
                  <a:moveTo>
                    <a:pt x="685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85800" y="44450"/>
                  </a:lnTo>
                  <a:lnTo>
                    <a:pt x="685800" y="31750"/>
                  </a:lnTo>
                  <a:close/>
                </a:path>
                <a:path w="762000" h="76200">
                  <a:moveTo>
                    <a:pt x="749300" y="31750"/>
                  </a:moveTo>
                  <a:lnTo>
                    <a:pt x="698500" y="31750"/>
                  </a:lnTo>
                  <a:lnTo>
                    <a:pt x="698500" y="44450"/>
                  </a:lnTo>
                  <a:lnTo>
                    <a:pt x="749300" y="44450"/>
                  </a:lnTo>
                  <a:lnTo>
                    <a:pt x="762000" y="38100"/>
                  </a:lnTo>
                  <a:lnTo>
                    <a:pt x="749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400160" y="4070408"/>
            <a:ext cx="451930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400160" y="5244503"/>
            <a:ext cx="45193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185971" y="2456230"/>
            <a:ext cx="4028947" cy="2604008"/>
            <a:chOff x="3805428" y="2129027"/>
            <a:chExt cx="3662679" cy="2367280"/>
          </a:xfrm>
        </p:grpSpPr>
        <p:sp>
          <p:nvSpPr>
            <p:cNvPr id="54" name="object 54"/>
            <p:cNvSpPr/>
            <p:nvPr/>
          </p:nvSpPr>
          <p:spPr>
            <a:xfrm>
              <a:off x="6701917" y="3428999"/>
              <a:ext cx="765810" cy="1066800"/>
            </a:xfrm>
            <a:custGeom>
              <a:avLst/>
              <a:gdLst/>
              <a:ahLst/>
              <a:cxnLst/>
              <a:rect l="l" t="t" r="r" b="b"/>
              <a:pathLst>
                <a:path w="765809" h="1066800">
                  <a:moveTo>
                    <a:pt x="765683" y="0"/>
                  </a:moveTo>
                  <a:lnTo>
                    <a:pt x="681355" y="12446"/>
                  </a:lnTo>
                  <a:lnTo>
                    <a:pt x="699604" y="38557"/>
                  </a:lnTo>
                  <a:lnTo>
                    <a:pt x="0" y="528193"/>
                  </a:lnTo>
                  <a:lnTo>
                    <a:pt x="3683" y="533400"/>
                  </a:lnTo>
                  <a:lnTo>
                    <a:pt x="0" y="538607"/>
                  </a:lnTo>
                  <a:lnTo>
                    <a:pt x="699604" y="1028255"/>
                  </a:lnTo>
                  <a:lnTo>
                    <a:pt x="681355" y="1054354"/>
                  </a:lnTo>
                  <a:lnTo>
                    <a:pt x="765683" y="1066800"/>
                  </a:lnTo>
                  <a:lnTo>
                    <a:pt x="748728" y="1035558"/>
                  </a:lnTo>
                  <a:lnTo>
                    <a:pt x="725043" y="991870"/>
                  </a:lnTo>
                  <a:lnTo>
                    <a:pt x="706869" y="1017854"/>
                  </a:lnTo>
                  <a:lnTo>
                    <a:pt x="14795" y="533412"/>
                  </a:lnTo>
                  <a:lnTo>
                    <a:pt x="706869" y="48958"/>
                  </a:lnTo>
                  <a:lnTo>
                    <a:pt x="725043" y="74930"/>
                  </a:lnTo>
                  <a:lnTo>
                    <a:pt x="748728" y="31242"/>
                  </a:lnTo>
                  <a:lnTo>
                    <a:pt x="765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5428" y="2129027"/>
              <a:ext cx="466344" cy="466344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4362133" y="2898940"/>
            <a:ext cx="451930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2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7" name="object 5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85971" y="5976671"/>
            <a:ext cx="512978" cy="512978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4362133" y="6434104"/>
            <a:ext cx="45193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2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185971" y="4635551"/>
            <a:ext cx="512978" cy="512978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4376243" y="5076863"/>
            <a:ext cx="45193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2</a:t>
            </a:r>
            <a:r>
              <a:rPr sz="2200" spc="-6" dirty="0">
                <a:latin typeface="Calibri"/>
                <a:cs typeface="Calibri"/>
              </a:rPr>
              <a:t>+</a:t>
            </a: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346234" y="2712719"/>
            <a:ext cx="854266" cy="3520440"/>
          </a:xfrm>
          <a:custGeom>
            <a:avLst/>
            <a:gdLst/>
            <a:ahLst/>
            <a:cxnLst/>
            <a:rect l="l" t="t" r="r" b="b"/>
            <a:pathLst>
              <a:path w="776604" h="3200400">
                <a:moveTo>
                  <a:pt x="776224" y="84836"/>
                </a:moveTo>
                <a:lnTo>
                  <a:pt x="773506" y="57023"/>
                </a:lnTo>
                <a:lnTo>
                  <a:pt x="767969" y="0"/>
                </a:lnTo>
                <a:lnTo>
                  <a:pt x="705104" y="57404"/>
                </a:lnTo>
                <a:lnTo>
                  <a:pt x="734720" y="68834"/>
                </a:lnTo>
                <a:lnTo>
                  <a:pt x="0" y="1978914"/>
                </a:lnTo>
                <a:lnTo>
                  <a:pt x="5905" y="1981187"/>
                </a:lnTo>
                <a:lnTo>
                  <a:pt x="635" y="1984502"/>
                </a:lnTo>
                <a:lnTo>
                  <a:pt x="722185" y="3139135"/>
                </a:lnTo>
                <a:lnTo>
                  <a:pt x="695325" y="3155950"/>
                </a:lnTo>
                <a:lnTo>
                  <a:pt x="767969" y="3200400"/>
                </a:lnTo>
                <a:lnTo>
                  <a:pt x="763130" y="3149981"/>
                </a:lnTo>
                <a:lnTo>
                  <a:pt x="759841" y="3115564"/>
                </a:lnTo>
                <a:lnTo>
                  <a:pt x="732942" y="3132404"/>
                </a:lnTo>
                <a:lnTo>
                  <a:pt x="17411" y="1987550"/>
                </a:lnTo>
                <a:lnTo>
                  <a:pt x="691769" y="1987550"/>
                </a:lnTo>
                <a:lnTo>
                  <a:pt x="691769" y="2019300"/>
                </a:lnTo>
                <a:lnTo>
                  <a:pt x="755269" y="1987550"/>
                </a:lnTo>
                <a:lnTo>
                  <a:pt x="767969" y="1981200"/>
                </a:lnTo>
                <a:lnTo>
                  <a:pt x="755269" y="1974850"/>
                </a:lnTo>
                <a:lnTo>
                  <a:pt x="691769" y="1943100"/>
                </a:lnTo>
                <a:lnTo>
                  <a:pt x="691769" y="1974850"/>
                </a:lnTo>
                <a:lnTo>
                  <a:pt x="15252" y="1974850"/>
                </a:lnTo>
                <a:lnTo>
                  <a:pt x="746531" y="73393"/>
                </a:lnTo>
                <a:lnTo>
                  <a:pt x="776224" y="848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980"/>
          </a:p>
        </p:txBody>
      </p:sp>
      <p:sp>
        <p:nvSpPr>
          <p:cNvPr id="62" name="object 62"/>
          <p:cNvSpPr txBox="1"/>
          <p:nvPr/>
        </p:nvSpPr>
        <p:spPr>
          <a:xfrm>
            <a:off x="3440113" y="970660"/>
            <a:ext cx="4390073" cy="691921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b="1" spc="-6" dirty="0">
                <a:solidFill>
                  <a:srgbClr val="CC6600"/>
                </a:solidFill>
                <a:latin typeface="Calibri"/>
                <a:cs typeface="Calibri"/>
              </a:rPr>
              <a:t>f(N)</a:t>
            </a:r>
            <a:r>
              <a:rPr sz="2200" b="1" spc="-33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2200" b="1" spc="-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spc="-6" dirty="0">
                <a:solidFill>
                  <a:srgbClr val="CC6600"/>
                </a:solidFill>
                <a:latin typeface="Calibri"/>
                <a:cs typeface="Calibri"/>
              </a:rPr>
              <a:t>g(N)</a:t>
            </a:r>
            <a:r>
              <a:rPr sz="2200" b="1" spc="-33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+</a:t>
            </a:r>
            <a:r>
              <a:rPr sz="2200" b="1" spc="-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h(N)</a:t>
            </a:r>
            <a:endParaRPr sz="2200">
              <a:latin typeface="Calibri"/>
              <a:cs typeface="Calibri"/>
            </a:endParaRPr>
          </a:p>
          <a:p>
            <a:pPr marL="13970"/>
            <a:r>
              <a:rPr sz="2200" b="1" spc="-6" dirty="0">
                <a:solidFill>
                  <a:srgbClr val="CC6600"/>
                </a:solidFill>
                <a:latin typeface="Calibri"/>
                <a:cs typeface="Calibri"/>
              </a:rPr>
              <a:t>with</a:t>
            </a:r>
            <a:r>
              <a:rPr sz="2200" b="1" spc="-38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h(N)</a:t>
            </a:r>
            <a:r>
              <a:rPr sz="2200" b="1" spc="-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2200" b="1" spc="-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number</a:t>
            </a:r>
            <a:r>
              <a:rPr sz="2200" b="1" spc="-22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of</a:t>
            </a:r>
            <a:r>
              <a:rPr sz="2200" b="1" spc="-6" dirty="0">
                <a:solidFill>
                  <a:srgbClr val="CC6600"/>
                </a:solidFill>
                <a:latin typeface="Calibri"/>
                <a:cs typeface="Calibri"/>
              </a:rPr>
              <a:t> misplaced</a:t>
            </a:r>
            <a:r>
              <a:rPr sz="2200" b="1" spc="-33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tiles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75330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796" y="383193"/>
            <a:ext cx="4451086" cy="645754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pc="-297" dirty="0"/>
              <a:t>8-Puzzle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3730" y="4132631"/>
            <a:ext cx="512978" cy="5129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9473" y="4575619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44850" y="2456230"/>
            <a:ext cx="5877878" cy="2860358"/>
            <a:chOff x="2586227" y="2129027"/>
            <a:chExt cx="5343525" cy="26003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7" y="2129027"/>
              <a:ext cx="466344" cy="4663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3027" y="4262627"/>
              <a:ext cx="466344" cy="46634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021013" y="2898941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6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44850" y="5976671"/>
            <a:ext cx="512978" cy="51297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021013" y="6420022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6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4850" y="4635551"/>
            <a:ext cx="512978" cy="51297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21013" y="5078539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05253" y="2037130"/>
            <a:ext cx="6717475" cy="4196587"/>
            <a:chOff x="1822957" y="1748027"/>
            <a:chExt cx="6106795" cy="3815079"/>
          </a:xfrm>
        </p:grpSpPr>
        <p:sp>
          <p:nvSpPr>
            <p:cNvPr id="14" name="object 14"/>
            <p:cNvSpPr/>
            <p:nvPr/>
          </p:nvSpPr>
          <p:spPr>
            <a:xfrm>
              <a:off x="1822958" y="2362199"/>
              <a:ext cx="771525" cy="3200400"/>
            </a:xfrm>
            <a:custGeom>
              <a:avLst/>
              <a:gdLst/>
              <a:ahLst/>
              <a:cxnLst/>
              <a:rect l="l" t="t" r="r" b="b"/>
              <a:pathLst>
                <a:path w="771525" h="3200400">
                  <a:moveTo>
                    <a:pt x="771017" y="3115310"/>
                  </a:moveTo>
                  <a:lnTo>
                    <a:pt x="742149" y="3128429"/>
                  </a:lnTo>
                  <a:lnTo>
                    <a:pt x="20180" y="1540052"/>
                  </a:lnTo>
                  <a:lnTo>
                    <a:pt x="699236" y="1947456"/>
                  </a:lnTo>
                  <a:lnTo>
                    <a:pt x="682879" y="1974723"/>
                  </a:lnTo>
                  <a:lnTo>
                    <a:pt x="767842" y="1981200"/>
                  </a:lnTo>
                  <a:lnTo>
                    <a:pt x="750544" y="1954022"/>
                  </a:lnTo>
                  <a:lnTo>
                    <a:pt x="722122" y="1909318"/>
                  </a:lnTo>
                  <a:lnTo>
                    <a:pt x="705764" y="1936572"/>
                  </a:lnTo>
                  <a:lnTo>
                    <a:pt x="14173" y="1521561"/>
                  </a:lnTo>
                  <a:lnTo>
                    <a:pt x="739444" y="71005"/>
                  </a:lnTo>
                  <a:lnTo>
                    <a:pt x="767842" y="85217"/>
                  </a:lnTo>
                  <a:lnTo>
                    <a:pt x="767842" y="53975"/>
                  </a:lnTo>
                  <a:lnTo>
                    <a:pt x="767842" y="0"/>
                  </a:lnTo>
                  <a:lnTo>
                    <a:pt x="699643" y="51054"/>
                  </a:lnTo>
                  <a:lnTo>
                    <a:pt x="728129" y="65328"/>
                  </a:lnTo>
                  <a:lnTo>
                    <a:pt x="127" y="1521206"/>
                  </a:lnTo>
                  <a:lnTo>
                    <a:pt x="5842" y="1524000"/>
                  </a:lnTo>
                  <a:lnTo>
                    <a:pt x="0" y="1526667"/>
                  </a:lnTo>
                  <a:lnTo>
                    <a:pt x="730554" y="3133687"/>
                  </a:lnTo>
                  <a:lnTo>
                    <a:pt x="701675" y="3146806"/>
                  </a:lnTo>
                  <a:lnTo>
                    <a:pt x="767842" y="3200400"/>
                  </a:lnTo>
                  <a:lnTo>
                    <a:pt x="769886" y="3145282"/>
                  </a:lnTo>
                  <a:lnTo>
                    <a:pt x="771017" y="31153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4627" y="1748027"/>
              <a:ext cx="466344" cy="4663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264405" y="1981200"/>
              <a:ext cx="765175" cy="386715"/>
            </a:xfrm>
            <a:custGeom>
              <a:avLst/>
              <a:gdLst/>
              <a:ahLst/>
              <a:cxnLst/>
              <a:rect l="l" t="t" r="r" b="b"/>
              <a:pathLst>
                <a:path w="765175" h="386714">
                  <a:moveTo>
                    <a:pt x="693754" y="28407"/>
                  </a:moveTo>
                  <a:lnTo>
                    <a:pt x="0" y="375285"/>
                  </a:lnTo>
                  <a:lnTo>
                    <a:pt x="5588" y="386714"/>
                  </a:lnTo>
                  <a:lnTo>
                    <a:pt x="699410" y="39741"/>
                  </a:lnTo>
                  <a:lnTo>
                    <a:pt x="693754" y="28407"/>
                  </a:lnTo>
                  <a:close/>
                </a:path>
                <a:path w="765175" h="386714">
                  <a:moveTo>
                    <a:pt x="747733" y="22733"/>
                  </a:moveTo>
                  <a:lnTo>
                    <a:pt x="705104" y="22733"/>
                  </a:lnTo>
                  <a:lnTo>
                    <a:pt x="710819" y="34036"/>
                  </a:lnTo>
                  <a:lnTo>
                    <a:pt x="699410" y="39741"/>
                  </a:lnTo>
                  <a:lnTo>
                    <a:pt x="713613" y="68199"/>
                  </a:lnTo>
                  <a:lnTo>
                    <a:pt x="747733" y="22733"/>
                  </a:lnTo>
                  <a:close/>
                </a:path>
                <a:path w="765175" h="386714">
                  <a:moveTo>
                    <a:pt x="705104" y="22733"/>
                  </a:moveTo>
                  <a:lnTo>
                    <a:pt x="693754" y="28407"/>
                  </a:lnTo>
                  <a:lnTo>
                    <a:pt x="699410" y="39741"/>
                  </a:lnTo>
                  <a:lnTo>
                    <a:pt x="710819" y="34036"/>
                  </a:lnTo>
                  <a:lnTo>
                    <a:pt x="705104" y="22733"/>
                  </a:lnTo>
                  <a:close/>
                </a:path>
                <a:path w="765175" h="386714">
                  <a:moveTo>
                    <a:pt x="764794" y="0"/>
                  </a:moveTo>
                  <a:lnTo>
                    <a:pt x="679577" y="0"/>
                  </a:lnTo>
                  <a:lnTo>
                    <a:pt x="693754" y="28407"/>
                  </a:lnTo>
                  <a:lnTo>
                    <a:pt x="705104" y="22733"/>
                  </a:lnTo>
                  <a:lnTo>
                    <a:pt x="747733" y="22733"/>
                  </a:lnTo>
                  <a:lnTo>
                    <a:pt x="7647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4627" y="2814827"/>
              <a:ext cx="466344" cy="4663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263008" y="2357501"/>
              <a:ext cx="766445" cy="690880"/>
            </a:xfrm>
            <a:custGeom>
              <a:avLst/>
              <a:gdLst/>
              <a:ahLst/>
              <a:cxnLst/>
              <a:rect l="l" t="t" r="r" b="b"/>
              <a:pathLst>
                <a:path w="766445" h="690880">
                  <a:moveTo>
                    <a:pt x="705308" y="644276"/>
                  </a:moveTo>
                  <a:lnTo>
                    <a:pt x="684021" y="667893"/>
                  </a:lnTo>
                  <a:lnTo>
                    <a:pt x="766190" y="690499"/>
                  </a:lnTo>
                  <a:lnTo>
                    <a:pt x="751381" y="652779"/>
                  </a:lnTo>
                  <a:lnTo>
                    <a:pt x="714755" y="652779"/>
                  </a:lnTo>
                  <a:lnTo>
                    <a:pt x="705308" y="644276"/>
                  </a:lnTo>
                  <a:close/>
                </a:path>
                <a:path w="766445" h="690880">
                  <a:moveTo>
                    <a:pt x="713858" y="634790"/>
                  </a:moveTo>
                  <a:lnTo>
                    <a:pt x="705308" y="644276"/>
                  </a:lnTo>
                  <a:lnTo>
                    <a:pt x="714755" y="652779"/>
                  </a:lnTo>
                  <a:lnTo>
                    <a:pt x="723264" y="643254"/>
                  </a:lnTo>
                  <a:lnTo>
                    <a:pt x="713858" y="634790"/>
                  </a:lnTo>
                  <a:close/>
                </a:path>
                <a:path w="766445" h="690880">
                  <a:moveTo>
                    <a:pt x="735076" y="611251"/>
                  </a:moveTo>
                  <a:lnTo>
                    <a:pt x="713858" y="634790"/>
                  </a:lnTo>
                  <a:lnTo>
                    <a:pt x="723264" y="643254"/>
                  </a:lnTo>
                  <a:lnTo>
                    <a:pt x="714755" y="652779"/>
                  </a:lnTo>
                  <a:lnTo>
                    <a:pt x="751381" y="652779"/>
                  </a:lnTo>
                  <a:lnTo>
                    <a:pt x="735076" y="611251"/>
                  </a:lnTo>
                  <a:close/>
                </a:path>
                <a:path w="766445" h="690880">
                  <a:moveTo>
                    <a:pt x="8381" y="0"/>
                  </a:moveTo>
                  <a:lnTo>
                    <a:pt x="0" y="9398"/>
                  </a:lnTo>
                  <a:lnTo>
                    <a:pt x="705308" y="644276"/>
                  </a:lnTo>
                  <a:lnTo>
                    <a:pt x="713858" y="634790"/>
                  </a:lnTo>
                  <a:lnTo>
                    <a:pt x="83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43827" y="1748027"/>
              <a:ext cx="466344" cy="46634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486399" y="1943099"/>
              <a:ext cx="762000" cy="76200"/>
            </a:xfrm>
            <a:custGeom>
              <a:avLst/>
              <a:gdLst/>
              <a:ahLst/>
              <a:cxnLst/>
              <a:rect l="l" t="t" r="r" b="b"/>
              <a:pathLst>
                <a:path w="762000" h="76200">
                  <a:moveTo>
                    <a:pt x="685800" y="0"/>
                  </a:moveTo>
                  <a:lnTo>
                    <a:pt x="685800" y="76200"/>
                  </a:lnTo>
                  <a:lnTo>
                    <a:pt x="749300" y="44450"/>
                  </a:lnTo>
                  <a:lnTo>
                    <a:pt x="698500" y="44450"/>
                  </a:lnTo>
                  <a:lnTo>
                    <a:pt x="698500" y="31750"/>
                  </a:lnTo>
                  <a:lnTo>
                    <a:pt x="749300" y="31750"/>
                  </a:lnTo>
                  <a:lnTo>
                    <a:pt x="685800" y="0"/>
                  </a:lnTo>
                  <a:close/>
                </a:path>
                <a:path w="762000" h="76200">
                  <a:moveTo>
                    <a:pt x="685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85800" y="44450"/>
                  </a:lnTo>
                  <a:lnTo>
                    <a:pt x="685800" y="31750"/>
                  </a:lnTo>
                  <a:close/>
                </a:path>
                <a:path w="762000" h="76200">
                  <a:moveTo>
                    <a:pt x="749300" y="31750"/>
                  </a:moveTo>
                  <a:lnTo>
                    <a:pt x="698500" y="31750"/>
                  </a:lnTo>
                  <a:lnTo>
                    <a:pt x="698500" y="44450"/>
                  </a:lnTo>
                  <a:lnTo>
                    <a:pt x="749300" y="44450"/>
                  </a:lnTo>
                  <a:lnTo>
                    <a:pt x="762000" y="38100"/>
                  </a:lnTo>
                  <a:lnTo>
                    <a:pt x="749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63027" y="1748027"/>
              <a:ext cx="466344" cy="4663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705599" y="1943099"/>
              <a:ext cx="762000" cy="76200"/>
            </a:xfrm>
            <a:custGeom>
              <a:avLst/>
              <a:gdLst/>
              <a:ahLst/>
              <a:cxnLst/>
              <a:rect l="l" t="t" r="r" b="b"/>
              <a:pathLst>
                <a:path w="762000" h="76200">
                  <a:moveTo>
                    <a:pt x="685800" y="0"/>
                  </a:moveTo>
                  <a:lnTo>
                    <a:pt x="685800" y="76200"/>
                  </a:lnTo>
                  <a:lnTo>
                    <a:pt x="749300" y="44450"/>
                  </a:lnTo>
                  <a:lnTo>
                    <a:pt x="698500" y="44450"/>
                  </a:lnTo>
                  <a:lnTo>
                    <a:pt x="698500" y="31750"/>
                  </a:lnTo>
                  <a:lnTo>
                    <a:pt x="749300" y="31750"/>
                  </a:lnTo>
                  <a:lnTo>
                    <a:pt x="685800" y="0"/>
                  </a:lnTo>
                  <a:close/>
                </a:path>
                <a:path w="762000" h="76200">
                  <a:moveTo>
                    <a:pt x="685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85800" y="44450"/>
                  </a:lnTo>
                  <a:lnTo>
                    <a:pt x="685800" y="31750"/>
                  </a:lnTo>
                  <a:close/>
                </a:path>
                <a:path w="762000" h="76200">
                  <a:moveTo>
                    <a:pt x="749300" y="31750"/>
                  </a:moveTo>
                  <a:lnTo>
                    <a:pt x="698500" y="31750"/>
                  </a:lnTo>
                  <a:lnTo>
                    <a:pt x="698500" y="44450"/>
                  </a:lnTo>
                  <a:lnTo>
                    <a:pt x="749300" y="44450"/>
                  </a:lnTo>
                  <a:lnTo>
                    <a:pt x="762000" y="38100"/>
                  </a:lnTo>
                  <a:lnTo>
                    <a:pt x="749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3" name="object 23"/>
            <p:cNvSpPr/>
            <p:nvPr/>
          </p:nvSpPr>
          <p:spPr>
            <a:xfrm>
              <a:off x="50292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4" name="object 24"/>
            <p:cNvSpPr/>
            <p:nvPr/>
          </p:nvSpPr>
          <p:spPr>
            <a:xfrm>
              <a:off x="5029200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181599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6" name="object 26"/>
            <p:cNvSpPr/>
            <p:nvPr/>
          </p:nvSpPr>
          <p:spPr>
            <a:xfrm>
              <a:off x="5181599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7" name="object 27"/>
            <p:cNvSpPr/>
            <p:nvPr/>
          </p:nvSpPr>
          <p:spPr>
            <a:xfrm>
              <a:off x="50292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029200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333999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333999" y="4800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0292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029200" y="4648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152400" y="457200"/>
                  </a:lnTo>
                  <a:lnTo>
                    <a:pt x="152400" y="304800"/>
                  </a:lnTo>
                  <a:lnTo>
                    <a:pt x="0" y="304800"/>
                  </a:lnTo>
                  <a:lnTo>
                    <a:pt x="0" y="457200"/>
                  </a:lnTo>
                  <a:close/>
                </a:path>
                <a:path w="457200" h="457200">
                  <a:moveTo>
                    <a:pt x="304800" y="152400"/>
                  </a:moveTo>
                  <a:lnTo>
                    <a:pt x="457200" y="152400"/>
                  </a:lnTo>
                  <a:lnTo>
                    <a:pt x="457200" y="0"/>
                  </a:lnTo>
                  <a:lnTo>
                    <a:pt x="304800" y="0"/>
                  </a:lnTo>
                  <a:lnTo>
                    <a:pt x="30480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3999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4" name="object 34"/>
            <p:cNvSpPr/>
            <p:nvPr/>
          </p:nvSpPr>
          <p:spPr>
            <a:xfrm>
              <a:off x="5333999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5" name="object 35"/>
            <p:cNvSpPr/>
            <p:nvPr/>
          </p:nvSpPr>
          <p:spPr>
            <a:xfrm>
              <a:off x="5181599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36" name="object 36"/>
            <p:cNvSpPr/>
            <p:nvPr/>
          </p:nvSpPr>
          <p:spPr>
            <a:xfrm>
              <a:off x="5181599" y="4648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717641" y="5663268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27091" y="4216451"/>
            <a:ext cx="512978" cy="512978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5717641" y="4657763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89868" y="4216451"/>
            <a:ext cx="2691321" cy="1519238"/>
            <a:chOff x="4263516" y="3729228"/>
            <a:chExt cx="2446655" cy="1381125"/>
          </a:xfrm>
        </p:grpSpPr>
        <p:sp>
          <p:nvSpPr>
            <p:cNvPr id="41" name="object 41"/>
            <p:cNvSpPr/>
            <p:nvPr/>
          </p:nvSpPr>
          <p:spPr>
            <a:xfrm>
              <a:off x="5181599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353C3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2" name="object 42"/>
            <p:cNvSpPr/>
            <p:nvPr/>
          </p:nvSpPr>
          <p:spPr>
            <a:xfrm>
              <a:off x="5181599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43" name="object 43"/>
            <p:cNvSpPr/>
            <p:nvPr/>
          </p:nvSpPr>
          <p:spPr>
            <a:xfrm>
              <a:off x="4263517" y="3962400"/>
              <a:ext cx="765810" cy="914400"/>
            </a:xfrm>
            <a:custGeom>
              <a:avLst/>
              <a:gdLst/>
              <a:ahLst/>
              <a:cxnLst/>
              <a:rect l="l" t="t" r="r" b="b"/>
              <a:pathLst>
                <a:path w="765810" h="914400">
                  <a:moveTo>
                    <a:pt x="765683" y="0"/>
                  </a:moveTo>
                  <a:lnTo>
                    <a:pt x="680466" y="0"/>
                  </a:lnTo>
                  <a:lnTo>
                    <a:pt x="694639" y="28409"/>
                  </a:lnTo>
                  <a:lnTo>
                    <a:pt x="889" y="375285"/>
                  </a:lnTo>
                  <a:lnTo>
                    <a:pt x="3683" y="381000"/>
                  </a:lnTo>
                  <a:lnTo>
                    <a:pt x="0" y="386207"/>
                  </a:lnTo>
                  <a:lnTo>
                    <a:pt x="699604" y="875855"/>
                  </a:lnTo>
                  <a:lnTo>
                    <a:pt x="681355" y="901954"/>
                  </a:lnTo>
                  <a:lnTo>
                    <a:pt x="765683" y="914400"/>
                  </a:lnTo>
                  <a:lnTo>
                    <a:pt x="748728" y="883158"/>
                  </a:lnTo>
                  <a:lnTo>
                    <a:pt x="725043" y="839470"/>
                  </a:lnTo>
                  <a:lnTo>
                    <a:pt x="706869" y="865454"/>
                  </a:lnTo>
                  <a:lnTo>
                    <a:pt x="16090" y="381914"/>
                  </a:lnTo>
                  <a:lnTo>
                    <a:pt x="700290" y="39751"/>
                  </a:lnTo>
                  <a:lnTo>
                    <a:pt x="714502" y="68199"/>
                  </a:lnTo>
                  <a:lnTo>
                    <a:pt x="748614" y="22733"/>
                  </a:lnTo>
                  <a:lnTo>
                    <a:pt x="765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43827" y="3729228"/>
              <a:ext cx="466344" cy="466344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058761" y="4657763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035040" y="3629710"/>
            <a:ext cx="2687828" cy="885698"/>
            <a:chOff x="5486400" y="3195827"/>
            <a:chExt cx="2443480" cy="805180"/>
          </a:xfrm>
        </p:grpSpPr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63027" y="3195827"/>
              <a:ext cx="466344" cy="46634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486400" y="3924300"/>
              <a:ext cx="762000" cy="76200"/>
            </a:xfrm>
            <a:custGeom>
              <a:avLst/>
              <a:gdLst/>
              <a:ahLst/>
              <a:cxnLst/>
              <a:rect l="l" t="t" r="r" b="b"/>
              <a:pathLst>
                <a:path w="762000" h="76200">
                  <a:moveTo>
                    <a:pt x="685800" y="0"/>
                  </a:moveTo>
                  <a:lnTo>
                    <a:pt x="685800" y="76200"/>
                  </a:lnTo>
                  <a:lnTo>
                    <a:pt x="749300" y="44450"/>
                  </a:lnTo>
                  <a:lnTo>
                    <a:pt x="698500" y="44450"/>
                  </a:lnTo>
                  <a:lnTo>
                    <a:pt x="698500" y="31750"/>
                  </a:lnTo>
                  <a:lnTo>
                    <a:pt x="749300" y="31750"/>
                  </a:lnTo>
                  <a:lnTo>
                    <a:pt x="685800" y="0"/>
                  </a:lnTo>
                  <a:close/>
                </a:path>
                <a:path w="762000" h="76200">
                  <a:moveTo>
                    <a:pt x="685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85800" y="44450"/>
                  </a:lnTo>
                  <a:lnTo>
                    <a:pt x="685800" y="31750"/>
                  </a:lnTo>
                  <a:close/>
                </a:path>
                <a:path w="762000" h="76200">
                  <a:moveTo>
                    <a:pt x="749300" y="31750"/>
                  </a:moveTo>
                  <a:lnTo>
                    <a:pt x="698500" y="31750"/>
                  </a:lnTo>
                  <a:lnTo>
                    <a:pt x="698500" y="44450"/>
                  </a:lnTo>
                  <a:lnTo>
                    <a:pt x="749300" y="44450"/>
                  </a:lnTo>
                  <a:lnTo>
                    <a:pt x="762000" y="38100"/>
                  </a:lnTo>
                  <a:lnTo>
                    <a:pt x="749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400160" y="4070409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400160" y="5244503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185971" y="2456230"/>
            <a:ext cx="4028947" cy="2604008"/>
            <a:chOff x="3805428" y="2129027"/>
            <a:chExt cx="3662679" cy="2367280"/>
          </a:xfrm>
        </p:grpSpPr>
        <p:sp>
          <p:nvSpPr>
            <p:cNvPr id="52" name="object 52"/>
            <p:cNvSpPr/>
            <p:nvPr/>
          </p:nvSpPr>
          <p:spPr>
            <a:xfrm>
              <a:off x="6701917" y="3428999"/>
              <a:ext cx="765810" cy="1066800"/>
            </a:xfrm>
            <a:custGeom>
              <a:avLst/>
              <a:gdLst/>
              <a:ahLst/>
              <a:cxnLst/>
              <a:rect l="l" t="t" r="r" b="b"/>
              <a:pathLst>
                <a:path w="765809" h="1066800">
                  <a:moveTo>
                    <a:pt x="765683" y="0"/>
                  </a:moveTo>
                  <a:lnTo>
                    <a:pt x="681355" y="12446"/>
                  </a:lnTo>
                  <a:lnTo>
                    <a:pt x="699604" y="38557"/>
                  </a:lnTo>
                  <a:lnTo>
                    <a:pt x="0" y="528193"/>
                  </a:lnTo>
                  <a:lnTo>
                    <a:pt x="3683" y="533400"/>
                  </a:lnTo>
                  <a:lnTo>
                    <a:pt x="0" y="538607"/>
                  </a:lnTo>
                  <a:lnTo>
                    <a:pt x="699604" y="1028255"/>
                  </a:lnTo>
                  <a:lnTo>
                    <a:pt x="681355" y="1054354"/>
                  </a:lnTo>
                  <a:lnTo>
                    <a:pt x="765683" y="1066800"/>
                  </a:lnTo>
                  <a:lnTo>
                    <a:pt x="748728" y="1035558"/>
                  </a:lnTo>
                  <a:lnTo>
                    <a:pt x="725043" y="991870"/>
                  </a:lnTo>
                  <a:lnTo>
                    <a:pt x="706869" y="1017854"/>
                  </a:lnTo>
                  <a:lnTo>
                    <a:pt x="14795" y="533412"/>
                  </a:lnTo>
                  <a:lnTo>
                    <a:pt x="706869" y="48958"/>
                  </a:lnTo>
                  <a:lnTo>
                    <a:pt x="725043" y="74930"/>
                  </a:lnTo>
                  <a:lnTo>
                    <a:pt x="748728" y="31242"/>
                  </a:lnTo>
                  <a:lnTo>
                    <a:pt x="765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53" name="object 5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5428" y="2129027"/>
              <a:ext cx="466344" cy="466344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4362133" y="2898941"/>
            <a:ext cx="170434" cy="35336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5" name="object 5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85971" y="5976671"/>
            <a:ext cx="512978" cy="512978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4362133" y="6434104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7" name="object 5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185971" y="4635551"/>
            <a:ext cx="512978" cy="512978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4376242" y="5076863"/>
            <a:ext cx="170434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20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346234" y="2712719"/>
            <a:ext cx="854266" cy="3520440"/>
          </a:xfrm>
          <a:custGeom>
            <a:avLst/>
            <a:gdLst/>
            <a:ahLst/>
            <a:cxnLst/>
            <a:rect l="l" t="t" r="r" b="b"/>
            <a:pathLst>
              <a:path w="776604" h="3200400">
                <a:moveTo>
                  <a:pt x="776224" y="84836"/>
                </a:moveTo>
                <a:lnTo>
                  <a:pt x="773506" y="57023"/>
                </a:lnTo>
                <a:lnTo>
                  <a:pt x="767969" y="0"/>
                </a:lnTo>
                <a:lnTo>
                  <a:pt x="705104" y="57404"/>
                </a:lnTo>
                <a:lnTo>
                  <a:pt x="734720" y="68834"/>
                </a:lnTo>
                <a:lnTo>
                  <a:pt x="0" y="1978914"/>
                </a:lnTo>
                <a:lnTo>
                  <a:pt x="5905" y="1981187"/>
                </a:lnTo>
                <a:lnTo>
                  <a:pt x="635" y="1984502"/>
                </a:lnTo>
                <a:lnTo>
                  <a:pt x="722185" y="3139135"/>
                </a:lnTo>
                <a:lnTo>
                  <a:pt x="695325" y="3155950"/>
                </a:lnTo>
                <a:lnTo>
                  <a:pt x="767969" y="3200400"/>
                </a:lnTo>
                <a:lnTo>
                  <a:pt x="763130" y="3149981"/>
                </a:lnTo>
                <a:lnTo>
                  <a:pt x="759841" y="3115564"/>
                </a:lnTo>
                <a:lnTo>
                  <a:pt x="732942" y="3132404"/>
                </a:lnTo>
                <a:lnTo>
                  <a:pt x="17411" y="1987550"/>
                </a:lnTo>
                <a:lnTo>
                  <a:pt x="691769" y="1987550"/>
                </a:lnTo>
                <a:lnTo>
                  <a:pt x="691769" y="2019300"/>
                </a:lnTo>
                <a:lnTo>
                  <a:pt x="755269" y="1987550"/>
                </a:lnTo>
                <a:lnTo>
                  <a:pt x="767969" y="1981200"/>
                </a:lnTo>
                <a:lnTo>
                  <a:pt x="755269" y="1974850"/>
                </a:lnTo>
                <a:lnTo>
                  <a:pt x="691769" y="1943100"/>
                </a:lnTo>
                <a:lnTo>
                  <a:pt x="691769" y="1974850"/>
                </a:lnTo>
                <a:lnTo>
                  <a:pt x="15252" y="1974850"/>
                </a:lnTo>
                <a:lnTo>
                  <a:pt x="746531" y="73393"/>
                </a:lnTo>
                <a:lnTo>
                  <a:pt x="776224" y="848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980"/>
          </a:p>
        </p:txBody>
      </p:sp>
      <p:sp>
        <p:nvSpPr>
          <p:cNvPr id="60" name="object 60"/>
          <p:cNvSpPr txBox="1"/>
          <p:nvPr/>
        </p:nvSpPr>
        <p:spPr>
          <a:xfrm>
            <a:off x="3440113" y="1095497"/>
            <a:ext cx="4628960" cy="556499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2200" b="1" spc="-6" dirty="0">
                <a:solidFill>
                  <a:srgbClr val="CC6600"/>
                </a:solidFill>
                <a:latin typeface="Calibri"/>
                <a:cs typeface="Calibri"/>
              </a:rPr>
              <a:t>f(N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)</a:t>
            </a:r>
            <a:r>
              <a:rPr sz="2200" b="1" spc="-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= h(N)</a:t>
            </a:r>
            <a:r>
              <a:rPr sz="2200" b="1" spc="-17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=</a:t>
            </a:r>
            <a:r>
              <a:rPr sz="2200" b="1" spc="-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3520" dirty="0">
                <a:solidFill>
                  <a:srgbClr val="CC6600"/>
                </a:solidFill>
                <a:latin typeface="Symbol"/>
                <a:cs typeface="Symbol"/>
              </a:rPr>
              <a:t></a:t>
            </a:r>
            <a:r>
              <a:rPr sz="3520" spc="-385" dirty="0">
                <a:solidFill>
                  <a:srgbClr val="CC66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di</a:t>
            </a:r>
            <a:r>
              <a:rPr sz="2200" b="1" spc="-22" dirty="0">
                <a:solidFill>
                  <a:srgbClr val="CC6600"/>
                </a:solidFill>
                <a:latin typeface="Calibri"/>
                <a:cs typeface="Calibri"/>
              </a:rPr>
              <a:t>s</a:t>
            </a:r>
            <a:r>
              <a:rPr sz="2200" b="1" spc="-28" dirty="0">
                <a:solidFill>
                  <a:srgbClr val="CC6600"/>
                </a:solidFill>
                <a:latin typeface="Calibri"/>
                <a:cs typeface="Calibri"/>
              </a:rPr>
              <a:t>t</a:t>
            </a:r>
            <a:r>
              <a:rPr sz="2200" b="1" spc="-11" dirty="0">
                <a:solidFill>
                  <a:srgbClr val="CC6600"/>
                </a:solidFill>
                <a:latin typeface="Calibri"/>
                <a:cs typeface="Calibri"/>
              </a:rPr>
              <a:t>a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nces</a:t>
            </a:r>
            <a:r>
              <a:rPr sz="2200" b="1" spc="-22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of</a:t>
            </a:r>
            <a:r>
              <a:rPr sz="2200" b="1" spc="-6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tiles</a:t>
            </a:r>
            <a:r>
              <a:rPr sz="2200" b="1" spc="-22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spc="-28" dirty="0">
                <a:solidFill>
                  <a:srgbClr val="CC6600"/>
                </a:solidFill>
                <a:latin typeface="Calibri"/>
                <a:cs typeface="Calibri"/>
              </a:rPr>
              <a:t>t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o</a:t>
            </a:r>
            <a:r>
              <a:rPr sz="2200" b="1" spc="-11" dirty="0">
                <a:solidFill>
                  <a:srgbClr val="CC6600"/>
                </a:solidFill>
                <a:latin typeface="Calibri"/>
                <a:cs typeface="Calibri"/>
              </a:rPr>
              <a:t> </a:t>
            </a:r>
            <a:r>
              <a:rPr sz="2200" b="1" spc="-33" dirty="0">
                <a:solidFill>
                  <a:srgbClr val="CC6600"/>
                </a:solidFill>
                <a:latin typeface="Calibri"/>
                <a:cs typeface="Calibri"/>
              </a:rPr>
              <a:t>g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o</a:t>
            </a:r>
            <a:r>
              <a:rPr sz="2200" b="1" spc="-11" dirty="0">
                <a:solidFill>
                  <a:srgbClr val="CC6600"/>
                </a:solidFill>
                <a:latin typeface="Calibri"/>
                <a:cs typeface="Calibri"/>
              </a:rPr>
              <a:t>a</a:t>
            </a:r>
            <a:r>
              <a:rPr sz="2200" b="1" dirty="0">
                <a:solidFill>
                  <a:srgbClr val="CC6600"/>
                </a:solidFill>
                <a:latin typeface="Calibri"/>
                <a:cs typeface="Calibri"/>
              </a:rPr>
              <a:t>l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94072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194629"/>
            <a:ext cx="7702550" cy="65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07895" algn="l"/>
                <a:tab pos="5880735" algn="l"/>
              </a:tabLst>
            </a:pPr>
            <a:r>
              <a:rPr u="none" spc="345" dirty="0"/>
              <a:t>Se</a:t>
            </a:r>
            <a:r>
              <a:rPr u="none" spc="215" dirty="0"/>
              <a:t>a</a:t>
            </a:r>
            <a:r>
              <a:rPr u="none" spc="204" dirty="0"/>
              <a:t>r</a:t>
            </a:r>
            <a:r>
              <a:rPr u="none" spc="290" dirty="0"/>
              <a:t>ch</a:t>
            </a:r>
            <a:r>
              <a:rPr u="none" dirty="0"/>
              <a:t>	</a:t>
            </a:r>
            <a:r>
              <a:rPr u="none" spc="355" dirty="0"/>
              <a:t>Alg</a:t>
            </a:r>
            <a:r>
              <a:rPr u="none" spc="165" dirty="0"/>
              <a:t>o</a:t>
            </a:r>
            <a:r>
              <a:rPr u="none" spc="315" dirty="0"/>
              <a:t>rithm</a:t>
            </a:r>
            <a:r>
              <a:rPr u="none" spc="345" dirty="0"/>
              <a:t>s</a:t>
            </a:r>
            <a:r>
              <a:rPr u="none" spc="200" dirty="0"/>
              <a:t>:</a:t>
            </a:r>
            <a:r>
              <a:rPr u="none" dirty="0"/>
              <a:t>	</a:t>
            </a:r>
            <a:r>
              <a:rPr u="none" spc="434" dirty="0"/>
              <a:t>Re</a:t>
            </a:r>
            <a:r>
              <a:rPr u="none" spc="375" dirty="0"/>
              <a:t>c</a:t>
            </a:r>
            <a:r>
              <a:rPr u="none" spc="330" dirty="0"/>
              <a:t>ap</a:t>
            </a:r>
          </a:p>
        </p:txBody>
      </p:sp>
      <p:sp>
        <p:nvSpPr>
          <p:cNvPr id="3" name="object 3"/>
          <p:cNvSpPr/>
          <p:nvPr/>
        </p:nvSpPr>
        <p:spPr>
          <a:xfrm>
            <a:off x="696429" y="821994"/>
            <a:ext cx="8665845" cy="0"/>
          </a:xfrm>
          <a:custGeom>
            <a:avLst/>
            <a:gdLst/>
            <a:ahLst/>
            <a:cxnLst/>
            <a:rect l="l" t="t" r="r" b="b"/>
            <a:pathLst>
              <a:path w="8665845">
                <a:moveTo>
                  <a:pt x="0" y="0"/>
                </a:moveTo>
                <a:lnTo>
                  <a:pt x="8665527" y="0"/>
                </a:lnTo>
              </a:path>
            </a:pathLst>
          </a:custGeom>
          <a:ln w="7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8351" rIns="0" bIns="0" rtlCol="0">
            <a:spAutoFit/>
          </a:bodyPr>
          <a:lstStyle/>
          <a:p>
            <a:pPr marL="492759" indent="-260350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Font typeface="MS UI Gothic"/>
              <a:buChar char="•"/>
              <a:tabLst>
                <a:tab pos="493395" algn="l"/>
                <a:tab pos="3402965" algn="l"/>
              </a:tabLst>
            </a:pPr>
            <a:r>
              <a:rPr spc="180" dirty="0">
                <a:solidFill>
                  <a:srgbClr val="0000FF"/>
                </a:solidFill>
              </a:rPr>
              <a:t>Uninformed</a:t>
            </a:r>
            <a:r>
              <a:rPr spc="390" dirty="0">
                <a:solidFill>
                  <a:srgbClr val="0000FF"/>
                </a:solidFill>
              </a:rPr>
              <a:t> </a:t>
            </a:r>
            <a:r>
              <a:rPr spc="150" dirty="0">
                <a:solidFill>
                  <a:srgbClr val="0000FF"/>
                </a:solidFill>
              </a:rPr>
              <a:t>Search</a:t>
            </a:r>
            <a:r>
              <a:rPr b="0" spc="150" dirty="0">
                <a:solidFill>
                  <a:srgbClr val="000000"/>
                </a:solidFill>
                <a:latin typeface="Arial MT"/>
                <a:cs typeface="Arial MT"/>
              </a:rPr>
              <a:t>:	</a:t>
            </a:r>
            <a:r>
              <a:rPr b="0" spc="60" dirty="0">
                <a:solidFill>
                  <a:srgbClr val="000000"/>
                </a:solidFill>
                <a:latin typeface="Arial MT"/>
                <a:cs typeface="Arial MT"/>
              </a:rPr>
              <a:t>Use</a:t>
            </a:r>
            <a:r>
              <a:rPr b="0" spc="2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55" dirty="0">
                <a:solidFill>
                  <a:srgbClr val="000000"/>
                </a:solidFill>
                <a:latin typeface="Arial MT"/>
                <a:cs typeface="Arial MT"/>
              </a:rPr>
              <a:t>no</a:t>
            </a:r>
            <a:r>
              <a:rPr b="0" spc="2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60" dirty="0">
                <a:solidFill>
                  <a:srgbClr val="000000"/>
                </a:solidFill>
                <a:latin typeface="Arial MT"/>
                <a:cs typeface="Arial MT"/>
              </a:rPr>
              <a:t>domain</a:t>
            </a:r>
            <a:r>
              <a:rPr b="0" spc="2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25" dirty="0">
                <a:solidFill>
                  <a:srgbClr val="000000"/>
                </a:solidFill>
                <a:latin typeface="Arial MT"/>
                <a:cs typeface="Arial MT"/>
              </a:rPr>
              <a:t>knowledge.</a:t>
            </a:r>
          </a:p>
          <a:p>
            <a:pPr marL="492759">
              <a:lnSpc>
                <a:spcPct val="100000"/>
              </a:lnSpc>
              <a:spcBef>
                <a:spcPts val="2840"/>
              </a:spcBef>
            </a:pPr>
            <a:r>
              <a:rPr b="0" spc="204" dirty="0">
                <a:solidFill>
                  <a:srgbClr val="000000"/>
                </a:solidFill>
                <a:latin typeface="Arial MT"/>
                <a:cs typeface="Arial MT"/>
              </a:rPr>
              <a:t>BFS,</a:t>
            </a:r>
            <a:r>
              <a:rPr b="0" spc="2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10" dirty="0">
                <a:solidFill>
                  <a:srgbClr val="000000"/>
                </a:solidFill>
                <a:latin typeface="Arial MT"/>
                <a:cs typeface="Arial MT"/>
              </a:rPr>
              <a:t>DFS,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20" dirty="0">
                <a:solidFill>
                  <a:srgbClr val="000000"/>
                </a:solidFill>
                <a:latin typeface="Arial MT"/>
                <a:cs typeface="Arial MT"/>
              </a:rPr>
              <a:t>DLS,</a:t>
            </a:r>
            <a:r>
              <a:rPr b="0" spc="2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65" dirty="0">
                <a:solidFill>
                  <a:srgbClr val="000000"/>
                </a:solidFill>
                <a:latin typeface="Arial MT"/>
                <a:cs typeface="Arial MT"/>
              </a:rPr>
              <a:t>IDS,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45" dirty="0">
                <a:solidFill>
                  <a:srgbClr val="000000"/>
                </a:solidFill>
                <a:latin typeface="Arial MT"/>
                <a:cs typeface="Arial MT"/>
              </a:rPr>
              <a:t>UCS.</a:t>
            </a:r>
          </a:p>
          <a:p>
            <a:pPr marL="220345"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492759" marR="5080" indent="-260350">
              <a:lnSpc>
                <a:spcPct val="119200"/>
              </a:lnSpc>
              <a:buClr>
                <a:srgbClr val="000000"/>
              </a:buClr>
              <a:buFont typeface="MS UI Gothic"/>
              <a:buChar char="•"/>
              <a:tabLst>
                <a:tab pos="493395" algn="l"/>
                <a:tab pos="2984500" algn="l"/>
              </a:tabLst>
            </a:pPr>
            <a:r>
              <a:rPr spc="175" dirty="0">
                <a:solidFill>
                  <a:srgbClr val="0000FF"/>
                </a:solidFill>
              </a:rPr>
              <a:t>Informed</a:t>
            </a:r>
            <a:r>
              <a:rPr spc="229" dirty="0">
                <a:solidFill>
                  <a:srgbClr val="0000FF"/>
                </a:solidFill>
              </a:rPr>
              <a:t> </a:t>
            </a:r>
            <a:r>
              <a:rPr spc="150" dirty="0">
                <a:solidFill>
                  <a:srgbClr val="0000FF"/>
                </a:solidFill>
              </a:rPr>
              <a:t>Search</a:t>
            </a:r>
            <a:r>
              <a:rPr b="0" spc="150" dirty="0">
                <a:solidFill>
                  <a:srgbClr val="000000"/>
                </a:solidFill>
                <a:latin typeface="Arial MT"/>
                <a:cs typeface="Arial MT"/>
              </a:rPr>
              <a:t>:	</a:t>
            </a:r>
            <a:r>
              <a:rPr b="0" spc="60" dirty="0">
                <a:solidFill>
                  <a:srgbClr val="000000"/>
                </a:solidFill>
                <a:latin typeface="Arial MT"/>
                <a:cs typeface="Arial MT"/>
              </a:rPr>
              <a:t>Use</a:t>
            </a:r>
            <a:r>
              <a:rPr b="0" spc="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85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heuristic</a:t>
            </a:r>
            <a:r>
              <a:rPr b="0" spc="1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5" dirty="0">
                <a:solidFill>
                  <a:srgbClr val="000000"/>
                </a:solidFill>
                <a:latin typeface="Arial MT"/>
                <a:cs typeface="Arial MT"/>
              </a:rPr>
              <a:t>function</a:t>
            </a:r>
            <a:r>
              <a:rPr b="0" spc="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35" dirty="0">
                <a:solidFill>
                  <a:srgbClr val="000000"/>
                </a:solidFill>
                <a:latin typeface="Arial MT"/>
                <a:cs typeface="Arial MT"/>
              </a:rPr>
              <a:t>that</a:t>
            </a:r>
            <a:r>
              <a:rPr b="0" spc="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estimates</a:t>
            </a:r>
            <a:r>
              <a:rPr b="0" spc="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60" dirty="0">
                <a:solidFill>
                  <a:srgbClr val="000000"/>
                </a:solidFill>
                <a:latin typeface="Arial MT"/>
                <a:cs typeface="Arial MT"/>
              </a:rPr>
              <a:t>how </a:t>
            </a:r>
            <a:r>
              <a:rPr b="0" spc="-5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75" dirty="0">
                <a:solidFill>
                  <a:srgbClr val="000000"/>
                </a:solidFill>
                <a:latin typeface="Arial MT"/>
                <a:cs typeface="Arial MT"/>
              </a:rPr>
              <a:t>close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85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55" dirty="0">
                <a:solidFill>
                  <a:srgbClr val="000000"/>
                </a:solidFill>
                <a:latin typeface="Arial MT"/>
                <a:cs typeface="Arial MT"/>
              </a:rPr>
              <a:t>state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45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5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goal.</a:t>
            </a:r>
          </a:p>
          <a:p>
            <a:pPr marL="220345">
              <a:lnSpc>
                <a:spcPct val="100000"/>
              </a:lnSpc>
              <a:spcBef>
                <a:spcPts val="25"/>
              </a:spcBef>
            </a:pPr>
            <a:endParaRPr sz="2450">
              <a:latin typeface="Arial MT"/>
              <a:cs typeface="Arial MT"/>
            </a:endParaRPr>
          </a:p>
          <a:p>
            <a:pPr marL="492759">
              <a:lnSpc>
                <a:spcPct val="100000"/>
              </a:lnSpc>
            </a:pPr>
            <a:r>
              <a:rPr b="0" spc="100" dirty="0">
                <a:solidFill>
                  <a:srgbClr val="000000"/>
                </a:solidFill>
                <a:latin typeface="Arial MT"/>
                <a:cs typeface="Arial MT"/>
              </a:rPr>
              <a:t>Greedy</a:t>
            </a:r>
            <a:r>
              <a:rPr b="0" spc="2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85" dirty="0">
                <a:solidFill>
                  <a:srgbClr val="000000"/>
                </a:solidFill>
                <a:latin typeface="Arial MT"/>
                <a:cs typeface="Arial MT"/>
              </a:rPr>
              <a:t>search,</a:t>
            </a:r>
            <a:r>
              <a:rPr b="0" spc="2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305" dirty="0">
                <a:solidFill>
                  <a:srgbClr val="000000"/>
                </a:solidFill>
                <a:latin typeface="Arial MT"/>
                <a:cs typeface="Arial MT"/>
              </a:rPr>
              <a:t>A*,</a:t>
            </a:r>
            <a:r>
              <a:rPr b="0" spc="2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254" dirty="0">
                <a:solidFill>
                  <a:srgbClr val="000000"/>
                </a:solidFill>
                <a:latin typeface="Arial MT"/>
                <a:cs typeface="Arial MT"/>
              </a:rPr>
              <a:t>IDA*.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770" dirty="0"/>
              <a:t>DFS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638238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pursued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maximum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770" dirty="0"/>
              <a:t>DFS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16" y="1149311"/>
            <a:ext cx="7403592" cy="398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9490"/>
            <a:ext cx="638238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pursued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maximum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770" dirty="0"/>
              <a:t>DFS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16" y="1149311"/>
            <a:ext cx="7403592" cy="398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9490"/>
            <a:ext cx="638238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pursued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maximum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770" dirty="0"/>
              <a:t>DFS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16" y="1149311"/>
            <a:ext cx="7403592" cy="398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9490"/>
            <a:ext cx="638238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pursued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maximum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770" dirty="0"/>
              <a:t>DFS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16" y="1149311"/>
            <a:ext cx="7403592" cy="398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9490"/>
            <a:ext cx="638238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pursued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maximum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770" dirty="0"/>
              <a:t>DFS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16" y="1149311"/>
            <a:ext cx="7403592" cy="398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9490"/>
            <a:ext cx="638238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pursued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maximum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770" dirty="0"/>
              <a:t>DFS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16" y="1149311"/>
            <a:ext cx="7403592" cy="398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9490"/>
            <a:ext cx="638238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pursued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maximum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770" dirty="0"/>
              <a:t>DFS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16" y="1149311"/>
            <a:ext cx="7403592" cy="398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9490"/>
            <a:ext cx="638238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pursued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50" dirty="0">
                <a:latin typeface="Arial MT"/>
                <a:cs typeface="Arial MT"/>
              </a:rPr>
              <a:t>to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95" dirty="0">
                <a:latin typeface="Arial MT"/>
                <a:cs typeface="Arial MT"/>
              </a:rPr>
              <a:t>maximum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770" dirty="0"/>
              <a:t>DFS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16" y="1149311"/>
            <a:ext cx="7403592" cy="40629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0662" y="5514197"/>
            <a:ext cx="770763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unexplored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siblings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all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ancestors. </a:t>
            </a:r>
            <a:r>
              <a:rPr sz="1950" spc="-530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exhausting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one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branch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15" dirty="0">
                <a:latin typeface="Arial MT"/>
                <a:cs typeface="Arial MT"/>
              </a:rPr>
              <a:t>at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85" dirty="0">
                <a:latin typeface="Arial MT"/>
                <a:cs typeface="Arial MT"/>
              </a:rPr>
              <a:t>a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time.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72325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72325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72325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72325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72325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72325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368" y="1149311"/>
            <a:ext cx="7409688" cy="398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9490"/>
            <a:ext cx="572325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368" y="1149311"/>
            <a:ext cx="7409688" cy="398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9490"/>
            <a:ext cx="572325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7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72414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similar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depth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(horizontal).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exhausting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one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15" dirty="0">
                <a:latin typeface="Arial MT"/>
                <a:cs typeface="Arial MT"/>
              </a:rPr>
              <a:t>at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85" dirty="0">
                <a:latin typeface="Arial MT"/>
                <a:cs typeface="Arial MT"/>
              </a:rPr>
              <a:t>a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time.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72414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similar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depth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(horizontal).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exhausting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one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15" dirty="0">
                <a:latin typeface="Arial MT"/>
                <a:cs typeface="Arial MT"/>
              </a:rPr>
              <a:t>at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85" dirty="0">
                <a:latin typeface="Arial MT"/>
                <a:cs typeface="Arial MT"/>
              </a:rPr>
              <a:t>a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time.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226" y="1149311"/>
            <a:ext cx="7395972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72414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similar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depth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(horizontal).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exhausting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one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15" dirty="0">
                <a:latin typeface="Arial MT"/>
                <a:cs typeface="Arial MT"/>
              </a:rPr>
              <a:t>at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85" dirty="0">
                <a:latin typeface="Arial MT"/>
                <a:cs typeface="Arial MT"/>
              </a:rPr>
              <a:t>a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time.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72414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similar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depth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(horizontal).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exhausting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one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15" dirty="0">
                <a:latin typeface="Arial MT"/>
                <a:cs typeface="Arial MT"/>
              </a:rPr>
              <a:t>at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85" dirty="0">
                <a:latin typeface="Arial MT"/>
                <a:cs typeface="Arial MT"/>
              </a:rPr>
              <a:t>a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time.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665" dirty="0"/>
              <a:t>BFS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724140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similar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depth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(horizontal).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25" dirty="0">
                <a:latin typeface="Arial MT"/>
                <a:cs typeface="Arial MT"/>
              </a:rPr>
              <a:t>exhausting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one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215" dirty="0">
                <a:latin typeface="Arial MT"/>
                <a:cs typeface="Arial MT"/>
              </a:rPr>
              <a:t>at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85" dirty="0">
                <a:latin typeface="Arial MT"/>
                <a:cs typeface="Arial MT"/>
              </a:rPr>
              <a:t>a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time.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48576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path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48576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path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48576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path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48576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path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48576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path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48576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path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48576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path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5485765" cy="7340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50" spc="65" dirty="0">
                <a:latin typeface="Arial MT"/>
                <a:cs typeface="Arial MT"/>
              </a:rPr>
              <a:t>Searches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4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14655" algn="l"/>
              </a:tabLst>
            </a:pPr>
            <a:r>
              <a:rPr sz="1950" spc="145" dirty="0">
                <a:latin typeface="Arial MT"/>
                <a:cs typeface="Arial MT"/>
              </a:rPr>
              <a:t>...	</a:t>
            </a:r>
            <a:r>
              <a:rPr sz="1950" spc="215" dirty="0">
                <a:latin typeface="Arial MT"/>
                <a:cs typeface="Arial MT"/>
              </a:rPr>
              <a:t>with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each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75" dirty="0">
                <a:latin typeface="Arial MT"/>
                <a:cs typeface="Arial MT"/>
              </a:rPr>
              <a:t>layer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14" dirty="0">
                <a:latin typeface="Arial MT"/>
                <a:cs typeface="Arial MT"/>
              </a:rPr>
              <a:t>organized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path</a:t>
            </a:r>
            <a:r>
              <a:rPr sz="1950" spc="27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491095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various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depths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(jagged).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expanding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lowest-cost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nodes.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491095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various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depths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(jagged).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expanding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lowest-cost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nodes.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491095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various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depths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(jagged).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expanding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lowest-cost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nodes.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491095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various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depths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(jagged).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expanding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lowest-cost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nodes.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491095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various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depths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(jagged).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expanding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lowest-cost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nodes.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491095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various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depths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(jagged).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expanding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lowest-cost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nodes.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585" dirty="0"/>
              <a:t>UCS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464" y="1149311"/>
            <a:ext cx="7397496" cy="3974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0" y="5313394"/>
            <a:ext cx="7491095" cy="734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250" dirty="0">
                <a:latin typeface="Arial MT"/>
                <a:cs typeface="Arial MT"/>
              </a:rPr>
              <a:t>The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frontier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consists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nodes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various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depths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(jagged).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90" dirty="0">
                <a:latin typeface="Arial MT"/>
                <a:cs typeface="Arial MT"/>
              </a:rPr>
              <a:t>Search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expanding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lowest-cost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nodes.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80" dirty="0"/>
              <a:t>Recap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1944"/>
            <a:ext cx="8484235" cy="2283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195" dirty="0">
                <a:latin typeface="Arial MT"/>
                <a:cs typeface="Arial MT"/>
              </a:rPr>
              <a:t>We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can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organize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algorithms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90" dirty="0">
                <a:latin typeface="Arial MT"/>
                <a:cs typeface="Arial MT"/>
              </a:rPr>
              <a:t>into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pairs</a:t>
            </a:r>
            <a:r>
              <a:rPr sz="1950" spc="165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where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first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70" dirty="0">
                <a:latin typeface="Arial MT"/>
                <a:cs typeface="Arial MT"/>
              </a:rPr>
              <a:t>layers,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and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other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subtrees.</a:t>
            </a:r>
            <a:endParaRPr sz="1950">
              <a:latin typeface="Arial MT"/>
              <a:cs typeface="Arial MT"/>
            </a:endParaRPr>
          </a:p>
          <a:p>
            <a:pPr marL="570230" indent="-558165">
              <a:lnSpc>
                <a:spcPct val="100000"/>
              </a:lnSpc>
              <a:spcBef>
                <a:spcPts val="1645"/>
              </a:spcBef>
              <a:buAutoNum type="arabicParenBoth"/>
              <a:tabLst>
                <a:tab pos="570865" algn="l"/>
              </a:tabLst>
            </a:pPr>
            <a:r>
              <a:rPr sz="1950" b="1" spc="210" dirty="0">
                <a:solidFill>
                  <a:srgbClr val="EC008C"/>
                </a:solidFill>
                <a:latin typeface="Arial"/>
                <a:cs typeface="Arial"/>
              </a:rPr>
              <a:t>Iterate</a:t>
            </a:r>
            <a:r>
              <a:rPr sz="1950" b="1" spc="35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160" dirty="0">
                <a:solidFill>
                  <a:srgbClr val="EC008C"/>
                </a:solidFill>
                <a:latin typeface="Arial"/>
                <a:cs typeface="Arial"/>
              </a:rPr>
              <a:t>on</a:t>
            </a:r>
            <a:r>
              <a:rPr sz="1950" b="1" spc="35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229" dirty="0">
                <a:solidFill>
                  <a:srgbClr val="EC008C"/>
                </a:solidFill>
                <a:latin typeface="Arial"/>
                <a:cs typeface="Arial"/>
              </a:rPr>
              <a:t>Node</a:t>
            </a:r>
            <a:r>
              <a:rPr sz="1950" b="1" spc="35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240" dirty="0">
                <a:solidFill>
                  <a:srgbClr val="EC008C"/>
                </a:solidFill>
                <a:latin typeface="Arial"/>
                <a:cs typeface="Arial"/>
              </a:rPr>
              <a:t>Depth:</a:t>
            </a:r>
            <a:endParaRPr sz="1950">
              <a:latin typeface="Arial"/>
              <a:cs typeface="Arial"/>
            </a:endParaRPr>
          </a:p>
          <a:p>
            <a:pPr marL="493395" lvl="1" indent="-260985">
              <a:lnSpc>
                <a:spcPct val="100000"/>
              </a:lnSpc>
              <a:spcBef>
                <a:spcPts val="1645"/>
              </a:spcBef>
              <a:buFont typeface="MS UI Gothic"/>
              <a:buChar char="•"/>
              <a:tabLst>
                <a:tab pos="494030" algn="l"/>
              </a:tabLst>
            </a:pPr>
            <a:r>
              <a:rPr sz="1950" spc="225" dirty="0">
                <a:latin typeface="Arial MT"/>
                <a:cs typeface="Arial MT"/>
              </a:rPr>
              <a:t>BFS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55" dirty="0">
                <a:latin typeface="Arial MT"/>
                <a:cs typeface="Arial MT"/>
              </a:rPr>
              <a:t>searches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55" dirty="0">
                <a:latin typeface="Arial MT"/>
                <a:cs typeface="Arial MT"/>
              </a:rPr>
              <a:t>layers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increasing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  <a:p>
            <a:pPr marL="493395" lvl="1" indent="-260985">
              <a:lnSpc>
                <a:spcPct val="100000"/>
              </a:lnSpc>
              <a:spcBef>
                <a:spcPts val="1889"/>
              </a:spcBef>
              <a:buFont typeface="MS UI Gothic"/>
              <a:buChar char="•"/>
              <a:tabLst>
                <a:tab pos="494030" algn="l"/>
              </a:tabLst>
            </a:pPr>
            <a:r>
              <a:rPr sz="1950" spc="170" dirty="0">
                <a:latin typeface="Arial MT"/>
                <a:cs typeface="Arial MT"/>
              </a:rPr>
              <a:t>IDS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55" dirty="0">
                <a:latin typeface="Arial MT"/>
                <a:cs typeface="Arial MT"/>
              </a:rPr>
              <a:t>searches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subtrees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increasing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80" dirty="0"/>
              <a:t>Recap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1281944"/>
            <a:ext cx="8484235" cy="4187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0"/>
              </a:spcBef>
            </a:pPr>
            <a:r>
              <a:rPr sz="1950" spc="195" dirty="0">
                <a:latin typeface="Arial MT"/>
                <a:cs typeface="Arial MT"/>
              </a:rPr>
              <a:t>We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can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10" dirty="0">
                <a:latin typeface="Arial MT"/>
                <a:cs typeface="Arial MT"/>
              </a:rPr>
              <a:t>organize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algorithms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90" dirty="0">
                <a:latin typeface="Arial MT"/>
                <a:cs typeface="Arial MT"/>
              </a:rPr>
              <a:t>into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pairs</a:t>
            </a:r>
            <a:r>
              <a:rPr sz="1950" spc="165" dirty="0">
                <a:latin typeface="Arial MT"/>
                <a:cs typeface="Arial MT"/>
              </a:rPr>
              <a:t> </a:t>
            </a:r>
            <a:r>
              <a:rPr sz="1950" spc="120" dirty="0">
                <a:latin typeface="Arial MT"/>
                <a:cs typeface="Arial MT"/>
              </a:rPr>
              <a:t>where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165" dirty="0">
                <a:latin typeface="Arial MT"/>
                <a:cs typeface="Arial MT"/>
              </a:rPr>
              <a:t>first</a:t>
            </a:r>
            <a:r>
              <a:rPr sz="1950" spc="16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 </a:t>
            </a:r>
            <a:r>
              <a:rPr sz="1950" spc="-52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70" dirty="0">
                <a:latin typeface="Arial MT"/>
                <a:cs typeface="Arial MT"/>
              </a:rPr>
              <a:t>layers,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0" dirty="0">
                <a:latin typeface="Arial MT"/>
                <a:cs typeface="Arial MT"/>
              </a:rPr>
              <a:t>and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the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70" dirty="0">
                <a:latin typeface="Arial MT"/>
                <a:cs typeface="Arial MT"/>
              </a:rPr>
              <a:t>other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95" dirty="0">
                <a:latin typeface="Arial MT"/>
                <a:cs typeface="Arial MT"/>
              </a:rPr>
              <a:t>proceeds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by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subtrees.</a:t>
            </a:r>
            <a:endParaRPr sz="1950">
              <a:latin typeface="Arial MT"/>
              <a:cs typeface="Arial MT"/>
            </a:endParaRPr>
          </a:p>
          <a:p>
            <a:pPr marL="570230" indent="-558165">
              <a:lnSpc>
                <a:spcPct val="100000"/>
              </a:lnSpc>
              <a:spcBef>
                <a:spcPts val="1645"/>
              </a:spcBef>
              <a:buAutoNum type="arabicParenBoth"/>
              <a:tabLst>
                <a:tab pos="570865" algn="l"/>
              </a:tabLst>
            </a:pPr>
            <a:r>
              <a:rPr sz="1950" b="1" spc="210" dirty="0">
                <a:solidFill>
                  <a:srgbClr val="EC008C"/>
                </a:solidFill>
                <a:latin typeface="Arial"/>
                <a:cs typeface="Arial"/>
              </a:rPr>
              <a:t>Iterate</a:t>
            </a:r>
            <a:r>
              <a:rPr sz="1950" b="1" spc="35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160" dirty="0">
                <a:solidFill>
                  <a:srgbClr val="EC008C"/>
                </a:solidFill>
                <a:latin typeface="Arial"/>
                <a:cs typeface="Arial"/>
              </a:rPr>
              <a:t>on</a:t>
            </a:r>
            <a:r>
              <a:rPr sz="1950" b="1" spc="35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229" dirty="0">
                <a:solidFill>
                  <a:srgbClr val="EC008C"/>
                </a:solidFill>
                <a:latin typeface="Arial"/>
                <a:cs typeface="Arial"/>
              </a:rPr>
              <a:t>Node</a:t>
            </a:r>
            <a:r>
              <a:rPr sz="1950" b="1" spc="35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240" dirty="0">
                <a:solidFill>
                  <a:srgbClr val="EC008C"/>
                </a:solidFill>
                <a:latin typeface="Arial"/>
                <a:cs typeface="Arial"/>
              </a:rPr>
              <a:t>Depth:</a:t>
            </a:r>
            <a:endParaRPr sz="1950">
              <a:latin typeface="Arial"/>
              <a:cs typeface="Arial"/>
            </a:endParaRPr>
          </a:p>
          <a:p>
            <a:pPr marL="493395" lvl="1" indent="-260985">
              <a:lnSpc>
                <a:spcPct val="100000"/>
              </a:lnSpc>
              <a:spcBef>
                <a:spcPts val="1645"/>
              </a:spcBef>
              <a:buFont typeface="MS UI Gothic"/>
              <a:buChar char="•"/>
              <a:tabLst>
                <a:tab pos="494030" algn="l"/>
              </a:tabLst>
            </a:pPr>
            <a:r>
              <a:rPr sz="1950" spc="225" dirty="0">
                <a:latin typeface="Arial MT"/>
                <a:cs typeface="Arial MT"/>
              </a:rPr>
              <a:t>BFS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55" dirty="0">
                <a:latin typeface="Arial MT"/>
                <a:cs typeface="Arial MT"/>
              </a:rPr>
              <a:t>searches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55" dirty="0">
                <a:latin typeface="Arial MT"/>
                <a:cs typeface="Arial MT"/>
              </a:rPr>
              <a:t>layers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90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increasing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  <a:p>
            <a:pPr marL="493395" lvl="1" indent="-260985">
              <a:lnSpc>
                <a:spcPct val="100000"/>
              </a:lnSpc>
              <a:spcBef>
                <a:spcPts val="1889"/>
              </a:spcBef>
              <a:buFont typeface="MS UI Gothic"/>
              <a:buChar char="•"/>
              <a:tabLst>
                <a:tab pos="494030" algn="l"/>
              </a:tabLst>
            </a:pPr>
            <a:r>
              <a:rPr sz="1950" spc="170" dirty="0">
                <a:latin typeface="Arial MT"/>
                <a:cs typeface="Arial MT"/>
              </a:rPr>
              <a:t>IDS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55" dirty="0">
                <a:latin typeface="Arial MT"/>
                <a:cs typeface="Arial MT"/>
              </a:rPr>
              <a:t>searches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00" dirty="0">
                <a:latin typeface="Arial MT"/>
                <a:cs typeface="Arial MT"/>
              </a:rPr>
              <a:t>subtrees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increasing</a:t>
            </a:r>
            <a:r>
              <a:rPr sz="1950" spc="285" dirty="0">
                <a:latin typeface="Arial MT"/>
                <a:cs typeface="Arial MT"/>
              </a:rPr>
              <a:t> </a:t>
            </a:r>
            <a:r>
              <a:rPr sz="1950" spc="135" dirty="0">
                <a:latin typeface="Arial MT"/>
                <a:cs typeface="Arial MT"/>
              </a:rPr>
              <a:t>node</a:t>
            </a:r>
            <a:r>
              <a:rPr sz="1950" spc="280" dirty="0">
                <a:latin typeface="Arial MT"/>
                <a:cs typeface="Arial MT"/>
              </a:rPr>
              <a:t> </a:t>
            </a:r>
            <a:r>
              <a:rPr sz="1950" spc="160" dirty="0">
                <a:latin typeface="Arial MT"/>
                <a:cs typeface="Arial MT"/>
              </a:rPr>
              <a:t>depth.</a:t>
            </a:r>
            <a:endParaRPr sz="1950">
              <a:latin typeface="Arial MT"/>
              <a:cs typeface="Arial MT"/>
            </a:endParaRPr>
          </a:p>
          <a:p>
            <a:pPr marL="570230" indent="-558165">
              <a:lnSpc>
                <a:spcPct val="100000"/>
              </a:lnSpc>
              <a:spcBef>
                <a:spcPts val="1645"/>
              </a:spcBef>
              <a:buAutoNum type="arabicParenBoth"/>
              <a:tabLst>
                <a:tab pos="570865" algn="l"/>
              </a:tabLst>
            </a:pPr>
            <a:r>
              <a:rPr sz="1950" b="1" spc="210" dirty="0">
                <a:solidFill>
                  <a:srgbClr val="EC008C"/>
                </a:solidFill>
                <a:latin typeface="Arial"/>
                <a:cs typeface="Arial"/>
              </a:rPr>
              <a:t>Iterate</a:t>
            </a:r>
            <a:r>
              <a:rPr sz="1950" b="1" spc="36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160" dirty="0">
                <a:solidFill>
                  <a:srgbClr val="EC008C"/>
                </a:solidFill>
                <a:latin typeface="Arial"/>
                <a:cs typeface="Arial"/>
              </a:rPr>
              <a:t>on</a:t>
            </a:r>
            <a:r>
              <a:rPr sz="1950" b="1" spc="37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254" dirty="0">
                <a:solidFill>
                  <a:srgbClr val="EC008C"/>
                </a:solidFill>
                <a:latin typeface="Arial"/>
                <a:cs typeface="Arial"/>
              </a:rPr>
              <a:t>Path</a:t>
            </a:r>
            <a:r>
              <a:rPr sz="1950" b="1" spc="37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195" dirty="0">
                <a:solidFill>
                  <a:srgbClr val="EC008C"/>
                </a:solidFill>
                <a:latin typeface="Arial"/>
                <a:cs typeface="Arial"/>
              </a:rPr>
              <a:t>Cost</a:t>
            </a:r>
            <a:r>
              <a:rPr sz="1950" b="1" spc="37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980" dirty="0">
                <a:solidFill>
                  <a:srgbClr val="EC008C"/>
                </a:solidFill>
                <a:latin typeface="Arial"/>
                <a:cs typeface="Arial"/>
              </a:rPr>
              <a:t>+</a:t>
            </a:r>
            <a:r>
              <a:rPr sz="1950" b="1" spc="37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145" dirty="0">
                <a:solidFill>
                  <a:srgbClr val="EC008C"/>
                </a:solidFill>
                <a:latin typeface="Arial"/>
                <a:cs typeface="Arial"/>
              </a:rPr>
              <a:t>Heuristic</a:t>
            </a:r>
            <a:r>
              <a:rPr sz="1950" b="1" spc="36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950" b="1" spc="175" dirty="0">
                <a:solidFill>
                  <a:srgbClr val="EC008C"/>
                </a:solidFill>
                <a:latin typeface="Arial"/>
                <a:cs typeface="Arial"/>
              </a:rPr>
              <a:t>Function:</a:t>
            </a:r>
            <a:endParaRPr sz="1950">
              <a:latin typeface="Arial"/>
              <a:cs typeface="Arial"/>
            </a:endParaRPr>
          </a:p>
          <a:p>
            <a:pPr marL="493395" lvl="1" indent="-260985">
              <a:lnSpc>
                <a:spcPct val="100000"/>
              </a:lnSpc>
              <a:spcBef>
                <a:spcPts val="1645"/>
              </a:spcBef>
              <a:buFont typeface="MS UI Gothic"/>
              <a:buChar char="•"/>
              <a:tabLst>
                <a:tab pos="494030" algn="l"/>
              </a:tabLst>
            </a:pPr>
            <a:r>
              <a:rPr sz="1950" spc="385" dirty="0">
                <a:latin typeface="Arial MT"/>
                <a:cs typeface="Arial MT"/>
              </a:rPr>
              <a:t>A*</a:t>
            </a:r>
            <a:r>
              <a:rPr sz="1950" spc="120" dirty="0">
                <a:latin typeface="Arial MT"/>
                <a:cs typeface="Arial MT"/>
              </a:rPr>
              <a:t> </a:t>
            </a:r>
            <a:r>
              <a:rPr sz="1950" spc="55" dirty="0">
                <a:latin typeface="Arial MT"/>
                <a:cs typeface="Arial MT"/>
              </a:rPr>
              <a:t>searches</a:t>
            </a:r>
            <a:r>
              <a:rPr sz="1950" spc="125" dirty="0">
                <a:latin typeface="Arial MT"/>
                <a:cs typeface="Arial MT"/>
              </a:rPr>
              <a:t> </a:t>
            </a:r>
            <a:r>
              <a:rPr sz="1950" spc="55" dirty="0">
                <a:latin typeface="Arial MT"/>
                <a:cs typeface="Arial MT"/>
              </a:rPr>
              <a:t>layers</a:t>
            </a:r>
            <a:r>
              <a:rPr sz="1950" spc="130" dirty="0">
                <a:latin typeface="Arial MT"/>
                <a:cs typeface="Arial MT"/>
              </a:rPr>
              <a:t> 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spc="125" dirty="0">
                <a:latin typeface="Arial MT"/>
                <a:cs typeface="Arial MT"/>
              </a:rPr>
              <a:t> </a:t>
            </a:r>
            <a:r>
              <a:rPr sz="1950" spc="105" dirty="0">
                <a:latin typeface="Arial MT"/>
                <a:cs typeface="Arial MT"/>
              </a:rPr>
              <a:t>increasing</a:t>
            </a:r>
            <a:r>
              <a:rPr sz="1950" spc="120" dirty="0">
                <a:latin typeface="Arial MT"/>
                <a:cs typeface="Arial MT"/>
              </a:rPr>
              <a:t> </a:t>
            </a:r>
            <a:r>
              <a:rPr sz="1950" spc="185" dirty="0">
                <a:latin typeface="Arial MT"/>
                <a:cs typeface="Arial MT"/>
              </a:rPr>
              <a:t>path</a:t>
            </a:r>
            <a:r>
              <a:rPr sz="1950" spc="130" dirty="0">
                <a:latin typeface="Arial MT"/>
                <a:cs typeface="Arial MT"/>
              </a:rPr>
              <a:t> </a:t>
            </a:r>
            <a:r>
              <a:rPr sz="1950" spc="150" dirty="0">
                <a:latin typeface="Arial MT"/>
                <a:cs typeface="Arial MT"/>
              </a:rPr>
              <a:t>cost</a:t>
            </a:r>
            <a:r>
              <a:rPr sz="1950" spc="125" dirty="0">
                <a:latin typeface="Arial MT"/>
                <a:cs typeface="Arial MT"/>
              </a:rPr>
              <a:t> </a:t>
            </a:r>
            <a:r>
              <a:rPr sz="1950" spc="785" dirty="0">
                <a:latin typeface="Arial MT"/>
                <a:cs typeface="Arial MT"/>
              </a:rPr>
              <a:t>+</a:t>
            </a:r>
            <a:r>
              <a:rPr sz="1950" spc="130" dirty="0">
                <a:latin typeface="Arial MT"/>
                <a:cs typeface="Arial MT"/>
              </a:rPr>
              <a:t> heuristic</a:t>
            </a:r>
            <a:r>
              <a:rPr sz="1950" spc="125" dirty="0">
                <a:latin typeface="Arial MT"/>
                <a:cs typeface="Arial MT"/>
              </a:rPr>
              <a:t> </a:t>
            </a:r>
            <a:r>
              <a:rPr sz="1950" spc="175" dirty="0">
                <a:latin typeface="Arial MT"/>
                <a:cs typeface="Arial MT"/>
              </a:rPr>
              <a:t>function.</a:t>
            </a:r>
            <a:endParaRPr sz="1950">
              <a:latin typeface="Arial MT"/>
              <a:cs typeface="Arial MT"/>
            </a:endParaRPr>
          </a:p>
          <a:p>
            <a:pPr marL="493395" marR="5080" lvl="1" indent="-260350">
              <a:lnSpc>
                <a:spcPct val="119200"/>
              </a:lnSpc>
              <a:spcBef>
                <a:spcPts val="1440"/>
              </a:spcBef>
              <a:buFont typeface="MS UI Gothic"/>
              <a:buChar char="•"/>
              <a:tabLst>
                <a:tab pos="494030" algn="l"/>
                <a:tab pos="1306195" algn="l"/>
                <a:tab pos="2526030" algn="l"/>
                <a:tab pos="3738245" algn="l"/>
                <a:tab pos="4148454" algn="l"/>
                <a:tab pos="5572125" algn="l"/>
                <a:tab pos="6306185" algn="l"/>
                <a:tab pos="6994525" algn="l"/>
                <a:tab pos="7396480" algn="l"/>
              </a:tabLst>
            </a:pPr>
            <a:r>
              <a:rPr sz="1950" spc="90" dirty="0">
                <a:latin typeface="Arial MT"/>
                <a:cs typeface="Arial MT"/>
              </a:rPr>
              <a:t>I</a:t>
            </a:r>
            <a:r>
              <a:rPr sz="1950" spc="280" dirty="0">
                <a:latin typeface="Arial MT"/>
                <a:cs typeface="Arial MT"/>
              </a:rPr>
              <a:t>D</a:t>
            </a:r>
            <a:r>
              <a:rPr sz="1950" spc="295" dirty="0">
                <a:latin typeface="Arial MT"/>
                <a:cs typeface="Arial MT"/>
              </a:rPr>
              <a:t>A</a:t>
            </a:r>
            <a:r>
              <a:rPr sz="1950" spc="480" dirty="0">
                <a:latin typeface="Arial MT"/>
                <a:cs typeface="Arial MT"/>
              </a:rPr>
              <a:t>*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-25" dirty="0">
                <a:latin typeface="Arial MT"/>
                <a:cs typeface="Arial MT"/>
              </a:rPr>
              <a:t>s</a:t>
            </a:r>
            <a:r>
              <a:rPr sz="1950" spc="15" dirty="0">
                <a:latin typeface="Arial MT"/>
                <a:cs typeface="Arial MT"/>
              </a:rPr>
              <a:t>ea</a:t>
            </a:r>
            <a:r>
              <a:rPr sz="1950" spc="175" dirty="0">
                <a:latin typeface="Arial MT"/>
                <a:cs typeface="Arial MT"/>
              </a:rPr>
              <a:t>r</a:t>
            </a:r>
            <a:r>
              <a:rPr sz="1950" spc="120" dirty="0">
                <a:latin typeface="Arial MT"/>
                <a:cs typeface="Arial MT"/>
              </a:rPr>
              <a:t>c</a:t>
            </a:r>
            <a:r>
              <a:rPr sz="1950" spc="85" dirty="0">
                <a:latin typeface="Arial MT"/>
                <a:cs typeface="Arial MT"/>
              </a:rPr>
              <a:t>he</a:t>
            </a:r>
            <a:r>
              <a:rPr sz="1950" spc="-25" dirty="0">
                <a:latin typeface="Arial MT"/>
                <a:cs typeface="Arial MT"/>
              </a:rPr>
              <a:t>s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-25" dirty="0">
                <a:latin typeface="Arial MT"/>
                <a:cs typeface="Arial MT"/>
              </a:rPr>
              <a:t>s</a:t>
            </a:r>
            <a:r>
              <a:rPr sz="1950" spc="220" dirty="0">
                <a:latin typeface="Arial MT"/>
                <a:cs typeface="Arial MT"/>
              </a:rPr>
              <a:t>ubt</a:t>
            </a:r>
            <a:r>
              <a:rPr sz="1950" spc="175" dirty="0">
                <a:latin typeface="Arial MT"/>
                <a:cs typeface="Arial MT"/>
              </a:rPr>
              <a:t>r</a:t>
            </a:r>
            <a:r>
              <a:rPr sz="1950" spc="15" dirty="0">
                <a:latin typeface="Arial MT"/>
                <a:cs typeface="Arial MT"/>
              </a:rPr>
              <a:t>ee</a:t>
            </a:r>
            <a:r>
              <a:rPr sz="1950" spc="-25" dirty="0">
                <a:latin typeface="Arial MT"/>
                <a:cs typeface="Arial MT"/>
              </a:rPr>
              <a:t>s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180" dirty="0">
                <a:latin typeface="Arial MT"/>
                <a:cs typeface="Arial MT"/>
              </a:rPr>
              <a:t>of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114" dirty="0">
                <a:latin typeface="Arial MT"/>
                <a:cs typeface="Arial MT"/>
              </a:rPr>
              <a:t>i</a:t>
            </a:r>
            <a:r>
              <a:rPr sz="1950" spc="140" dirty="0">
                <a:latin typeface="Arial MT"/>
                <a:cs typeface="Arial MT"/>
              </a:rPr>
              <a:t>nc</a:t>
            </a:r>
            <a:r>
              <a:rPr sz="1950" spc="175" dirty="0">
                <a:latin typeface="Arial MT"/>
                <a:cs typeface="Arial MT"/>
              </a:rPr>
              <a:t>r</a:t>
            </a:r>
            <a:r>
              <a:rPr sz="1950" spc="15" dirty="0">
                <a:latin typeface="Arial MT"/>
                <a:cs typeface="Arial MT"/>
              </a:rPr>
              <a:t>e</a:t>
            </a:r>
            <a:r>
              <a:rPr sz="1950" spc="85" dirty="0">
                <a:latin typeface="Arial MT"/>
                <a:cs typeface="Arial MT"/>
              </a:rPr>
              <a:t>a</a:t>
            </a:r>
            <a:r>
              <a:rPr sz="1950" spc="-25" dirty="0">
                <a:latin typeface="Arial MT"/>
                <a:cs typeface="Arial MT"/>
              </a:rPr>
              <a:t>s</a:t>
            </a:r>
            <a:r>
              <a:rPr sz="1950" spc="114" dirty="0">
                <a:latin typeface="Arial MT"/>
                <a:cs typeface="Arial MT"/>
              </a:rPr>
              <a:t>i</a:t>
            </a:r>
            <a:r>
              <a:rPr sz="1950" spc="155" dirty="0">
                <a:latin typeface="Arial MT"/>
                <a:cs typeface="Arial MT"/>
              </a:rPr>
              <a:t>ng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120" dirty="0">
                <a:latin typeface="Arial MT"/>
                <a:cs typeface="Arial MT"/>
              </a:rPr>
              <a:t>pa</a:t>
            </a:r>
            <a:r>
              <a:rPr sz="1950" spc="350" dirty="0">
                <a:latin typeface="Arial MT"/>
                <a:cs typeface="Arial MT"/>
              </a:rPr>
              <a:t>t</a:t>
            </a:r>
            <a:r>
              <a:rPr sz="1950" spc="155" dirty="0">
                <a:latin typeface="Arial MT"/>
                <a:cs typeface="Arial MT"/>
              </a:rPr>
              <a:t>h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125" dirty="0">
                <a:latin typeface="Arial MT"/>
                <a:cs typeface="Arial MT"/>
              </a:rPr>
              <a:t>c</a:t>
            </a:r>
            <a:r>
              <a:rPr sz="1950" spc="65" dirty="0">
                <a:latin typeface="Arial MT"/>
                <a:cs typeface="Arial MT"/>
              </a:rPr>
              <a:t>os</a:t>
            </a:r>
            <a:r>
              <a:rPr sz="1950" spc="350" dirty="0">
                <a:latin typeface="Arial MT"/>
                <a:cs typeface="Arial MT"/>
              </a:rPr>
              <a:t>t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785" dirty="0">
                <a:latin typeface="Arial MT"/>
                <a:cs typeface="Arial MT"/>
              </a:rPr>
              <a:t>+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85" dirty="0">
                <a:latin typeface="Arial MT"/>
                <a:cs typeface="Arial MT"/>
              </a:rPr>
              <a:t>he</a:t>
            </a:r>
            <a:r>
              <a:rPr sz="1950" spc="165" dirty="0">
                <a:latin typeface="Arial MT"/>
                <a:cs typeface="Arial MT"/>
              </a:rPr>
              <a:t>ur</a:t>
            </a:r>
            <a:r>
              <a:rPr sz="1950" spc="114" dirty="0">
                <a:latin typeface="Arial MT"/>
                <a:cs typeface="Arial MT"/>
              </a:rPr>
              <a:t>i</a:t>
            </a:r>
            <a:r>
              <a:rPr sz="1950" spc="-25" dirty="0">
                <a:latin typeface="Arial MT"/>
                <a:cs typeface="Arial MT"/>
              </a:rPr>
              <a:t>s</a:t>
            </a:r>
            <a:r>
              <a:rPr sz="1950" spc="350" dirty="0">
                <a:latin typeface="Arial MT"/>
                <a:cs typeface="Arial MT"/>
              </a:rPr>
              <a:t>t</a:t>
            </a:r>
            <a:r>
              <a:rPr sz="1950" spc="114" dirty="0">
                <a:latin typeface="Arial MT"/>
                <a:cs typeface="Arial MT"/>
              </a:rPr>
              <a:t>i</a:t>
            </a:r>
            <a:r>
              <a:rPr sz="1950" spc="85" dirty="0">
                <a:latin typeface="Arial MT"/>
                <a:cs typeface="Arial MT"/>
              </a:rPr>
              <a:t>c  </a:t>
            </a:r>
            <a:r>
              <a:rPr sz="1950" spc="175" dirty="0">
                <a:latin typeface="Arial MT"/>
                <a:cs typeface="Arial MT"/>
              </a:rPr>
              <a:t>function.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77910" algn="l"/>
              </a:tabLst>
            </a:pP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spc="380" dirty="0"/>
              <a:t>Recap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29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29" dirty="0"/>
              <a:t>Which</a:t>
            </a:r>
            <a:r>
              <a:rPr spc="345" dirty="0"/>
              <a:t> </a:t>
            </a:r>
            <a:r>
              <a:rPr spc="145" dirty="0"/>
              <a:t>cost</a:t>
            </a:r>
            <a:r>
              <a:rPr spc="345" dirty="0"/>
              <a:t> </a:t>
            </a:r>
            <a:r>
              <a:rPr spc="155" dirty="0"/>
              <a:t>function?</a:t>
            </a:r>
          </a:p>
          <a:p>
            <a:pPr marL="493395" indent="-260985">
              <a:lnSpc>
                <a:spcPct val="100000"/>
              </a:lnSpc>
              <a:spcBef>
                <a:spcPts val="1645"/>
              </a:spcBef>
              <a:buFont typeface="MS UI Gothic"/>
              <a:buChar char="•"/>
              <a:tabLst>
                <a:tab pos="494030" algn="l"/>
              </a:tabLst>
            </a:pPr>
            <a:r>
              <a:rPr b="0" spc="145" dirty="0">
                <a:solidFill>
                  <a:srgbClr val="000000"/>
                </a:solidFill>
                <a:latin typeface="Arial MT"/>
                <a:cs typeface="Arial MT"/>
              </a:rPr>
              <a:t>UCS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55" dirty="0">
                <a:solidFill>
                  <a:srgbClr val="000000"/>
                </a:solidFill>
                <a:latin typeface="Arial MT"/>
                <a:cs typeface="Arial MT"/>
              </a:rPr>
              <a:t>searches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55" dirty="0">
                <a:solidFill>
                  <a:srgbClr val="000000"/>
                </a:solidFill>
                <a:latin typeface="Arial MT"/>
                <a:cs typeface="Arial MT"/>
              </a:rPr>
              <a:t>layers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8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b="0" spc="28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05" dirty="0">
                <a:solidFill>
                  <a:srgbClr val="000000"/>
                </a:solidFill>
                <a:latin typeface="Arial MT"/>
                <a:cs typeface="Arial MT"/>
              </a:rPr>
              <a:t>increasing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85" dirty="0">
                <a:solidFill>
                  <a:srgbClr val="000000"/>
                </a:solidFill>
                <a:latin typeface="Arial MT"/>
                <a:cs typeface="Arial MT"/>
              </a:rPr>
              <a:t>path</a:t>
            </a:r>
            <a:r>
              <a:rPr b="0" spc="2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50" dirty="0">
                <a:solidFill>
                  <a:srgbClr val="000000"/>
                </a:solidFill>
                <a:latin typeface="Arial MT"/>
                <a:cs typeface="Arial MT"/>
              </a:rPr>
              <a:t>cost.</a:t>
            </a:r>
          </a:p>
          <a:p>
            <a:pPr marL="493395" marR="5080" indent="-260350">
              <a:lnSpc>
                <a:spcPct val="119200"/>
              </a:lnSpc>
              <a:spcBef>
                <a:spcPts val="2160"/>
              </a:spcBef>
              <a:buFont typeface="MS UI Gothic"/>
              <a:buChar char="•"/>
              <a:tabLst>
                <a:tab pos="494030" algn="l"/>
              </a:tabLst>
            </a:pPr>
            <a:r>
              <a:rPr b="0" spc="100" dirty="0">
                <a:solidFill>
                  <a:srgbClr val="000000"/>
                </a:solidFill>
                <a:latin typeface="Arial MT"/>
                <a:cs typeface="Arial MT"/>
              </a:rPr>
              <a:t>Greedy</a:t>
            </a:r>
            <a:r>
              <a:rPr b="0" spc="3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40" dirty="0">
                <a:solidFill>
                  <a:srgbClr val="000000"/>
                </a:solidFill>
                <a:latin typeface="Arial MT"/>
                <a:cs typeface="Arial MT"/>
              </a:rPr>
              <a:t>best</a:t>
            </a:r>
            <a:r>
              <a:rPr b="0" spc="3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65" dirty="0">
                <a:solidFill>
                  <a:srgbClr val="000000"/>
                </a:solidFill>
                <a:latin typeface="Arial MT"/>
                <a:cs typeface="Arial MT"/>
              </a:rPr>
              <a:t>first</a:t>
            </a:r>
            <a:r>
              <a:rPr b="0" spc="3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75" dirty="0">
                <a:solidFill>
                  <a:srgbClr val="000000"/>
                </a:solidFill>
                <a:latin typeface="Arial MT"/>
                <a:cs typeface="Arial MT"/>
              </a:rPr>
              <a:t>search</a:t>
            </a:r>
            <a:r>
              <a:rPr b="0" spc="3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55" dirty="0">
                <a:solidFill>
                  <a:srgbClr val="000000"/>
                </a:solidFill>
                <a:latin typeface="Arial MT"/>
                <a:cs typeface="Arial MT"/>
              </a:rPr>
              <a:t>searches</a:t>
            </a:r>
            <a:r>
              <a:rPr b="0" spc="3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55" dirty="0">
                <a:solidFill>
                  <a:srgbClr val="000000"/>
                </a:solidFill>
                <a:latin typeface="Arial MT"/>
                <a:cs typeface="Arial MT"/>
              </a:rPr>
              <a:t>layers</a:t>
            </a:r>
            <a:r>
              <a:rPr b="0" spc="3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8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b="0" spc="3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05" dirty="0">
                <a:solidFill>
                  <a:srgbClr val="000000"/>
                </a:solidFill>
                <a:latin typeface="Arial MT"/>
                <a:cs typeface="Arial MT"/>
              </a:rPr>
              <a:t>increasing</a:t>
            </a:r>
            <a:r>
              <a:rPr b="0" spc="3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heuristic </a:t>
            </a:r>
            <a:r>
              <a:rPr b="0" spc="-5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5" dirty="0">
                <a:solidFill>
                  <a:srgbClr val="000000"/>
                </a:solidFill>
                <a:latin typeface="Arial MT"/>
                <a:cs typeface="Arial MT"/>
              </a:rPr>
              <a:t>function.</a:t>
            </a:r>
          </a:p>
          <a:p>
            <a:pPr>
              <a:lnSpc>
                <a:spcPct val="100000"/>
              </a:lnSpc>
              <a:spcBef>
                <a:spcPts val="35"/>
              </a:spcBef>
              <a:buFont typeface="MS UI Gothic"/>
              <a:buChar char="•"/>
            </a:pPr>
            <a:endParaRPr sz="1850">
              <a:latin typeface="Arial MT"/>
              <a:cs typeface="Arial MT"/>
            </a:endParaRPr>
          </a:p>
          <a:p>
            <a:pPr marL="493395" marR="5080" indent="-260350">
              <a:lnSpc>
                <a:spcPct val="119200"/>
              </a:lnSpc>
              <a:buFont typeface="MS UI Gothic"/>
              <a:buChar char="•"/>
              <a:tabLst>
                <a:tab pos="494030" algn="l"/>
              </a:tabLst>
            </a:pPr>
            <a:r>
              <a:rPr b="0" spc="385" dirty="0">
                <a:solidFill>
                  <a:srgbClr val="000000"/>
                </a:solidFill>
                <a:latin typeface="Arial MT"/>
                <a:cs typeface="Arial MT"/>
              </a:rPr>
              <a:t>A* </a:t>
            </a:r>
            <a:r>
              <a:rPr b="0" spc="75" dirty="0">
                <a:solidFill>
                  <a:srgbClr val="000000"/>
                </a:solidFill>
                <a:latin typeface="Arial MT"/>
                <a:cs typeface="Arial MT"/>
              </a:rPr>
              <a:t>search</a:t>
            </a:r>
            <a:r>
              <a:rPr b="0" spc="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55" dirty="0">
                <a:solidFill>
                  <a:srgbClr val="000000"/>
                </a:solidFill>
                <a:latin typeface="Arial MT"/>
                <a:cs typeface="Arial MT"/>
              </a:rPr>
              <a:t>searches</a:t>
            </a:r>
            <a:r>
              <a:rPr b="0" spc="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55" dirty="0">
                <a:solidFill>
                  <a:srgbClr val="000000"/>
                </a:solidFill>
                <a:latin typeface="Arial MT"/>
                <a:cs typeface="Arial MT"/>
              </a:rPr>
              <a:t>layers</a:t>
            </a:r>
            <a:r>
              <a:rPr b="0" spc="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80" dirty="0">
                <a:solidFill>
                  <a:srgbClr val="000000"/>
                </a:solidFill>
                <a:latin typeface="Arial MT"/>
                <a:cs typeface="Arial MT"/>
              </a:rPr>
              <a:t>of </a:t>
            </a:r>
            <a:r>
              <a:rPr b="0" spc="105" dirty="0">
                <a:solidFill>
                  <a:srgbClr val="000000"/>
                </a:solidFill>
                <a:latin typeface="Arial MT"/>
                <a:cs typeface="Arial MT"/>
              </a:rPr>
              <a:t>increasing </a:t>
            </a:r>
            <a:r>
              <a:rPr b="0" spc="185" dirty="0">
                <a:solidFill>
                  <a:srgbClr val="000000"/>
                </a:solidFill>
                <a:latin typeface="Arial MT"/>
                <a:cs typeface="Arial MT"/>
              </a:rPr>
              <a:t>path </a:t>
            </a:r>
            <a:r>
              <a:rPr b="0" spc="150" dirty="0">
                <a:solidFill>
                  <a:srgbClr val="000000"/>
                </a:solidFill>
                <a:latin typeface="Arial MT"/>
                <a:cs typeface="Arial MT"/>
              </a:rPr>
              <a:t>cost </a:t>
            </a:r>
            <a:r>
              <a:rPr b="0" spc="785" dirty="0">
                <a:solidFill>
                  <a:srgbClr val="000000"/>
                </a:solidFill>
                <a:latin typeface="Arial MT"/>
                <a:cs typeface="Arial MT"/>
              </a:rPr>
              <a:t>+ </a:t>
            </a:r>
            <a:r>
              <a:rPr b="0" spc="130" dirty="0">
                <a:solidFill>
                  <a:srgbClr val="000000"/>
                </a:solidFill>
                <a:latin typeface="Arial MT"/>
                <a:cs typeface="Arial MT"/>
              </a:rPr>
              <a:t>heuristic </a:t>
            </a:r>
            <a:r>
              <a:rPr b="0" spc="-5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175" dirty="0">
                <a:solidFill>
                  <a:srgbClr val="000000"/>
                </a:solidFill>
                <a:latin typeface="Arial MT"/>
                <a:cs typeface="Arial MT"/>
              </a:rPr>
              <a:t>function.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8D68C7C2CA54B9DB640092720A1BD" ma:contentTypeVersion="8" ma:contentTypeDescription="Create a new document." ma:contentTypeScope="" ma:versionID="6ad0b56956eda0e323847c0c1a57b9d7">
  <xsd:schema xmlns:xsd="http://www.w3.org/2001/XMLSchema" xmlns:xs="http://www.w3.org/2001/XMLSchema" xmlns:p="http://schemas.microsoft.com/office/2006/metadata/properties" xmlns:ns2="5e0aa22b-6d51-4036-8862-8f6e7acdc5ad" targetNamespace="http://schemas.microsoft.com/office/2006/metadata/properties" ma:root="true" ma:fieldsID="e423bbd489352d4f22f29126c7915686" ns2:_="">
    <xsd:import namespace="5e0aa22b-6d51-4036-8862-8f6e7acdc5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aa22b-6d51-4036-8862-8f6e7acdc5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9A0C12-BDC8-4175-A27E-6B8997DA180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e0aa22b-6d51-4036-8862-8f6e7acdc5a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D79C56-8B50-47F0-B956-BEBB672585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C19031-FAB1-4779-B7C5-6D5606619C2A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10310</TotalTime>
  <Words>1975</Words>
  <Application>Microsoft Office PowerPoint</Application>
  <PresentationFormat>Custom</PresentationFormat>
  <Paragraphs>353</Paragraphs>
  <Slides>84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3" baseType="lpstr">
      <vt:lpstr>MS UI Gothic</vt:lpstr>
      <vt:lpstr>Arial</vt:lpstr>
      <vt:lpstr>Arial MT</vt:lpstr>
      <vt:lpstr>Calibri</vt:lpstr>
      <vt:lpstr>Symbol</vt:lpstr>
      <vt:lpstr>Times New Roman</vt:lpstr>
      <vt:lpstr>Verdana</vt:lpstr>
      <vt:lpstr>Wingdings</vt:lpstr>
      <vt:lpstr>Office Theme</vt:lpstr>
      <vt:lpstr>Artificial Intelligence  DR.Abeer Amer</vt:lpstr>
      <vt:lpstr>Uniform-Cost Strategy</vt:lpstr>
      <vt:lpstr>Exercise: UCS</vt:lpstr>
      <vt:lpstr>Exercise: UCS</vt:lpstr>
      <vt:lpstr>Exercise: UCS</vt:lpstr>
      <vt:lpstr>Exercise: UCS</vt:lpstr>
      <vt:lpstr>Exercise: UCS</vt:lpstr>
      <vt:lpstr>Exercise: UCS</vt:lpstr>
      <vt:lpstr>Exercise: UCS</vt:lpstr>
      <vt:lpstr>Exercise: UCS</vt:lpstr>
      <vt:lpstr>Exercise: UCS</vt:lpstr>
      <vt:lpstr>Exercise: UCS</vt:lpstr>
      <vt:lpstr>Exercise: UCS</vt:lpstr>
      <vt:lpstr>Informed Search [ Heuristic Search ]</vt:lpstr>
      <vt:lpstr>PowerPoint Presentation</vt:lpstr>
      <vt:lpstr> Informed search </vt:lpstr>
      <vt:lpstr> Informed search </vt:lpstr>
      <vt:lpstr> Informed search </vt:lpstr>
      <vt:lpstr> Greedy search </vt:lpstr>
      <vt:lpstr> Greedy search example </vt:lpstr>
      <vt:lpstr> Greedy search example </vt:lpstr>
      <vt:lpstr> Greedy search example </vt:lpstr>
      <vt:lpstr> Greedy search example </vt:lpstr>
      <vt:lpstr> Examples using the map </vt:lpstr>
      <vt:lpstr> Examples using the map </vt:lpstr>
      <vt:lpstr> A* search </vt:lpstr>
      <vt:lpstr> A* search example </vt:lpstr>
      <vt:lpstr> A* search example </vt:lpstr>
      <vt:lpstr> A* search example </vt:lpstr>
      <vt:lpstr> A* search example </vt:lpstr>
      <vt:lpstr> A* search example </vt:lpstr>
      <vt:lpstr> A* search example </vt:lpstr>
      <vt:lpstr> A* search example </vt:lpstr>
      <vt:lpstr> A* search example </vt:lpstr>
      <vt:lpstr> Examples using the map </vt:lpstr>
      <vt:lpstr> Examples using the map </vt:lpstr>
      <vt:lpstr>Heuristic Function</vt:lpstr>
      <vt:lpstr>Heuristic Function</vt:lpstr>
      <vt:lpstr>Examples of Evaluation function</vt:lpstr>
      <vt:lpstr> Heuristics </vt:lpstr>
      <vt:lpstr>8-Puzzle</vt:lpstr>
      <vt:lpstr>8-Puzzle</vt:lpstr>
      <vt:lpstr>8-Puzzle</vt:lpstr>
      <vt:lpstr>Search Algorithms: Recap</vt:lpstr>
      <vt:lpstr> DFS </vt:lpstr>
      <vt:lpstr> DFS </vt:lpstr>
      <vt:lpstr> DFS </vt:lpstr>
      <vt:lpstr> DFS </vt:lpstr>
      <vt:lpstr> DFS </vt:lpstr>
      <vt:lpstr> DFS </vt:lpstr>
      <vt:lpstr> DFS </vt:lpstr>
      <vt:lpstr> DFS </vt:lpstr>
      <vt:lpstr> DFS </vt:lpstr>
      <vt:lpstr> BFS </vt:lpstr>
      <vt:lpstr> BFS </vt:lpstr>
      <vt:lpstr> BFS </vt:lpstr>
      <vt:lpstr> BFS </vt:lpstr>
      <vt:lpstr> BFS </vt:lpstr>
      <vt:lpstr> BFS </vt:lpstr>
      <vt:lpstr> BFS </vt:lpstr>
      <vt:lpstr> BFS </vt:lpstr>
      <vt:lpstr> BFS </vt:lpstr>
      <vt:lpstr> BFS </vt:lpstr>
      <vt:lpstr> BFS </vt:lpstr>
      <vt:lpstr> BFS </vt:lpstr>
      <vt:lpstr> BFS </vt:lpstr>
      <vt:lpstr> UCS </vt:lpstr>
      <vt:lpstr> UCS </vt:lpstr>
      <vt:lpstr> UCS </vt:lpstr>
      <vt:lpstr> UCS </vt:lpstr>
      <vt:lpstr> UCS </vt:lpstr>
      <vt:lpstr> UCS </vt:lpstr>
      <vt:lpstr> UCS </vt:lpstr>
      <vt:lpstr> UCS </vt:lpstr>
      <vt:lpstr> UCS </vt:lpstr>
      <vt:lpstr> UCS </vt:lpstr>
      <vt:lpstr> UCS </vt:lpstr>
      <vt:lpstr> UCS </vt:lpstr>
      <vt:lpstr> UCS </vt:lpstr>
      <vt:lpstr> UCS </vt:lpstr>
      <vt:lpstr> UCS </vt:lpstr>
      <vt:lpstr> Recap </vt:lpstr>
      <vt:lpstr> Recap </vt:lpstr>
      <vt:lpstr> Recap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Fujitsu</dc:creator>
  <cp:lastModifiedBy>ابراهيم جميل ابراهيم المتولى العكل</cp:lastModifiedBy>
  <cp:revision>13</cp:revision>
  <dcterms:created xsi:type="dcterms:W3CDTF">2023-03-29T17:17:03Z</dcterms:created>
  <dcterms:modified xsi:type="dcterms:W3CDTF">2025-05-25T03:46:21Z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0x010100E218D68C7C2CA54B9DB640092720A1BD</vt:lpwstr>
  </property>
</Properties>
</file>