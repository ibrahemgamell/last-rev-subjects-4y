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74D8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74D8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374D8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55287" y="564895"/>
            <a:ext cx="123342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374D8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0921" y="1543663"/>
            <a:ext cx="8122157" cy="2587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4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4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4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4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4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4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4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 /><Relationship Id="rId1" Type="http://schemas.openxmlformats.org/officeDocument/2006/relationships/slideLayout" Target="../slideLayouts/slideLayout4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 /><Relationship Id="rId1" Type="http://schemas.openxmlformats.org/officeDocument/2006/relationships/slideLayout" Target="../slideLayouts/slideLayout4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4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4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4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 /><Relationship Id="rId1" Type="http://schemas.openxmlformats.org/officeDocument/2006/relationships/slideLayout" Target="../slideLayouts/slideLayout4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 /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4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 /><Relationship Id="rId2" Type="http://schemas.openxmlformats.org/officeDocument/2006/relationships/image" Target="../media/image23.jpg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765" y="2487706"/>
            <a:ext cx="7669014" cy="1477328"/>
          </a:xfrm>
        </p:spPr>
        <p:txBody>
          <a:bodyPr/>
          <a:lstStyle/>
          <a:p>
            <a:pPr algn="ctr"/>
            <a:r>
              <a:rPr lang="en-US" spc="379" dirty="0"/>
              <a:t>Arti</a:t>
            </a:r>
            <a:r>
              <a:rPr lang="en-US" spc="202" dirty="0"/>
              <a:t>fi</a:t>
            </a:r>
            <a:r>
              <a:rPr lang="en-US" spc="168" dirty="0"/>
              <a:t>cial </a:t>
            </a:r>
            <a:r>
              <a:rPr lang="en-US" spc="260" dirty="0"/>
              <a:t>Intell</a:t>
            </a:r>
            <a:r>
              <a:rPr lang="en-US" spc="101" dirty="0"/>
              <a:t>i</a:t>
            </a:r>
            <a:r>
              <a:rPr lang="en-US" spc="224" dirty="0"/>
              <a:t>g</a:t>
            </a:r>
            <a:r>
              <a:rPr lang="en-US" spc="260" dirty="0"/>
              <a:t>e</a:t>
            </a:r>
            <a:r>
              <a:rPr lang="en-US" spc="251" dirty="0"/>
              <a:t>n</a:t>
            </a:r>
            <a:r>
              <a:rPr lang="en-US" spc="172" dirty="0"/>
              <a:t>ce</a:t>
            </a:r>
            <a:br>
              <a:rPr lang="en-US" spc="172" dirty="0"/>
            </a:br>
            <a:br>
              <a:rPr lang="en-US" spc="172" dirty="0"/>
            </a:br>
            <a:r>
              <a:rPr lang="en-US" spc="172" dirty="0" err="1"/>
              <a:t>DR.Abeer</a:t>
            </a:r>
            <a:r>
              <a:rPr lang="en-US" spc="172" dirty="0"/>
              <a:t> </a:t>
            </a:r>
            <a:r>
              <a:rPr lang="en-US" spc="172" dirty="0" err="1"/>
              <a:t>Amer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362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05"/>
              </a:spcBef>
            </a:pPr>
            <a:r>
              <a:rPr spc="-265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4455" y="1503934"/>
            <a:ext cx="7124700" cy="3714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95"/>
              </a:spcBef>
              <a:buFont typeface="Courier New"/>
              <a:buChar char="o"/>
              <a:tabLst>
                <a:tab pos="299720" algn="l"/>
              </a:tabLst>
            </a:pPr>
            <a:r>
              <a:rPr sz="2200" b="1" spc="-40" dirty="0">
                <a:solidFill>
                  <a:srgbClr val="374D81"/>
                </a:solidFill>
                <a:latin typeface="Arial"/>
                <a:cs typeface="Arial"/>
              </a:rPr>
              <a:t>Adversarial</a:t>
            </a:r>
            <a:r>
              <a:rPr sz="2200" b="1" spc="-70" dirty="0">
                <a:solidFill>
                  <a:srgbClr val="374D81"/>
                </a:solidFill>
                <a:latin typeface="Arial"/>
                <a:cs typeface="Arial"/>
              </a:rPr>
              <a:t> </a:t>
            </a:r>
            <a:r>
              <a:rPr sz="2200" b="1" spc="-35" dirty="0">
                <a:solidFill>
                  <a:srgbClr val="374D81"/>
                </a:solidFill>
                <a:latin typeface="Arial"/>
                <a:cs typeface="Arial"/>
              </a:rPr>
              <a:t>Search</a:t>
            </a:r>
            <a:endParaRPr sz="22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</a:pPr>
            <a:r>
              <a:rPr sz="2200" b="1" spc="-5" dirty="0">
                <a:solidFill>
                  <a:srgbClr val="374D81"/>
                </a:solidFill>
                <a:latin typeface="Arial"/>
                <a:cs typeface="Arial"/>
              </a:rPr>
              <a:t>(</a:t>
            </a:r>
            <a:r>
              <a:rPr sz="2200" b="1" spc="-65" dirty="0">
                <a:solidFill>
                  <a:srgbClr val="374D81"/>
                </a:solidFill>
                <a:latin typeface="Arial"/>
                <a:cs typeface="Arial"/>
              </a:rPr>
              <a:t> </a:t>
            </a:r>
            <a:r>
              <a:rPr sz="2200" b="1" spc="-40" dirty="0">
                <a:solidFill>
                  <a:srgbClr val="374D81"/>
                </a:solidFill>
                <a:latin typeface="Arial"/>
                <a:cs typeface="Arial"/>
              </a:rPr>
              <a:t>Heuristics</a:t>
            </a:r>
            <a:r>
              <a:rPr sz="2200" b="1" spc="-50" dirty="0">
                <a:solidFill>
                  <a:srgbClr val="374D81"/>
                </a:solidFill>
                <a:latin typeface="Arial"/>
                <a:cs typeface="Arial"/>
              </a:rPr>
              <a:t> </a:t>
            </a:r>
            <a:r>
              <a:rPr sz="2200" b="1" spc="-25" dirty="0">
                <a:solidFill>
                  <a:srgbClr val="374D81"/>
                </a:solidFill>
                <a:latin typeface="Arial"/>
                <a:cs typeface="Arial"/>
              </a:rPr>
              <a:t>in</a:t>
            </a:r>
            <a:r>
              <a:rPr sz="2200" b="1" spc="-60" dirty="0">
                <a:solidFill>
                  <a:srgbClr val="374D81"/>
                </a:solidFill>
                <a:latin typeface="Arial"/>
                <a:cs typeface="Arial"/>
              </a:rPr>
              <a:t> </a:t>
            </a:r>
            <a:r>
              <a:rPr sz="2200" b="1" spc="-55" dirty="0">
                <a:solidFill>
                  <a:srgbClr val="374D81"/>
                </a:solidFill>
                <a:latin typeface="Arial"/>
                <a:cs typeface="Arial"/>
              </a:rPr>
              <a:t>Two-Person</a:t>
            </a:r>
            <a:r>
              <a:rPr sz="2200" b="1" spc="-50" dirty="0">
                <a:solidFill>
                  <a:srgbClr val="374D81"/>
                </a:solidFill>
                <a:latin typeface="Arial"/>
                <a:cs typeface="Arial"/>
              </a:rPr>
              <a:t> </a:t>
            </a:r>
            <a:r>
              <a:rPr sz="2200" b="1" spc="-35" dirty="0">
                <a:solidFill>
                  <a:srgbClr val="374D81"/>
                </a:solidFill>
                <a:latin typeface="Arial"/>
                <a:cs typeface="Arial"/>
              </a:rPr>
              <a:t>Games</a:t>
            </a:r>
            <a:r>
              <a:rPr sz="2200" b="1" spc="-60" dirty="0">
                <a:solidFill>
                  <a:srgbClr val="374D81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374D81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buFont typeface="Courier New"/>
              <a:buChar char="o"/>
              <a:tabLst>
                <a:tab pos="756920" algn="l"/>
              </a:tabLst>
            </a:pPr>
            <a:r>
              <a:rPr sz="2200" b="1" spc="-40" dirty="0">
                <a:solidFill>
                  <a:srgbClr val="8063A1"/>
                </a:solidFill>
                <a:latin typeface="Arial"/>
                <a:cs typeface="Arial"/>
              </a:rPr>
              <a:t>Minimax</a:t>
            </a:r>
            <a:r>
              <a:rPr sz="2200" b="1" spc="-75" dirty="0">
                <a:solidFill>
                  <a:srgbClr val="8063A1"/>
                </a:solidFill>
                <a:latin typeface="Arial"/>
                <a:cs typeface="Arial"/>
              </a:rPr>
              <a:t> </a:t>
            </a:r>
            <a:r>
              <a:rPr sz="2200" b="1" spc="-35" dirty="0">
                <a:solidFill>
                  <a:srgbClr val="8063A1"/>
                </a:solidFill>
                <a:latin typeface="Arial"/>
                <a:cs typeface="Arial"/>
              </a:rPr>
              <a:t>Procedure</a:t>
            </a:r>
            <a:endParaRPr sz="2200">
              <a:latin typeface="Arial"/>
              <a:cs typeface="Arial"/>
            </a:endParaRPr>
          </a:p>
          <a:p>
            <a:pPr marL="1213485" lvl="2" indent="-287020">
              <a:lnSpc>
                <a:spcPct val="100000"/>
              </a:lnSpc>
              <a:buFont typeface="Courier New"/>
              <a:buChar char="o"/>
              <a:tabLst>
                <a:tab pos="1214120" algn="l"/>
              </a:tabLst>
            </a:pPr>
            <a:r>
              <a:rPr sz="2200" b="1" spc="-40" dirty="0">
                <a:solidFill>
                  <a:srgbClr val="9BBA58"/>
                </a:solidFill>
                <a:latin typeface="Arial"/>
                <a:cs typeface="Arial"/>
              </a:rPr>
              <a:t>Exhaustive</a:t>
            </a:r>
            <a:r>
              <a:rPr sz="2200" b="1" spc="-35" dirty="0">
                <a:solidFill>
                  <a:srgbClr val="9BBA58"/>
                </a:solidFill>
                <a:latin typeface="Arial"/>
                <a:cs typeface="Arial"/>
              </a:rPr>
              <a:t> Minimax</a:t>
            </a:r>
            <a:r>
              <a:rPr sz="2200" b="1" spc="-45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200" b="1" spc="-30" dirty="0">
                <a:solidFill>
                  <a:srgbClr val="9BBA58"/>
                </a:solidFill>
                <a:latin typeface="Arial"/>
                <a:cs typeface="Arial"/>
              </a:rPr>
              <a:t>for</a:t>
            </a:r>
            <a:r>
              <a:rPr sz="2200" b="1" spc="-60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200" b="1" spc="-30" dirty="0">
                <a:solidFill>
                  <a:srgbClr val="9BBA58"/>
                </a:solidFill>
                <a:latin typeface="Arial"/>
                <a:cs typeface="Arial"/>
              </a:rPr>
              <a:t>Nim</a:t>
            </a:r>
            <a:r>
              <a:rPr sz="2200" b="1" spc="-65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200" b="1" spc="-40" dirty="0">
                <a:solidFill>
                  <a:srgbClr val="9BBA58"/>
                </a:solidFill>
                <a:latin typeface="Arial"/>
                <a:cs typeface="Arial"/>
              </a:rPr>
              <a:t>(Splitting</a:t>
            </a:r>
            <a:r>
              <a:rPr sz="2200" b="1" spc="-25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200" b="1" spc="-35" dirty="0">
                <a:solidFill>
                  <a:srgbClr val="9BBA58"/>
                </a:solidFill>
                <a:latin typeface="Arial"/>
                <a:cs typeface="Arial"/>
              </a:rPr>
              <a:t>Stacks)</a:t>
            </a:r>
            <a:endParaRPr sz="2200">
              <a:latin typeface="Arial"/>
              <a:cs typeface="Arial"/>
            </a:endParaRPr>
          </a:p>
          <a:p>
            <a:pPr marL="1213485" lvl="2" indent="-287020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1214120" algn="l"/>
              </a:tabLst>
            </a:pPr>
            <a:r>
              <a:rPr sz="2200" b="1" spc="-40" dirty="0">
                <a:solidFill>
                  <a:srgbClr val="9BBA58"/>
                </a:solidFill>
                <a:latin typeface="Arial"/>
                <a:cs typeface="Arial"/>
              </a:rPr>
              <a:t>Minimax</a:t>
            </a:r>
            <a:r>
              <a:rPr sz="2200" b="1" spc="-50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200" b="1" spc="-25" dirty="0">
                <a:solidFill>
                  <a:srgbClr val="9BBA58"/>
                </a:solidFill>
                <a:latin typeface="Arial"/>
                <a:cs typeface="Arial"/>
              </a:rPr>
              <a:t>to</a:t>
            </a:r>
            <a:r>
              <a:rPr sz="2200" b="1" spc="-65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9BBA58"/>
                </a:solidFill>
                <a:latin typeface="Arial"/>
                <a:cs typeface="Arial"/>
              </a:rPr>
              <a:t>a</a:t>
            </a:r>
            <a:r>
              <a:rPr sz="2200" b="1" spc="-60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200" b="1" spc="-35" dirty="0">
                <a:solidFill>
                  <a:srgbClr val="9BBA58"/>
                </a:solidFill>
                <a:latin typeface="Arial"/>
                <a:cs typeface="Arial"/>
              </a:rPr>
              <a:t>Fixed</a:t>
            </a:r>
            <a:r>
              <a:rPr sz="2200" b="1" spc="-65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200" b="1" spc="-30" dirty="0">
                <a:solidFill>
                  <a:srgbClr val="9BBA58"/>
                </a:solidFill>
                <a:latin typeface="Arial"/>
                <a:cs typeface="Arial"/>
              </a:rPr>
              <a:t>Ply</a:t>
            </a:r>
            <a:r>
              <a:rPr sz="2200" b="1" spc="-65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200" b="1" spc="-35" dirty="0">
                <a:solidFill>
                  <a:srgbClr val="9BBA58"/>
                </a:solidFill>
                <a:latin typeface="Arial"/>
                <a:cs typeface="Arial"/>
              </a:rPr>
              <a:t>Depth</a:t>
            </a:r>
            <a:endParaRPr sz="22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buFont typeface="Courier New"/>
              <a:buChar char="o"/>
              <a:tabLst>
                <a:tab pos="756920" algn="l"/>
              </a:tabLst>
            </a:pPr>
            <a:r>
              <a:rPr sz="2200" b="1" spc="-40" dirty="0">
                <a:solidFill>
                  <a:srgbClr val="8063A1"/>
                </a:solidFill>
                <a:latin typeface="Arial"/>
                <a:cs typeface="Arial"/>
              </a:rPr>
              <a:t>Alpha-Beta Procedure</a:t>
            </a:r>
            <a:endParaRPr sz="2200">
              <a:latin typeface="Arial"/>
              <a:cs typeface="Arial"/>
            </a:endParaRPr>
          </a:p>
          <a:p>
            <a:pPr marL="1213485" lvl="2" indent="-287020">
              <a:lnSpc>
                <a:spcPct val="100000"/>
              </a:lnSpc>
              <a:buFont typeface="Courier New"/>
              <a:buChar char="o"/>
              <a:tabLst>
                <a:tab pos="1214120" algn="l"/>
              </a:tabLst>
            </a:pPr>
            <a:r>
              <a:rPr sz="2200" b="1" spc="-40" dirty="0">
                <a:solidFill>
                  <a:srgbClr val="9BBA58"/>
                </a:solidFill>
                <a:latin typeface="Arial"/>
                <a:cs typeface="Arial"/>
              </a:rPr>
              <a:t>Alpha-Beta</a:t>
            </a:r>
            <a:r>
              <a:rPr sz="2200" b="1" spc="-50" dirty="0">
                <a:solidFill>
                  <a:srgbClr val="9BBA58"/>
                </a:solidFill>
                <a:latin typeface="Arial"/>
                <a:cs typeface="Arial"/>
              </a:rPr>
              <a:t> </a:t>
            </a:r>
            <a:r>
              <a:rPr sz="2200" b="1" spc="-35" dirty="0">
                <a:solidFill>
                  <a:srgbClr val="9BBA58"/>
                </a:solidFill>
                <a:latin typeface="Arial"/>
                <a:cs typeface="Arial"/>
              </a:rPr>
              <a:t>Example</a:t>
            </a:r>
            <a:endParaRPr sz="220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50"/>
              </a:spcBef>
              <a:buClr>
                <a:srgbClr val="9BBA58"/>
              </a:buClr>
              <a:buFont typeface="Courier New"/>
              <a:buChar char="o"/>
            </a:pPr>
            <a:endParaRPr sz="225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buFont typeface="Courier New"/>
              <a:buChar char="o"/>
              <a:tabLst>
                <a:tab pos="299720" algn="l"/>
              </a:tabLst>
            </a:pPr>
            <a:r>
              <a:rPr sz="2200" b="1" spc="-35" dirty="0">
                <a:solidFill>
                  <a:srgbClr val="374D81"/>
                </a:solidFill>
                <a:latin typeface="Arial"/>
                <a:cs typeface="Arial"/>
              </a:rPr>
              <a:t>Search</a:t>
            </a:r>
            <a:r>
              <a:rPr sz="2200" b="1" spc="-70" dirty="0">
                <a:solidFill>
                  <a:srgbClr val="374D81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374D81"/>
                </a:solidFill>
                <a:latin typeface="Arial"/>
                <a:cs typeface="Arial"/>
              </a:rPr>
              <a:t>…</a:t>
            </a:r>
            <a:r>
              <a:rPr sz="2200" b="1" spc="-65" dirty="0">
                <a:solidFill>
                  <a:srgbClr val="374D81"/>
                </a:solidFill>
                <a:latin typeface="Arial"/>
                <a:cs typeface="Arial"/>
              </a:rPr>
              <a:t> </a:t>
            </a:r>
            <a:r>
              <a:rPr sz="2200" b="1" spc="-50" dirty="0">
                <a:solidFill>
                  <a:srgbClr val="374D81"/>
                </a:solidFill>
                <a:latin typeface="Arial"/>
                <a:cs typeface="Arial"/>
              </a:rPr>
              <a:t>What’s </a:t>
            </a:r>
            <a:r>
              <a:rPr sz="2200" b="1" spc="-30" dirty="0">
                <a:solidFill>
                  <a:srgbClr val="374D81"/>
                </a:solidFill>
                <a:latin typeface="Arial"/>
                <a:cs typeface="Arial"/>
              </a:rPr>
              <a:t>the</a:t>
            </a:r>
            <a:r>
              <a:rPr sz="2200" b="1" spc="-70" dirty="0">
                <a:solidFill>
                  <a:srgbClr val="374D81"/>
                </a:solidFill>
                <a:latin typeface="Arial"/>
                <a:cs typeface="Arial"/>
              </a:rPr>
              <a:t> </a:t>
            </a:r>
            <a:r>
              <a:rPr sz="2200" b="1" spc="-35" dirty="0">
                <a:solidFill>
                  <a:srgbClr val="374D81"/>
                </a:solidFill>
                <a:latin typeface="Arial"/>
                <a:cs typeface="Arial"/>
              </a:rPr>
              <a:t>Issue?</a:t>
            </a:r>
            <a:endParaRPr sz="22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buFont typeface="Courier New"/>
              <a:buChar char="o"/>
              <a:tabLst>
                <a:tab pos="756920" algn="l"/>
              </a:tabLst>
            </a:pPr>
            <a:r>
              <a:rPr sz="2200" b="1" spc="-35" dirty="0">
                <a:solidFill>
                  <a:srgbClr val="8063A1"/>
                </a:solidFill>
                <a:latin typeface="Arial"/>
                <a:cs typeface="Arial"/>
              </a:rPr>
              <a:t>Other</a:t>
            </a:r>
            <a:r>
              <a:rPr sz="2200" b="1" spc="-80" dirty="0">
                <a:solidFill>
                  <a:srgbClr val="8063A1"/>
                </a:solidFill>
                <a:latin typeface="Arial"/>
                <a:cs typeface="Arial"/>
              </a:rPr>
              <a:t> </a:t>
            </a:r>
            <a:r>
              <a:rPr sz="2200" b="1" spc="-35" dirty="0">
                <a:solidFill>
                  <a:srgbClr val="8063A1"/>
                </a:solidFill>
                <a:latin typeface="Arial"/>
                <a:cs typeface="Arial"/>
              </a:rPr>
              <a:t>Search</a:t>
            </a:r>
            <a:r>
              <a:rPr sz="2200" b="1" spc="-80" dirty="0">
                <a:solidFill>
                  <a:srgbClr val="8063A1"/>
                </a:solidFill>
                <a:latin typeface="Arial"/>
                <a:cs typeface="Arial"/>
              </a:rPr>
              <a:t> </a:t>
            </a:r>
            <a:r>
              <a:rPr sz="2200" b="1" spc="-55" dirty="0">
                <a:solidFill>
                  <a:srgbClr val="8063A1"/>
                </a:solidFill>
                <a:latin typeface="Arial"/>
                <a:cs typeface="Arial"/>
              </a:rPr>
              <a:t>Techniques</a:t>
            </a:r>
            <a:endParaRPr sz="22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756920" algn="l"/>
              </a:tabLst>
            </a:pPr>
            <a:r>
              <a:rPr sz="2200" b="1" spc="-30" dirty="0">
                <a:solidFill>
                  <a:srgbClr val="8063A1"/>
                </a:solidFill>
                <a:latin typeface="Arial"/>
                <a:cs typeface="Arial"/>
              </a:rPr>
              <a:t>When</a:t>
            </a:r>
            <a:r>
              <a:rPr sz="2200" b="1" spc="-75" dirty="0">
                <a:solidFill>
                  <a:srgbClr val="8063A1"/>
                </a:solidFill>
                <a:latin typeface="Arial"/>
                <a:cs typeface="Arial"/>
              </a:rPr>
              <a:t> </a:t>
            </a:r>
            <a:r>
              <a:rPr sz="2200" b="1" spc="-25" dirty="0">
                <a:solidFill>
                  <a:srgbClr val="8063A1"/>
                </a:solidFill>
                <a:latin typeface="Arial"/>
                <a:cs typeface="Arial"/>
              </a:rPr>
              <a:t>to</a:t>
            </a:r>
            <a:r>
              <a:rPr sz="2200" b="1" spc="-60" dirty="0">
                <a:solidFill>
                  <a:srgbClr val="8063A1"/>
                </a:solidFill>
                <a:latin typeface="Arial"/>
                <a:cs typeface="Arial"/>
              </a:rPr>
              <a:t> </a:t>
            </a:r>
            <a:r>
              <a:rPr sz="2200" b="1" spc="-30" dirty="0">
                <a:solidFill>
                  <a:srgbClr val="8063A1"/>
                </a:solidFill>
                <a:latin typeface="Arial"/>
                <a:cs typeface="Arial"/>
              </a:rPr>
              <a:t>Use</a:t>
            </a:r>
            <a:r>
              <a:rPr sz="2200" b="1" spc="-70" dirty="0">
                <a:solidFill>
                  <a:srgbClr val="8063A1"/>
                </a:solidFill>
                <a:latin typeface="Arial"/>
                <a:cs typeface="Arial"/>
              </a:rPr>
              <a:t> </a:t>
            </a:r>
            <a:r>
              <a:rPr sz="2200" b="1" spc="-35" dirty="0">
                <a:solidFill>
                  <a:srgbClr val="8063A1"/>
                </a:solidFill>
                <a:latin typeface="Arial"/>
                <a:cs typeface="Arial"/>
              </a:rPr>
              <a:t>Search</a:t>
            </a:r>
            <a:r>
              <a:rPr sz="2200" b="1" spc="-75" dirty="0">
                <a:solidFill>
                  <a:srgbClr val="8063A1"/>
                </a:solidFill>
                <a:latin typeface="Arial"/>
                <a:cs typeface="Arial"/>
              </a:rPr>
              <a:t> </a:t>
            </a:r>
            <a:r>
              <a:rPr sz="2200" b="1" spc="-50" dirty="0">
                <a:solidFill>
                  <a:srgbClr val="8063A1"/>
                </a:solidFill>
                <a:latin typeface="Arial"/>
                <a:cs typeface="Arial"/>
              </a:rPr>
              <a:t>Techniques?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2333" y="3699796"/>
            <a:ext cx="3896989" cy="310784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2263" y="564895"/>
            <a:ext cx="555053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A</a:t>
            </a:r>
            <a:r>
              <a:rPr spc="-305" dirty="0"/>
              <a:t>dve</a:t>
            </a:r>
            <a:r>
              <a:rPr spc="-300" dirty="0"/>
              <a:t>r</a:t>
            </a:r>
            <a:r>
              <a:rPr spc="-305" dirty="0"/>
              <a:t>s</a:t>
            </a:r>
            <a:r>
              <a:rPr spc="-320" dirty="0"/>
              <a:t>a</a:t>
            </a:r>
            <a:r>
              <a:rPr spc="-300" dirty="0"/>
              <a:t>r</a:t>
            </a:r>
            <a:r>
              <a:rPr spc="-315" dirty="0"/>
              <a:t>i</a:t>
            </a:r>
            <a:r>
              <a:rPr spc="-305" dirty="0"/>
              <a:t>a</a:t>
            </a:r>
            <a:r>
              <a:rPr dirty="0"/>
              <a:t>l</a:t>
            </a:r>
            <a:r>
              <a:rPr spc="-655" dirty="0"/>
              <a:t> </a:t>
            </a:r>
            <a:r>
              <a:rPr spc="-305" dirty="0"/>
              <a:t>Sea</a:t>
            </a:r>
            <a:r>
              <a:rPr spc="-300" dirty="0"/>
              <a:t>r</a:t>
            </a:r>
            <a:r>
              <a:rPr spc="-305" dirty="0"/>
              <a:t>c</a:t>
            </a:r>
            <a:r>
              <a:rPr dirty="0"/>
              <a:t>h</a:t>
            </a:r>
          </a:p>
          <a:p>
            <a:pPr marL="12700">
              <a:lnSpc>
                <a:spcPct val="100000"/>
              </a:lnSpc>
            </a:pPr>
            <a:r>
              <a:rPr dirty="0"/>
              <a:t>(</a:t>
            </a:r>
            <a:r>
              <a:rPr spc="-615" dirty="0"/>
              <a:t> </a:t>
            </a:r>
            <a:r>
              <a:rPr spc="-300" dirty="0"/>
              <a:t>H</a:t>
            </a:r>
            <a:r>
              <a:rPr spc="-310" dirty="0"/>
              <a:t>e</a:t>
            </a:r>
            <a:r>
              <a:rPr spc="-305" dirty="0"/>
              <a:t>u</a:t>
            </a:r>
            <a:r>
              <a:rPr spc="-300" dirty="0"/>
              <a:t>r</a:t>
            </a:r>
            <a:r>
              <a:rPr spc="-305" dirty="0"/>
              <a:t>i</a:t>
            </a:r>
            <a:r>
              <a:rPr spc="-320" dirty="0"/>
              <a:t>s</a:t>
            </a:r>
            <a:r>
              <a:rPr spc="-315" dirty="0"/>
              <a:t>t</a:t>
            </a:r>
            <a:r>
              <a:rPr spc="-305" dirty="0"/>
              <a:t>i</a:t>
            </a:r>
            <a:r>
              <a:rPr spc="-320" dirty="0"/>
              <a:t>c</a:t>
            </a:r>
            <a:r>
              <a:rPr dirty="0"/>
              <a:t>s</a:t>
            </a:r>
            <a:r>
              <a:rPr spc="-650" dirty="0"/>
              <a:t> </a:t>
            </a:r>
            <a:r>
              <a:rPr spc="-305" dirty="0"/>
              <a:t>i</a:t>
            </a:r>
            <a:r>
              <a:rPr dirty="0"/>
              <a:t>n</a:t>
            </a:r>
            <a:r>
              <a:rPr spc="-630" dirty="0"/>
              <a:t> </a:t>
            </a:r>
            <a:r>
              <a:rPr spc="-545" dirty="0"/>
              <a:t>T</a:t>
            </a:r>
            <a:r>
              <a:rPr spc="-295" dirty="0"/>
              <a:t>wo</a:t>
            </a:r>
            <a:r>
              <a:rPr spc="-315" dirty="0"/>
              <a:t>-</a:t>
            </a:r>
            <a:r>
              <a:rPr spc="-305" dirty="0"/>
              <a:t>P</a:t>
            </a:r>
            <a:r>
              <a:rPr spc="-320" dirty="0"/>
              <a:t>e</a:t>
            </a:r>
            <a:r>
              <a:rPr spc="-300" dirty="0"/>
              <a:t>r</a:t>
            </a:r>
            <a:r>
              <a:rPr spc="-310" dirty="0"/>
              <a:t>s</a:t>
            </a:r>
            <a:r>
              <a:rPr spc="-315" dirty="0"/>
              <a:t>o</a:t>
            </a:r>
            <a:r>
              <a:rPr dirty="0"/>
              <a:t>n</a:t>
            </a:r>
            <a:r>
              <a:rPr spc="-665" dirty="0"/>
              <a:t> </a:t>
            </a:r>
            <a:r>
              <a:rPr spc="-295" dirty="0"/>
              <a:t>G</a:t>
            </a:r>
            <a:r>
              <a:rPr spc="-310" dirty="0"/>
              <a:t>ame</a:t>
            </a:r>
            <a:r>
              <a:rPr dirty="0"/>
              <a:t>s</a:t>
            </a:r>
            <a:r>
              <a:rPr spc="-650" dirty="0"/>
              <a:t> </a:t>
            </a:r>
            <a:r>
              <a:rPr dirty="0"/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2263" y="1822449"/>
            <a:ext cx="7623809" cy="386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0"/>
              </a:spcBef>
              <a:buFont typeface="Courier New"/>
              <a:buChar char="o"/>
              <a:tabLst>
                <a:tab pos="355600" algn="l"/>
                <a:tab pos="1010919" algn="l"/>
                <a:tab pos="2033270" algn="l"/>
                <a:tab pos="2594610" algn="l"/>
                <a:tab pos="3190240" algn="l"/>
                <a:tab pos="3995420" algn="l"/>
                <a:tab pos="4539615" algn="l"/>
                <a:tab pos="5330190" algn="l"/>
                <a:tab pos="6813550" algn="l"/>
                <a:tab pos="7196455" algn="l"/>
              </a:tabLst>
            </a:pPr>
            <a:r>
              <a:rPr sz="2400" spc="-5" dirty="0">
                <a:latin typeface="Calibri"/>
                <a:cs typeface="Calibri"/>
              </a:rPr>
              <a:t>Tw</a:t>
            </a:r>
            <a:r>
              <a:rPr sz="2400" dirty="0">
                <a:latin typeface="Calibri"/>
                <a:cs typeface="Calibri"/>
              </a:rPr>
              <a:t>o	</a:t>
            </a:r>
            <a:r>
              <a:rPr sz="2400" spc="-5" dirty="0">
                <a:latin typeface="Calibri"/>
                <a:cs typeface="Calibri"/>
              </a:rPr>
              <a:t>pla</a:t>
            </a:r>
            <a:r>
              <a:rPr sz="2400" dirty="0">
                <a:latin typeface="Calibri"/>
                <a:cs typeface="Calibri"/>
              </a:rPr>
              <a:t>ye</a:t>
            </a:r>
            <a:r>
              <a:rPr sz="2400" spc="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s	</a:t>
            </a:r>
            <a:r>
              <a:rPr sz="2400" spc="-5" dirty="0">
                <a:latin typeface="Calibri"/>
                <a:cs typeface="Calibri"/>
              </a:rPr>
              <a:t>us</a:t>
            </a:r>
            <a:r>
              <a:rPr sz="2400" dirty="0">
                <a:latin typeface="Calibri"/>
                <a:cs typeface="Calibri"/>
              </a:rPr>
              <a:t>e	and	apply	the	</a:t>
            </a:r>
            <a:r>
              <a:rPr sz="2400" spc="-5" dirty="0">
                <a:latin typeface="Calibri"/>
                <a:cs typeface="Calibri"/>
              </a:rPr>
              <a:t>sam</a:t>
            </a:r>
            <a:r>
              <a:rPr sz="2400" dirty="0">
                <a:latin typeface="Calibri"/>
                <a:cs typeface="Calibri"/>
              </a:rPr>
              <a:t>e	knowl</a:t>
            </a:r>
            <a:r>
              <a:rPr sz="2400" spc="-15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dg</a:t>
            </a:r>
            <a:r>
              <a:rPr sz="2400" dirty="0">
                <a:latin typeface="Calibri"/>
                <a:cs typeface="Calibri"/>
              </a:rPr>
              <a:t>e	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f	the  </a:t>
            </a:r>
            <a:r>
              <a:rPr sz="2400" spc="-5" dirty="0">
                <a:latin typeface="Calibri"/>
                <a:cs typeface="Calibri"/>
              </a:rPr>
              <a:t>state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space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consistent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effort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game.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150000"/>
              </a:lnSpc>
              <a:buFont typeface="Courier New"/>
              <a:buChar char="o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Primary</a:t>
            </a:r>
            <a:r>
              <a:rPr sz="2400" spc="40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difficulty</a:t>
            </a:r>
            <a:r>
              <a:rPr sz="2400" spc="4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4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accounting</a:t>
            </a:r>
            <a:r>
              <a:rPr sz="2400" spc="39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for</a:t>
            </a:r>
            <a:r>
              <a:rPr sz="2400" spc="4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actions</a:t>
            </a:r>
            <a:r>
              <a:rPr sz="2400" spc="40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4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opponent.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latin typeface="Calibri"/>
                <a:cs typeface="Calibri"/>
              </a:rPr>
              <a:t>Two </a:t>
            </a:r>
            <a:r>
              <a:rPr sz="2400" b="1" spc="-5" dirty="0">
                <a:latin typeface="Calibri"/>
                <a:cs typeface="Calibri"/>
              </a:rPr>
              <a:t>heuristic pruning </a:t>
            </a:r>
            <a:r>
              <a:rPr sz="2400" spc="-5" dirty="0">
                <a:latin typeface="Calibri"/>
                <a:cs typeface="Calibri"/>
              </a:rPr>
              <a:t>procedures:</a:t>
            </a:r>
            <a:endParaRPr sz="2400">
              <a:latin typeface="Calibri"/>
              <a:cs typeface="Calibri"/>
            </a:endParaRPr>
          </a:p>
          <a:p>
            <a:pPr marL="812800" lvl="1" indent="-343535">
              <a:lnSpc>
                <a:spcPct val="100000"/>
              </a:lnSpc>
              <a:spcBef>
                <a:spcPts val="1445"/>
              </a:spcBef>
              <a:buFont typeface="Courier New"/>
              <a:buChar char="o"/>
              <a:tabLst>
                <a:tab pos="813435" algn="l"/>
              </a:tabLst>
            </a:pPr>
            <a:r>
              <a:rPr sz="2400" dirty="0">
                <a:latin typeface="Calibri"/>
                <a:cs typeface="Calibri"/>
              </a:rPr>
              <a:t>Minimax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procedure.</a:t>
            </a:r>
            <a:endParaRPr sz="2400">
              <a:latin typeface="Calibri"/>
              <a:cs typeface="Calibri"/>
            </a:endParaRPr>
          </a:p>
          <a:p>
            <a:pPr marL="812800" lvl="1" indent="-343535">
              <a:lnSpc>
                <a:spcPct val="100000"/>
              </a:lnSpc>
              <a:spcBef>
                <a:spcPts val="1440"/>
              </a:spcBef>
              <a:buFont typeface="Courier New"/>
              <a:buChar char="o"/>
              <a:tabLst>
                <a:tab pos="813435" algn="l"/>
              </a:tabLst>
            </a:pPr>
            <a:r>
              <a:rPr sz="2400" spc="-5" dirty="0">
                <a:latin typeface="Calibri"/>
                <a:cs typeface="Calibri"/>
              </a:rPr>
              <a:t>Alpha-beta procedure.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263" y="564895"/>
            <a:ext cx="31578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5" dirty="0"/>
              <a:t>Minima</a:t>
            </a:r>
            <a:r>
              <a:rPr dirty="0"/>
              <a:t>x</a:t>
            </a:r>
            <a:r>
              <a:rPr spc="-655" dirty="0"/>
              <a:t> </a:t>
            </a:r>
            <a:r>
              <a:rPr spc="-305" dirty="0"/>
              <a:t>P</a:t>
            </a:r>
            <a:r>
              <a:rPr spc="-300" dirty="0"/>
              <a:t>r</a:t>
            </a:r>
            <a:r>
              <a:rPr spc="-305" dirty="0"/>
              <a:t>oced</a:t>
            </a:r>
            <a:r>
              <a:rPr spc="-315" dirty="0"/>
              <a:t>u</a:t>
            </a:r>
            <a:r>
              <a:rPr spc="-300" dirty="0"/>
              <a:t>r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7002" y="1396999"/>
            <a:ext cx="417702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tabLst>
                <a:tab pos="1804670" algn="l"/>
                <a:tab pos="2347595" algn="l"/>
                <a:tab pos="3472179" algn="l"/>
                <a:tab pos="3882390" algn="l"/>
              </a:tabLst>
            </a:pPr>
            <a:r>
              <a:rPr sz="2200" spc="-5" dirty="0">
                <a:latin typeface="Courier New"/>
                <a:cs typeface="Courier New"/>
              </a:rPr>
              <a:t>o</a:t>
            </a:r>
            <a:r>
              <a:rPr sz="2200" spc="60" dirty="0">
                <a:latin typeface="Courier New"/>
                <a:cs typeface="Courier New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Opp</a:t>
            </a:r>
            <a:r>
              <a:rPr sz="2200" b="1" spc="-15" dirty="0">
                <a:latin typeface="Calibri"/>
                <a:cs typeface="Calibri"/>
              </a:rPr>
              <a:t>o</a:t>
            </a:r>
            <a:r>
              <a:rPr sz="2200" b="1" spc="-5" dirty="0">
                <a:latin typeface="Calibri"/>
                <a:cs typeface="Calibri"/>
              </a:rPr>
              <a:t>nents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spc="-5" dirty="0">
                <a:latin typeface="Calibri"/>
                <a:cs typeface="Calibri"/>
              </a:rPr>
              <a:t>a</a:t>
            </a:r>
            <a:r>
              <a:rPr sz="2200" b="1" dirty="0">
                <a:latin typeface="Calibri"/>
                <a:cs typeface="Calibri"/>
              </a:rPr>
              <a:t>r</a:t>
            </a:r>
            <a:r>
              <a:rPr sz="2200" b="1" spc="-5" dirty="0">
                <a:latin typeface="Calibri"/>
                <a:cs typeface="Calibri"/>
              </a:rPr>
              <a:t>e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spc="-10" dirty="0">
                <a:latin typeface="Calibri"/>
                <a:cs typeface="Calibri"/>
              </a:rPr>
              <a:t>r</a:t>
            </a:r>
            <a:r>
              <a:rPr sz="2200" b="1" dirty="0">
                <a:latin typeface="Calibri"/>
                <a:cs typeface="Calibri"/>
              </a:rPr>
              <a:t>e</a:t>
            </a:r>
            <a:r>
              <a:rPr sz="2200" b="1" spc="-10" dirty="0">
                <a:latin typeface="Calibri"/>
                <a:cs typeface="Calibri"/>
              </a:rPr>
              <a:t>f</a:t>
            </a:r>
            <a:r>
              <a:rPr sz="2200" b="1" spc="5" dirty="0">
                <a:latin typeface="Calibri"/>
                <a:cs typeface="Calibri"/>
              </a:rPr>
              <a:t>er</a:t>
            </a:r>
            <a:r>
              <a:rPr sz="2200" b="1" spc="-10" dirty="0">
                <a:latin typeface="Calibri"/>
                <a:cs typeface="Calibri"/>
              </a:rPr>
              <a:t>re</a:t>
            </a:r>
            <a:r>
              <a:rPr sz="2200" b="1" spc="-5" dirty="0">
                <a:latin typeface="Calibri"/>
                <a:cs typeface="Calibri"/>
              </a:rPr>
              <a:t>d</a:t>
            </a:r>
            <a:r>
              <a:rPr sz="2200" b="1" dirty="0">
                <a:latin typeface="Calibri"/>
                <a:cs typeface="Calibri"/>
              </a:rPr>
              <a:t>	t</a:t>
            </a:r>
            <a:r>
              <a:rPr sz="2200" b="1" spc="-5" dirty="0">
                <a:latin typeface="Calibri"/>
                <a:cs typeface="Calibri"/>
              </a:rPr>
              <a:t>o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spc="-10" dirty="0">
                <a:latin typeface="Calibri"/>
                <a:cs typeface="Calibri"/>
              </a:rPr>
              <a:t>by  </a:t>
            </a:r>
            <a:r>
              <a:rPr sz="2200" b="1" spc="-5" dirty="0">
                <a:latin typeface="Calibri"/>
                <a:cs typeface="Calibri"/>
              </a:rPr>
              <a:t>MAX.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12055" y="1396999"/>
            <a:ext cx="11995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49935" algn="l"/>
              </a:tabLst>
            </a:pPr>
            <a:r>
              <a:rPr sz="2200" b="1" spc="-10" dirty="0">
                <a:latin typeface="Calibri"/>
                <a:cs typeface="Calibri"/>
              </a:rPr>
              <a:t>MI</a:t>
            </a:r>
            <a:r>
              <a:rPr sz="2200" b="1" spc="-5" dirty="0">
                <a:latin typeface="Calibri"/>
                <a:cs typeface="Calibri"/>
              </a:rPr>
              <a:t>N,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spc="-5" dirty="0">
                <a:latin typeface="Calibri"/>
                <a:cs typeface="Calibri"/>
              </a:rPr>
              <a:t>a</a:t>
            </a:r>
            <a:r>
              <a:rPr sz="2200" b="1" spc="-15" dirty="0">
                <a:latin typeface="Calibri"/>
                <a:cs typeface="Calibri"/>
              </a:rPr>
              <a:t>n</a:t>
            </a:r>
            <a:r>
              <a:rPr sz="2200" b="1" spc="-5" dirty="0">
                <a:latin typeface="Calibri"/>
                <a:cs typeface="Calibri"/>
              </a:rPr>
              <a:t>d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7002" y="2067255"/>
            <a:ext cx="551561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37285" algn="l"/>
                <a:tab pos="2080895" algn="l"/>
                <a:tab pos="2475230" algn="l"/>
                <a:tab pos="3368675" algn="l"/>
                <a:tab pos="3830320" algn="l"/>
                <a:tab pos="5172075" algn="l"/>
              </a:tabLst>
            </a:pPr>
            <a:r>
              <a:rPr sz="2200" spc="-5" dirty="0">
                <a:latin typeface="Courier New"/>
                <a:cs typeface="Courier New"/>
              </a:rPr>
              <a:t>o</a:t>
            </a:r>
            <a:r>
              <a:rPr sz="2200" spc="60" dirty="0">
                <a:latin typeface="Courier New"/>
                <a:cs typeface="Courier New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MA</a:t>
            </a:r>
            <a:r>
              <a:rPr sz="2200" b="1" spc="-5" dirty="0">
                <a:latin typeface="Calibri"/>
                <a:cs typeface="Calibri"/>
              </a:rPr>
              <a:t>X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spc="-5" dirty="0">
                <a:latin typeface="Calibri"/>
                <a:cs typeface="Calibri"/>
              </a:rPr>
              <a:t>pl</a:t>
            </a:r>
            <a:r>
              <a:rPr sz="2200" b="1" spc="-20" dirty="0">
                <a:latin typeface="Calibri"/>
                <a:cs typeface="Calibri"/>
              </a:rPr>
              <a:t>a</a:t>
            </a:r>
            <a:r>
              <a:rPr sz="2200" b="1" spc="-5" dirty="0">
                <a:latin typeface="Calibri"/>
                <a:cs typeface="Calibri"/>
              </a:rPr>
              <a:t>y</a:t>
            </a:r>
            <a:r>
              <a:rPr sz="2200" b="1" spc="5" dirty="0">
                <a:latin typeface="Calibri"/>
                <a:cs typeface="Calibri"/>
              </a:rPr>
              <a:t>e</a:t>
            </a:r>
            <a:r>
              <a:rPr sz="2200" b="1" spc="-5" dirty="0">
                <a:latin typeface="Calibri"/>
                <a:cs typeface="Calibri"/>
              </a:rPr>
              <a:t>r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spc="-5" dirty="0">
                <a:latin typeface="Calibri"/>
                <a:cs typeface="Calibri"/>
              </a:rPr>
              <a:t>is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spc="-5" dirty="0">
                <a:latin typeface="Calibri"/>
                <a:cs typeface="Calibri"/>
              </a:rPr>
              <a:t>tr</a:t>
            </a:r>
            <a:r>
              <a:rPr sz="2200" b="1" dirty="0">
                <a:latin typeface="Calibri"/>
                <a:cs typeface="Calibri"/>
              </a:rPr>
              <a:t>y</a:t>
            </a:r>
            <a:r>
              <a:rPr sz="2200" b="1" spc="-5" dirty="0">
                <a:latin typeface="Calibri"/>
                <a:cs typeface="Calibri"/>
              </a:rPr>
              <a:t>ing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spc="-15" dirty="0">
                <a:latin typeface="Calibri"/>
                <a:cs typeface="Calibri"/>
              </a:rPr>
              <a:t>t</a:t>
            </a:r>
            <a:r>
              <a:rPr sz="2200" b="1" spc="-5" dirty="0">
                <a:latin typeface="Calibri"/>
                <a:cs typeface="Calibri"/>
              </a:rPr>
              <a:t>o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spc="-10" dirty="0">
                <a:latin typeface="Calibri"/>
                <a:cs typeface="Calibri"/>
              </a:rPr>
              <a:t>Maximiz</a:t>
            </a:r>
            <a:r>
              <a:rPr sz="2200" b="1" spc="-5" dirty="0">
                <a:latin typeface="Calibri"/>
                <a:cs typeface="Calibri"/>
              </a:rPr>
              <a:t>e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spc="-5" dirty="0">
                <a:latin typeface="Calibri"/>
                <a:cs typeface="Calibri"/>
              </a:rPr>
              <a:t>his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200" b="1" spc="-10" dirty="0">
                <a:latin typeface="Calibri"/>
                <a:cs typeface="Calibri"/>
              </a:rPr>
              <a:t>opportunity</a:t>
            </a:r>
            <a:r>
              <a:rPr sz="2200" b="1" spc="2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to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win.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7002" y="2738373"/>
            <a:ext cx="55156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21080" algn="l"/>
                <a:tab pos="1914525" algn="l"/>
                <a:tab pos="2257425" algn="l"/>
                <a:tab pos="3098800" algn="l"/>
                <a:tab pos="3510279" algn="l"/>
                <a:tab pos="4752340" algn="l"/>
              </a:tabLst>
            </a:pPr>
            <a:r>
              <a:rPr sz="2200" spc="-5" dirty="0">
                <a:latin typeface="Courier New"/>
                <a:cs typeface="Courier New"/>
              </a:rPr>
              <a:t>o</a:t>
            </a:r>
            <a:r>
              <a:rPr sz="2200" spc="65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alibri"/>
                <a:cs typeface="Calibri"/>
              </a:rPr>
              <a:t>MIN	player	is	trying	</a:t>
            </a:r>
            <a:r>
              <a:rPr sz="2200" b="1" dirty="0">
                <a:latin typeface="Calibri"/>
                <a:cs typeface="Calibri"/>
              </a:rPr>
              <a:t>to	</a:t>
            </a:r>
            <a:r>
              <a:rPr sz="2200" b="1" spc="-10" dirty="0">
                <a:latin typeface="Calibri"/>
                <a:cs typeface="Calibri"/>
              </a:rPr>
              <a:t>Minimize	MAX’s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9902" y="3073654"/>
            <a:ext cx="22923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latin typeface="Calibri"/>
                <a:cs typeface="Calibri"/>
              </a:rPr>
              <a:t>opportunity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to win.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7002" y="3744595"/>
            <a:ext cx="19761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Implemen</a:t>
            </a:r>
            <a:r>
              <a:rPr sz="2200" b="1" spc="-1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200" b="1" spc="-20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io</a:t>
            </a:r>
            <a:r>
              <a:rPr sz="2200" b="1" spc="-20" dirty="0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418897" y="1025461"/>
            <a:ext cx="1914525" cy="1304925"/>
            <a:chOff x="6418897" y="1025461"/>
            <a:chExt cx="1914525" cy="1304925"/>
          </a:xfrm>
        </p:grpSpPr>
        <p:sp>
          <p:nvSpPr>
            <p:cNvPr id="10" name="object 10"/>
            <p:cNvSpPr/>
            <p:nvPr/>
          </p:nvSpPr>
          <p:spPr>
            <a:xfrm>
              <a:off x="7185659" y="1030224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190500" y="0"/>
                  </a:moveTo>
                  <a:lnTo>
                    <a:pt x="0" y="304800"/>
                  </a:lnTo>
                  <a:lnTo>
                    <a:pt x="381000" y="3048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85659" y="1030224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0" y="304800"/>
                  </a:moveTo>
                  <a:lnTo>
                    <a:pt x="190500" y="0"/>
                  </a:lnTo>
                  <a:lnTo>
                    <a:pt x="381000" y="304800"/>
                  </a:lnTo>
                  <a:lnTo>
                    <a:pt x="0" y="3048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23659" y="2020824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380999" y="0"/>
                  </a:moveTo>
                  <a:lnTo>
                    <a:pt x="0" y="0"/>
                  </a:lnTo>
                  <a:lnTo>
                    <a:pt x="190499" y="304800"/>
                  </a:lnTo>
                  <a:lnTo>
                    <a:pt x="380999" y="0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23659" y="2020824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380999" y="0"/>
                  </a:moveTo>
                  <a:lnTo>
                    <a:pt x="190499" y="304800"/>
                  </a:lnTo>
                  <a:lnTo>
                    <a:pt x="0" y="0"/>
                  </a:lnTo>
                  <a:lnTo>
                    <a:pt x="380999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947659" y="2020824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381000" y="0"/>
                  </a:moveTo>
                  <a:lnTo>
                    <a:pt x="0" y="0"/>
                  </a:lnTo>
                  <a:lnTo>
                    <a:pt x="190500" y="30480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947659" y="2020824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381000" y="0"/>
                  </a:moveTo>
                  <a:lnTo>
                    <a:pt x="190500" y="304800"/>
                  </a:lnTo>
                  <a:lnTo>
                    <a:pt x="0" y="0"/>
                  </a:lnTo>
                  <a:lnTo>
                    <a:pt x="38100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042659" y="3316223"/>
            <a:ext cx="381000" cy="304800"/>
          </a:xfrm>
          <a:prstGeom prst="rect">
            <a:avLst/>
          </a:prstGeom>
          <a:solidFill>
            <a:srgbClr val="BC92DE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5730">
              <a:lnSpc>
                <a:spcPts val="2280"/>
              </a:lnSpc>
            </a:pPr>
            <a:r>
              <a:rPr sz="2000" b="1" dirty="0">
                <a:latin typeface="Calibri"/>
                <a:cs typeface="Calibri"/>
              </a:rPr>
              <a:t>8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28459" y="3316223"/>
            <a:ext cx="381000" cy="304800"/>
          </a:xfrm>
          <a:prstGeom prst="rect">
            <a:avLst/>
          </a:prstGeom>
          <a:solidFill>
            <a:srgbClr val="BC92DE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5730">
              <a:lnSpc>
                <a:spcPts val="2280"/>
              </a:lnSpc>
            </a:pPr>
            <a:r>
              <a:rPr sz="2000" b="1" dirty="0"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66659" y="3316223"/>
            <a:ext cx="381000" cy="304800"/>
          </a:xfrm>
          <a:prstGeom prst="rect">
            <a:avLst/>
          </a:prstGeom>
          <a:solidFill>
            <a:srgbClr val="BC92DE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6364">
              <a:lnSpc>
                <a:spcPts val="2280"/>
              </a:lnSpc>
            </a:pPr>
            <a:r>
              <a:rPr sz="2000" b="1" dirty="0">
                <a:latin typeface="Calibri"/>
                <a:cs typeface="Calibri"/>
              </a:rPr>
              <a:t>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28659" y="3316223"/>
            <a:ext cx="381000" cy="304800"/>
          </a:xfrm>
          <a:prstGeom prst="rect">
            <a:avLst/>
          </a:prstGeom>
          <a:solidFill>
            <a:srgbClr val="BC92DE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6364">
              <a:lnSpc>
                <a:spcPts val="2280"/>
              </a:lnSpc>
            </a:pPr>
            <a:r>
              <a:rPr sz="2000" b="1" dirty="0">
                <a:latin typeface="Calibri"/>
                <a:cs typeface="Calibri"/>
              </a:rPr>
              <a:t>6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224905" y="1330324"/>
            <a:ext cx="2302510" cy="1986280"/>
          </a:xfrm>
          <a:custGeom>
            <a:avLst/>
            <a:gdLst/>
            <a:ahLst/>
            <a:cxnLst/>
            <a:rect l="l" t="t" r="r" b="b"/>
            <a:pathLst>
              <a:path w="2302509" h="1986279">
                <a:moveTo>
                  <a:pt x="708025" y="1901825"/>
                </a:moveTo>
                <a:lnTo>
                  <a:pt x="677748" y="1911184"/>
                </a:lnTo>
                <a:lnTo>
                  <a:pt x="395351" y="993394"/>
                </a:lnTo>
                <a:lnTo>
                  <a:pt x="389255" y="995299"/>
                </a:lnTo>
                <a:lnTo>
                  <a:pt x="383286" y="993013"/>
                </a:lnTo>
                <a:lnTo>
                  <a:pt x="29679" y="1912518"/>
                </a:lnTo>
                <a:lnTo>
                  <a:pt x="0" y="1901063"/>
                </a:lnTo>
                <a:lnTo>
                  <a:pt x="8255" y="1985899"/>
                </a:lnTo>
                <a:lnTo>
                  <a:pt x="70700" y="1928876"/>
                </a:lnTo>
                <a:lnTo>
                  <a:pt x="71120" y="1928495"/>
                </a:lnTo>
                <a:lnTo>
                  <a:pt x="41490" y="1917077"/>
                </a:lnTo>
                <a:lnTo>
                  <a:pt x="388581" y="1014844"/>
                </a:lnTo>
                <a:lnTo>
                  <a:pt x="665543" y="1914956"/>
                </a:lnTo>
                <a:lnTo>
                  <a:pt x="635254" y="1924304"/>
                </a:lnTo>
                <a:lnTo>
                  <a:pt x="694055" y="1985899"/>
                </a:lnTo>
                <a:lnTo>
                  <a:pt x="703821" y="1927098"/>
                </a:lnTo>
                <a:lnTo>
                  <a:pt x="708025" y="1901825"/>
                </a:lnTo>
                <a:close/>
              </a:path>
              <a:path w="2302509" h="1986279">
                <a:moveTo>
                  <a:pt x="1913255" y="690499"/>
                </a:moveTo>
                <a:lnTo>
                  <a:pt x="1898434" y="652780"/>
                </a:lnTo>
                <a:lnTo>
                  <a:pt x="1882140" y="611251"/>
                </a:lnTo>
                <a:lnTo>
                  <a:pt x="1860918" y="634796"/>
                </a:lnTo>
                <a:lnTo>
                  <a:pt x="1155446" y="0"/>
                </a:lnTo>
                <a:lnTo>
                  <a:pt x="1151255" y="4699"/>
                </a:lnTo>
                <a:lnTo>
                  <a:pt x="1147064" y="0"/>
                </a:lnTo>
                <a:lnTo>
                  <a:pt x="441579" y="634796"/>
                </a:lnTo>
                <a:lnTo>
                  <a:pt x="420370" y="611251"/>
                </a:lnTo>
                <a:lnTo>
                  <a:pt x="389242" y="690499"/>
                </a:lnTo>
                <a:lnTo>
                  <a:pt x="471424" y="667893"/>
                </a:lnTo>
                <a:lnTo>
                  <a:pt x="457796" y="652780"/>
                </a:lnTo>
                <a:lnTo>
                  <a:pt x="450126" y="644283"/>
                </a:lnTo>
                <a:lnTo>
                  <a:pt x="1151242" y="13182"/>
                </a:lnTo>
                <a:lnTo>
                  <a:pt x="1852371" y="644283"/>
                </a:lnTo>
                <a:lnTo>
                  <a:pt x="1831086" y="667893"/>
                </a:lnTo>
                <a:lnTo>
                  <a:pt x="1913255" y="690499"/>
                </a:lnTo>
                <a:close/>
              </a:path>
              <a:path w="2302509" h="1986279">
                <a:moveTo>
                  <a:pt x="2302510" y="1901063"/>
                </a:moveTo>
                <a:lnTo>
                  <a:pt x="2272817" y="1912518"/>
                </a:lnTo>
                <a:lnTo>
                  <a:pt x="1919224" y="993013"/>
                </a:lnTo>
                <a:lnTo>
                  <a:pt x="1913255" y="995299"/>
                </a:lnTo>
                <a:lnTo>
                  <a:pt x="1907286" y="993013"/>
                </a:lnTo>
                <a:lnTo>
                  <a:pt x="1553679" y="1912518"/>
                </a:lnTo>
                <a:lnTo>
                  <a:pt x="1524000" y="1901063"/>
                </a:lnTo>
                <a:lnTo>
                  <a:pt x="1532255" y="1985899"/>
                </a:lnTo>
                <a:lnTo>
                  <a:pt x="1594700" y="1928876"/>
                </a:lnTo>
                <a:lnTo>
                  <a:pt x="1595120" y="1928495"/>
                </a:lnTo>
                <a:lnTo>
                  <a:pt x="1565490" y="1917077"/>
                </a:lnTo>
                <a:lnTo>
                  <a:pt x="1913242" y="1013104"/>
                </a:lnTo>
                <a:lnTo>
                  <a:pt x="2261006" y="1917077"/>
                </a:lnTo>
                <a:lnTo>
                  <a:pt x="2231390" y="1928495"/>
                </a:lnTo>
                <a:lnTo>
                  <a:pt x="2294255" y="1985899"/>
                </a:lnTo>
                <a:lnTo>
                  <a:pt x="2299792" y="1928876"/>
                </a:lnTo>
                <a:lnTo>
                  <a:pt x="2302510" y="19010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521700" y="1946529"/>
            <a:ext cx="4311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Calibri"/>
                <a:cs typeface="Calibri"/>
              </a:rPr>
              <a:t>min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42658" y="1946910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76056" y="1934667"/>
            <a:ext cx="154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891021" y="3088385"/>
            <a:ext cx="3048000" cy="762000"/>
          </a:xfrm>
          <a:custGeom>
            <a:avLst/>
            <a:gdLst/>
            <a:ahLst/>
            <a:cxnLst/>
            <a:rect l="l" t="t" r="r" b="b"/>
            <a:pathLst>
              <a:path w="3048000" h="762000">
                <a:moveTo>
                  <a:pt x="0" y="127000"/>
                </a:moveTo>
                <a:lnTo>
                  <a:pt x="9985" y="77581"/>
                </a:lnTo>
                <a:lnTo>
                  <a:pt x="37211" y="37211"/>
                </a:lnTo>
                <a:lnTo>
                  <a:pt x="77581" y="9985"/>
                </a:lnTo>
                <a:lnTo>
                  <a:pt x="127000" y="0"/>
                </a:lnTo>
                <a:lnTo>
                  <a:pt x="2921000" y="0"/>
                </a:lnTo>
                <a:lnTo>
                  <a:pt x="2970418" y="9985"/>
                </a:lnTo>
                <a:lnTo>
                  <a:pt x="3010789" y="37211"/>
                </a:lnTo>
                <a:lnTo>
                  <a:pt x="3038014" y="77581"/>
                </a:lnTo>
                <a:lnTo>
                  <a:pt x="3048000" y="127000"/>
                </a:lnTo>
                <a:lnTo>
                  <a:pt x="3048000" y="635000"/>
                </a:lnTo>
                <a:lnTo>
                  <a:pt x="3038014" y="684418"/>
                </a:lnTo>
                <a:lnTo>
                  <a:pt x="3010789" y="724788"/>
                </a:lnTo>
                <a:lnTo>
                  <a:pt x="2970418" y="752014"/>
                </a:lnTo>
                <a:lnTo>
                  <a:pt x="2921000" y="762000"/>
                </a:lnTo>
                <a:lnTo>
                  <a:pt x="127000" y="762000"/>
                </a:lnTo>
                <a:lnTo>
                  <a:pt x="77581" y="752014"/>
                </a:lnTo>
                <a:lnTo>
                  <a:pt x="37211" y="724788"/>
                </a:lnTo>
                <a:lnTo>
                  <a:pt x="9985" y="684418"/>
                </a:lnTo>
                <a:lnTo>
                  <a:pt x="0" y="635000"/>
                </a:lnTo>
                <a:lnTo>
                  <a:pt x="0" y="127000"/>
                </a:lnTo>
                <a:close/>
              </a:path>
            </a:pathLst>
          </a:custGeom>
          <a:ln w="25908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437123" y="3829050"/>
            <a:ext cx="35528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Calibri"/>
                <a:cs typeface="Calibri"/>
              </a:rPr>
              <a:t>Terminal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values: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part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 the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game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891021" y="838961"/>
            <a:ext cx="3124200" cy="1676400"/>
          </a:xfrm>
          <a:custGeom>
            <a:avLst/>
            <a:gdLst/>
            <a:ahLst/>
            <a:cxnLst/>
            <a:rect l="l" t="t" r="r" b="b"/>
            <a:pathLst>
              <a:path w="3124200" h="1676400">
                <a:moveTo>
                  <a:pt x="0" y="279400"/>
                </a:moveTo>
                <a:lnTo>
                  <a:pt x="3656" y="234080"/>
                </a:lnTo>
                <a:lnTo>
                  <a:pt x="14244" y="191089"/>
                </a:lnTo>
                <a:lnTo>
                  <a:pt x="31186" y="151001"/>
                </a:lnTo>
                <a:lnTo>
                  <a:pt x="53908" y="114391"/>
                </a:lnTo>
                <a:lnTo>
                  <a:pt x="81835" y="81835"/>
                </a:lnTo>
                <a:lnTo>
                  <a:pt x="114391" y="53908"/>
                </a:lnTo>
                <a:lnTo>
                  <a:pt x="151001" y="31186"/>
                </a:lnTo>
                <a:lnTo>
                  <a:pt x="191089" y="14244"/>
                </a:lnTo>
                <a:lnTo>
                  <a:pt x="234080" y="3656"/>
                </a:lnTo>
                <a:lnTo>
                  <a:pt x="279400" y="0"/>
                </a:lnTo>
                <a:lnTo>
                  <a:pt x="2844800" y="0"/>
                </a:lnTo>
                <a:lnTo>
                  <a:pt x="2890119" y="3656"/>
                </a:lnTo>
                <a:lnTo>
                  <a:pt x="2933110" y="14244"/>
                </a:lnTo>
                <a:lnTo>
                  <a:pt x="2973198" y="31186"/>
                </a:lnTo>
                <a:lnTo>
                  <a:pt x="3009808" y="53908"/>
                </a:lnTo>
                <a:lnTo>
                  <a:pt x="3042364" y="81835"/>
                </a:lnTo>
                <a:lnTo>
                  <a:pt x="3070291" y="114391"/>
                </a:lnTo>
                <a:lnTo>
                  <a:pt x="3093013" y="151001"/>
                </a:lnTo>
                <a:lnTo>
                  <a:pt x="3109955" y="191089"/>
                </a:lnTo>
                <a:lnTo>
                  <a:pt x="3120543" y="234080"/>
                </a:lnTo>
                <a:lnTo>
                  <a:pt x="3124200" y="279400"/>
                </a:lnTo>
                <a:lnTo>
                  <a:pt x="3124200" y="1397000"/>
                </a:lnTo>
                <a:lnTo>
                  <a:pt x="3120543" y="1442319"/>
                </a:lnTo>
                <a:lnTo>
                  <a:pt x="3109955" y="1485310"/>
                </a:lnTo>
                <a:lnTo>
                  <a:pt x="3093013" y="1525398"/>
                </a:lnTo>
                <a:lnTo>
                  <a:pt x="3070291" y="1562008"/>
                </a:lnTo>
                <a:lnTo>
                  <a:pt x="3042364" y="1594564"/>
                </a:lnTo>
                <a:lnTo>
                  <a:pt x="3009808" y="1622491"/>
                </a:lnTo>
                <a:lnTo>
                  <a:pt x="2973198" y="1645213"/>
                </a:lnTo>
                <a:lnTo>
                  <a:pt x="2933110" y="1662155"/>
                </a:lnTo>
                <a:lnTo>
                  <a:pt x="2890119" y="1672743"/>
                </a:lnTo>
                <a:lnTo>
                  <a:pt x="2844800" y="1676400"/>
                </a:lnTo>
                <a:lnTo>
                  <a:pt x="279400" y="1676400"/>
                </a:lnTo>
                <a:lnTo>
                  <a:pt x="234080" y="1672743"/>
                </a:lnTo>
                <a:lnTo>
                  <a:pt x="191089" y="1662155"/>
                </a:lnTo>
                <a:lnTo>
                  <a:pt x="151001" y="1645213"/>
                </a:lnTo>
                <a:lnTo>
                  <a:pt x="114391" y="1622491"/>
                </a:lnTo>
                <a:lnTo>
                  <a:pt x="81835" y="1594564"/>
                </a:lnTo>
                <a:lnTo>
                  <a:pt x="53908" y="1562008"/>
                </a:lnTo>
                <a:lnTo>
                  <a:pt x="31186" y="1525398"/>
                </a:lnTo>
                <a:lnTo>
                  <a:pt x="14244" y="1485310"/>
                </a:lnTo>
                <a:lnTo>
                  <a:pt x="3656" y="1442319"/>
                </a:lnTo>
                <a:lnTo>
                  <a:pt x="0" y="1397000"/>
                </a:lnTo>
                <a:lnTo>
                  <a:pt x="0" y="279400"/>
                </a:lnTo>
                <a:close/>
              </a:path>
            </a:pathLst>
          </a:custGeom>
          <a:ln w="25908">
            <a:solidFill>
              <a:srgbClr val="F795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265926" y="141477"/>
            <a:ext cx="2372360" cy="1231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09245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latin typeface="Calibri"/>
                <a:cs typeface="Calibri"/>
              </a:rPr>
              <a:t>Minimax values: 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Computed</a:t>
            </a:r>
            <a:r>
              <a:rPr sz="2000" b="1" spc="-9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Recursively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Calibri"/>
              <a:cs typeface="Calibri"/>
            </a:endParaRPr>
          </a:p>
          <a:p>
            <a:pPr marL="1061720">
              <a:lnSpc>
                <a:spcPct val="100000"/>
              </a:lnSpc>
              <a:tabLst>
                <a:tab pos="1431925" algn="l"/>
              </a:tabLst>
            </a:pPr>
            <a:r>
              <a:rPr sz="2000" b="1" dirty="0">
                <a:latin typeface="Calibri"/>
                <a:cs typeface="Calibri"/>
              </a:rPr>
              <a:t>5	</a:t>
            </a:r>
            <a:r>
              <a:rPr sz="3000" b="1" spc="-15" baseline="2777" dirty="0">
                <a:latin typeface="Calibri"/>
                <a:cs typeface="Calibri"/>
              </a:rPr>
              <a:t>max</a:t>
            </a:r>
            <a:endParaRPr sz="3000" baseline="2777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97307" y="4318761"/>
            <a:ext cx="8752840" cy="2372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Courier New"/>
              <a:buChar char="o"/>
              <a:tabLst>
                <a:tab pos="355600" algn="l"/>
              </a:tabLst>
            </a:pP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Label</a:t>
            </a:r>
            <a:r>
              <a:rPr sz="2200" b="1" spc="1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each</a:t>
            </a:r>
            <a:r>
              <a:rPr sz="2200" b="1" spc="1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level</a:t>
            </a:r>
            <a:r>
              <a:rPr sz="2200" b="1" spc="1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1F487C"/>
                </a:solidFill>
                <a:latin typeface="Calibri"/>
                <a:cs typeface="Calibri"/>
              </a:rPr>
              <a:t>of</a:t>
            </a:r>
            <a:r>
              <a:rPr sz="2200" b="1" spc="1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the</a:t>
            </a:r>
            <a:r>
              <a:rPr sz="2200" b="1" spc="1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search</a:t>
            </a:r>
            <a:r>
              <a:rPr sz="2200" b="1" spc="1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graph</a:t>
            </a:r>
            <a:r>
              <a:rPr sz="2200" b="1" spc="1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with</a:t>
            </a:r>
            <a:r>
              <a:rPr sz="2200" b="1" spc="114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MIN</a:t>
            </a:r>
            <a:r>
              <a:rPr sz="2200" b="1" spc="1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1F487C"/>
                </a:solidFill>
                <a:latin typeface="Calibri"/>
                <a:cs typeface="Calibri"/>
              </a:rPr>
              <a:t>or</a:t>
            </a:r>
            <a:r>
              <a:rPr sz="2200" b="1" spc="1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1F487C"/>
                </a:solidFill>
                <a:latin typeface="Calibri"/>
                <a:cs typeface="Calibri"/>
              </a:rPr>
              <a:t>MAX</a:t>
            </a:r>
            <a:r>
              <a:rPr sz="2200" b="1" spc="1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according</a:t>
            </a:r>
            <a:r>
              <a:rPr sz="2200" b="1" spc="1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1F487C"/>
                </a:solidFill>
                <a:latin typeface="Calibri"/>
                <a:cs typeface="Calibri"/>
              </a:rPr>
              <a:t>to</a:t>
            </a:r>
            <a:r>
              <a:rPr sz="2200" b="1" spc="1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the </a:t>
            </a:r>
            <a:r>
              <a:rPr sz="2200" b="1" spc="-48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order</a:t>
            </a:r>
            <a:r>
              <a:rPr sz="2200" b="1" spc="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of</a:t>
            </a:r>
            <a:r>
              <a:rPr sz="2200" b="1" spc="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playing.</a:t>
            </a:r>
            <a:endParaRPr sz="22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buFont typeface="Courier New"/>
              <a:buChar char="o"/>
              <a:tabLst>
                <a:tab pos="355600" algn="l"/>
              </a:tabLst>
            </a:pP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Each</a:t>
            </a:r>
            <a:r>
              <a:rPr sz="2200" b="1" spc="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leaf</a:t>
            </a:r>
            <a:r>
              <a:rPr sz="2200" b="1" spc="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node</a:t>
            </a:r>
            <a:r>
              <a:rPr sz="2200" b="1" spc="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is</a:t>
            </a:r>
            <a:r>
              <a:rPr sz="2200" b="1" spc="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assigned</a:t>
            </a:r>
            <a:r>
              <a:rPr sz="2200" b="1" spc="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a</a:t>
            </a:r>
            <a:r>
              <a:rPr sz="2200" b="1" spc="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value</a:t>
            </a:r>
            <a:r>
              <a:rPr sz="2200" b="1" spc="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of</a:t>
            </a:r>
            <a:r>
              <a:rPr sz="2200" b="1" spc="6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0</a:t>
            </a:r>
            <a:r>
              <a:rPr sz="2200" b="1" spc="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or</a:t>
            </a:r>
            <a:r>
              <a:rPr sz="2200" b="1" spc="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1</a:t>
            </a:r>
            <a:r>
              <a:rPr sz="2200" b="1" spc="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depending</a:t>
            </a:r>
            <a:r>
              <a:rPr sz="2200" b="1" spc="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on</a:t>
            </a:r>
            <a:r>
              <a:rPr sz="2200" b="1" spc="5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whether</a:t>
            </a:r>
            <a:r>
              <a:rPr sz="2200" b="1" spc="5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1F487C"/>
                </a:solidFill>
                <a:latin typeface="Calibri"/>
                <a:cs typeface="Calibri"/>
              </a:rPr>
              <a:t>it</a:t>
            </a:r>
            <a:r>
              <a:rPr sz="2200" b="1" spc="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is</a:t>
            </a:r>
            <a:r>
              <a:rPr sz="2200" b="1" spc="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a </a:t>
            </a:r>
            <a:r>
              <a:rPr sz="2200" b="1" spc="-48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win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 for</a:t>
            </a:r>
            <a:r>
              <a:rPr sz="2200" b="1" spc="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MIN,</a:t>
            </a:r>
            <a:r>
              <a:rPr sz="2200" b="1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or</a:t>
            </a:r>
            <a:r>
              <a:rPr sz="2200" b="1" spc="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MAX.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Courier New"/>
              <a:buChar char="o"/>
              <a:tabLst>
                <a:tab pos="355600" algn="l"/>
              </a:tabLst>
            </a:pP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MAX</a:t>
            </a:r>
            <a:r>
              <a:rPr sz="2200" b="1" spc="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parent</a:t>
            </a:r>
            <a:r>
              <a:rPr sz="2200" b="1" spc="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nodes</a:t>
            </a:r>
            <a:r>
              <a:rPr sz="2200" b="1" spc="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are</a:t>
            </a:r>
            <a:r>
              <a:rPr sz="2200" b="1" spc="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assigned </a:t>
            </a: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the</a:t>
            </a:r>
            <a:r>
              <a:rPr sz="2200" b="1" spc="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maximum</a:t>
            </a:r>
            <a:r>
              <a:rPr sz="2200" b="1" spc="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of</a:t>
            </a:r>
            <a:r>
              <a:rPr sz="2200" b="1" spc="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their</a:t>
            </a:r>
            <a:r>
              <a:rPr sz="2200" b="1" spc="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children.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Courier New"/>
              <a:buChar char="o"/>
              <a:tabLst>
                <a:tab pos="355600" algn="l"/>
              </a:tabLst>
            </a:pP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MIN</a:t>
            </a:r>
            <a:r>
              <a:rPr sz="2200" b="1" spc="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parent</a:t>
            </a:r>
            <a:r>
              <a:rPr sz="2200" b="1" spc="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nodes</a:t>
            </a:r>
            <a:r>
              <a:rPr sz="2200" b="1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are</a:t>
            </a:r>
            <a:r>
              <a:rPr sz="2200" b="1" spc="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assigned</a:t>
            </a: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the</a:t>
            </a:r>
            <a:r>
              <a:rPr sz="2200" b="1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minimum</a:t>
            </a:r>
            <a:r>
              <a:rPr sz="2200" b="1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of</a:t>
            </a:r>
            <a:r>
              <a:rPr sz="2200" b="1" spc="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their</a:t>
            </a:r>
            <a:r>
              <a:rPr sz="2200" b="1" spc="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children.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355600" algn="l"/>
              </a:tabLst>
            </a:pP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Derived</a:t>
            </a:r>
            <a:r>
              <a:rPr sz="2200" b="1" spc="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values</a:t>
            </a:r>
            <a:r>
              <a:rPr sz="2200" b="1" spc="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are</a:t>
            </a:r>
            <a:r>
              <a:rPr sz="2200" b="1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used</a:t>
            </a:r>
            <a:r>
              <a:rPr sz="2200" b="1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to</a:t>
            </a:r>
            <a:r>
              <a:rPr sz="2200" b="1" spc="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1F487C"/>
                </a:solidFill>
                <a:latin typeface="Calibri"/>
                <a:cs typeface="Calibri"/>
              </a:rPr>
              <a:t>choose</a:t>
            </a:r>
            <a:r>
              <a:rPr sz="2200" b="1" spc="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among</a:t>
            </a:r>
            <a:r>
              <a:rPr sz="2200" b="1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possible</a:t>
            </a:r>
            <a:r>
              <a:rPr sz="2200" b="1" spc="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1F487C"/>
                </a:solidFill>
                <a:latin typeface="Calibri"/>
                <a:cs typeface="Calibri"/>
              </a:rPr>
              <a:t>moves.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263" y="564895"/>
            <a:ext cx="36506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5" dirty="0"/>
              <a:t>Minima</a:t>
            </a:r>
            <a:r>
              <a:rPr dirty="0"/>
              <a:t>x</a:t>
            </a:r>
            <a:r>
              <a:rPr spc="-655" dirty="0"/>
              <a:t> </a:t>
            </a:r>
            <a:r>
              <a:rPr spc="-484" dirty="0"/>
              <a:t>T</a:t>
            </a:r>
            <a:r>
              <a:rPr spc="-300" dirty="0"/>
              <a:t>r</a:t>
            </a:r>
            <a:r>
              <a:rPr spc="-305" dirty="0"/>
              <a:t>e</a:t>
            </a:r>
            <a:r>
              <a:rPr dirty="0"/>
              <a:t>e</a:t>
            </a:r>
            <a:r>
              <a:rPr spc="-630" dirty="0"/>
              <a:t> </a:t>
            </a:r>
            <a:r>
              <a:rPr spc="-305" dirty="0"/>
              <a:t>Exampl</a:t>
            </a:r>
            <a:r>
              <a:rPr dirty="0"/>
              <a:t>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71462" y="30480"/>
            <a:ext cx="8872855" cy="6238240"/>
            <a:chOff x="271462" y="30480"/>
            <a:chExt cx="8872855" cy="62382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462" y="2103119"/>
              <a:ext cx="8872537" cy="41650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81400" y="30480"/>
              <a:ext cx="2743200" cy="25359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263" y="564895"/>
            <a:ext cx="760920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5" dirty="0"/>
              <a:t>Minima</a:t>
            </a:r>
            <a:r>
              <a:rPr dirty="0"/>
              <a:t>x</a:t>
            </a:r>
            <a:r>
              <a:rPr spc="-655" dirty="0"/>
              <a:t> </a:t>
            </a:r>
            <a:r>
              <a:rPr spc="-300" dirty="0"/>
              <a:t>t</a:t>
            </a:r>
            <a:r>
              <a:rPr dirty="0"/>
              <a:t>o</a:t>
            </a:r>
            <a:r>
              <a:rPr spc="-630" dirty="0"/>
              <a:t> </a:t>
            </a:r>
            <a:r>
              <a:rPr dirty="0"/>
              <a:t>a</a:t>
            </a:r>
            <a:r>
              <a:rPr spc="-630" dirty="0"/>
              <a:t> </a:t>
            </a:r>
            <a:r>
              <a:rPr spc="-305" dirty="0">
                <a:solidFill>
                  <a:srgbClr val="C00000"/>
                </a:solidFill>
              </a:rPr>
              <a:t>Fixe</a:t>
            </a:r>
            <a:r>
              <a:rPr dirty="0">
                <a:solidFill>
                  <a:srgbClr val="C00000"/>
                </a:solidFill>
              </a:rPr>
              <a:t>d</a:t>
            </a:r>
            <a:r>
              <a:rPr spc="-650" dirty="0">
                <a:solidFill>
                  <a:srgbClr val="C00000"/>
                </a:solidFill>
              </a:rPr>
              <a:t> </a:t>
            </a:r>
            <a:r>
              <a:rPr spc="-300" dirty="0">
                <a:solidFill>
                  <a:srgbClr val="C00000"/>
                </a:solidFill>
              </a:rPr>
              <a:t>P</a:t>
            </a:r>
            <a:r>
              <a:rPr spc="-305" dirty="0">
                <a:solidFill>
                  <a:srgbClr val="C00000"/>
                </a:solidFill>
              </a:rPr>
              <a:t>l</a:t>
            </a:r>
            <a:r>
              <a:rPr dirty="0">
                <a:solidFill>
                  <a:srgbClr val="C00000"/>
                </a:solidFill>
              </a:rPr>
              <a:t>y</a:t>
            </a:r>
            <a:r>
              <a:rPr spc="-620" dirty="0">
                <a:solidFill>
                  <a:srgbClr val="C00000"/>
                </a:solidFill>
              </a:rPr>
              <a:t> </a:t>
            </a:r>
            <a:r>
              <a:rPr spc="-295" dirty="0">
                <a:solidFill>
                  <a:srgbClr val="C00000"/>
                </a:solidFill>
              </a:rPr>
              <a:t>D</a:t>
            </a:r>
            <a:r>
              <a:rPr spc="-305" dirty="0">
                <a:solidFill>
                  <a:srgbClr val="C00000"/>
                </a:solidFill>
              </a:rPr>
              <a:t>ep</a:t>
            </a:r>
            <a:r>
              <a:rPr spc="-300" dirty="0">
                <a:solidFill>
                  <a:srgbClr val="C00000"/>
                </a:solidFill>
              </a:rPr>
              <a:t>t</a:t>
            </a:r>
            <a:r>
              <a:rPr dirty="0">
                <a:solidFill>
                  <a:srgbClr val="C00000"/>
                </a:solidFill>
              </a:rPr>
              <a:t>h</a:t>
            </a:r>
          </a:p>
          <a:p>
            <a:pPr marL="12700">
              <a:lnSpc>
                <a:spcPct val="100000"/>
              </a:lnSpc>
            </a:pPr>
            <a:r>
              <a:rPr b="0" spc="-265" dirty="0">
                <a:solidFill>
                  <a:srgbClr val="252525"/>
                </a:solidFill>
                <a:latin typeface="Arial MT"/>
                <a:cs typeface="Arial MT"/>
              </a:rPr>
              <a:t>Example:</a:t>
            </a:r>
            <a:r>
              <a:rPr b="0" spc="-6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b="0" spc="-265" dirty="0">
                <a:solidFill>
                  <a:srgbClr val="252525"/>
                </a:solidFill>
                <a:latin typeface="Arial MT"/>
                <a:cs typeface="Arial MT"/>
              </a:rPr>
              <a:t>Minimax</a:t>
            </a:r>
            <a:r>
              <a:rPr b="0" spc="-6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b="0" spc="-155" dirty="0">
                <a:solidFill>
                  <a:srgbClr val="252525"/>
                </a:solidFill>
                <a:latin typeface="Arial MT"/>
                <a:cs typeface="Arial MT"/>
              </a:rPr>
              <a:t>on</a:t>
            </a:r>
            <a:r>
              <a:rPr b="0" spc="-6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252525"/>
                </a:solidFill>
                <a:latin typeface="Arial MT"/>
                <a:cs typeface="Arial MT"/>
              </a:rPr>
              <a:t>a</a:t>
            </a:r>
            <a:r>
              <a:rPr b="0" spc="-6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b="0" spc="-265" dirty="0">
                <a:solidFill>
                  <a:srgbClr val="252525"/>
                </a:solidFill>
                <a:latin typeface="Arial MT"/>
                <a:cs typeface="Arial MT"/>
              </a:rPr>
              <a:t>2-player</a:t>
            </a:r>
            <a:r>
              <a:rPr b="0" spc="-6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b="0" spc="-275" dirty="0">
                <a:solidFill>
                  <a:srgbClr val="252525"/>
                </a:solidFill>
                <a:latin typeface="Arial MT"/>
                <a:cs typeface="Arial MT"/>
              </a:rPr>
              <a:t>game-tree</a:t>
            </a:r>
            <a:r>
              <a:rPr b="0" spc="-6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b="0" spc="-150" dirty="0">
                <a:solidFill>
                  <a:srgbClr val="252525"/>
                </a:solidFill>
                <a:latin typeface="Arial MT"/>
                <a:cs typeface="Arial MT"/>
              </a:rPr>
              <a:t>of</a:t>
            </a:r>
            <a:r>
              <a:rPr b="0" spc="-6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b="0" spc="-265" dirty="0">
                <a:solidFill>
                  <a:srgbClr val="252525"/>
                </a:solidFill>
                <a:latin typeface="Arial MT"/>
                <a:cs typeface="Arial MT"/>
              </a:rPr>
              <a:t>4-plies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72" y="1939452"/>
            <a:ext cx="9084546" cy="43049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3540" y="6260084"/>
            <a:ext cx="4836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latin typeface="Calibri"/>
                <a:cs typeface="Calibri"/>
              </a:rPr>
              <a:t>..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getting </a:t>
            </a:r>
            <a:r>
              <a:rPr sz="1800" b="1" i="1" dirty="0">
                <a:latin typeface="Calibri"/>
                <a:cs typeface="Calibri"/>
              </a:rPr>
              <a:t>this</a:t>
            </a:r>
            <a:r>
              <a:rPr sz="1800" b="1" i="1" spc="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game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state's</a:t>
            </a:r>
            <a:r>
              <a:rPr sz="1800" b="1" i="1" spc="2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favourability</a:t>
            </a:r>
            <a:r>
              <a:rPr sz="1800" b="1" i="1" spc="30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for</a:t>
            </a:r>
            <a:r>
              <a:rPr sz="1800" b="1" i="1" spc="10" dirty="0">
                <a:latin typeface="Calibri"/>
                <a:cs typeface="Calibri"/>
              </a:rPr>
              <a:t> </a:t>
            </a:r>
            <a:r>
              <a:rPr sz="1800" b="1" i="1" spc="-20" dirty="0">
                <a:latin typeface="Calibri"/>
                <a:cs typeface="Calibri"/>
              </a:rPr>
              <a:t>player.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98320" y="1792223"/>
            <a:ext cx="7202805" cy="5008880"/>
            <a:chOff x="1798320" y="1792223"/>
            <a:chExt cx="7202805" cy="50088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63054" y="2348864"/>
              <a:ext cx="4538059" cy="445198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8320" y="1792223"/>
              <a:ext cx="3883152" cy="245516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42263" y="564895"/>
            <a:ext cx="46018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5" dirty="0"/>
              <a:t>Minima</a:t>
            </a:r>
            <a:r>
              <a:rPr spc="229" dirty="0"/>
              <a:t>x</a:t>
            </a:r>
            <a:r>
              <a:rPr spc="-300" dirty="0"/>
              <a:t>t</a:t>
            </a:r>
            <a:r>
              <a:rPr dirty="0"/>
              <a:t>o</a:t>
            </a:r>
            <a:r>
              <a:rPr spc="-630" dirty="0"/>
              <a:t> </a:t>
            </a:r>
            <a:r>
              <a:rPr dirty="0"/>
              <a:t>a</a:t>
            </a:r>
            <a:r>
              <a:rPr spc="-620" dirty="0"/>
              <a:t> </a:t>
            </a:r>
            <a:r>
              <a:rPr spc="-305" dirty="0">
                <a:solidFill>
                  <a:srgbClr val="C00000"/>
                </a:solidFill>
              </a:rPr>
              <a:t>Fixe</a:t>
            </a:r>
            <a:r>
              <a:rPr dirty="0">
                <a:solidFill>
                  <a:srgbClr val="C00000"/>
                </a:solidFill>
              </a:rPr>
              <a:t>d</a:t>
            </a:r>
            <a:r>
              <a:rPr spc="-650" dirty="0">
                <a:solidFill>
                  <a:srgbClr val="C00000"/>
                </a:solidFill>
              </a:rPr>
              <a:t> </a:t>
            </a:r>
            <a:r>
              <a:rPr spc="-300" dirty="0">
                <a:solidFill>
                  <a:srgbClr val="C00000"/>
                </a:solidFill>
              </a:rPr>
              <a:t>P</a:t>
            </a:r>
            <a:r>
              <a:rPr spc="-305" dirty="0">
                <a:solidFill>
                  <a:srgbClr val="C00000"/>
                </a:solidFill>
              </a:rPr>
              <a:t>l</a:t>
            </a:r>
            <a:r>
              <a:rPr dirty="0">
                <a:solidFill>
                  <a:srgbClr val="C00000"/>
                </a:solidFill>
              </a:rPr>
              <a:t>y</a:t>
            </a:r>
            <a:r>
              <a:rPr spc="-620" dirty="0">
                <a:solidFill>
                  <a:srgbClr val="C00000"/>
                </a:solidFill>
              </a:rPr>
              <a:t> </a:t>
            </a:r>
            <a:r>
              <a:rPr spc="-295" dirty="0">
                <a:solidFill>
                  <a:srgbClr val="C00000"/>
                </a:solidFill>
              </a:rPr>
              <a:t>D</a:t>
            </a:r>
            <a:r>
              <a:rPr spc="-305" dirty="0">
                <a:solidFill>
                  <a:srgbClr val="C00000"/>
                </a:solidFill>
              </a:rPr>
              <a:t>ep</a:t>
            </a:r>
            <a:r>
              <a:rPr spc="-300" dirty="0">
                <a:solidFill>
                  <a:srgbClr val="C00000"/>
                </a:solidFill>
              </a:rPr>
              <a:t>t</a:t>
            </a:r>
            <a:r>
              <a:rPr dirty="0">
                <a:solidFill>
                  <a:srgbClr val="C00000"/>
                </a:solidFill>
              </a:rPr>
              <a:t>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1044" y="2387600"/>
            <a:ext cx="574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MIN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1044" y="3244977"/>
            <a:ext cx="644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MAX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1044" y="1613357"/>
            <a:ext cx="6451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MAX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1044" y="3959732"/>
            <a:ext cx="574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MIN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54933" y="1464309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3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69663" y="4177029"/>
            <a:ext cx="10839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1325" algn="l"/>
                <a:tab pos="941069" algn="l"/>
              </a:tabLst>
            </a:pPr>
            <a:r>
              <a:rPr sz="2000" b="1" dirty="0">
                <a:latin typeface="Calibri"/>
                <a:cs typeface="Calibri"/>
              </a:rPr>
              <a:t>1	5	6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12411" y="4188663"/>
            <a:ext cx="154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26534" y="4177029"/>
            <a:ext cx="154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libri"/>
                <a:cs typeface="Calibri"/>
              </a:rPr>
              <a:t>4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97909" y="4188663"/>
            <a:ext cx="154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7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11527" y="4177029"/>
            <a:ext cx="15836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9570" algn="l"/>
                <a:tab pos="727075" algn="l"/>
                <a:tab pos="1084580" algn="l"/>
                <a:tab pos="1441450" algn="l"/>
              </a:tabLst>
            </a:pPr>
            <a:r>
              <a:rPr sz="2000" b="1" dirty="0">
                <a:latin typeface="Calibri"/>
                <a:cs typeface="Calibri"/>
              </a:rPr>
              <a:t>2	3	5	9	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55438" y="3036570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6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26763" y="3122168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07182" y="2988691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40963" y="3045968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7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11807" y="3036570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3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49982" y="3045968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9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12309" y="2178507"/>
            <a:ext cx="154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97934" y="2178507"/>
            <a:ext cx="154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11932" y="2178507"/>
            <a:ext cx="154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3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900" y="564895"/>
            <a:ext cx="49847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A</a:t>
            </a:r>
            <a:r>
              <a:rPr spc="-305" dirty="0"/>
              <a:t>lph</a:t>
            </a:r>
            <a:r>
              <a:rPr spc="-320" dirty="0"/>
              <a:t>a</a:t>
            </a:r>
            <a:r>
              <a:rPr spc="-310" dirty="0"/>
              <a:t>–</a:t>
            </a:r>
            <a:r>
              <a:rPr spc="-315" dirty="0"/>
              <a:t>B</a:t>
            </a:r>
            <a:r>
              <a:rPr spc="-305" dirty="0"/>
              <a:t>e</a:t>
            </a:r>
            <a:r>
              <a:rPr spc="-315" dirty="0"/>
              <a:t>t</a:t>
            </a:r>
            <a:r>
              <a:rPr dirty="0"/>
              <a:t>a</a:t>
            </a:r>
            <a:r>
              <a:rPr spc="-660" dirty="0"/>
              <a:t> </a:t>
            </a:r>
            <a:r>
              <a:rPr spc="-305" dirty="0"/>
              <a:t>P</a:t>
            </a:r>
            <a:r>
              <a:rPr spc="-300" dirty="0"/>
              <a:t>r</a:t>
            </a:r>
            <a:r>
              <a:rPr spc="-305" dirty="0"/>
              <a:t>uni</a:t>
            </a:r>
            <a:r>
              <a:rPr spc="-315" dirty="0"/>
              <a:t>n</a:t>
            </a:r>
            <a:r>
              <a:rPr dirty="0"/>
              <a:t>g</a:t>
            </a:r>
            <a:r>
              <a:rPr spc="-655" dirty="0"/>
              <a:t> </a:t>
            </a:r>
            <a:r>
              <a:rPr spc="-305" dirty="0"/>
              <a:t>P</a:t>
            </a:r>
            <a:r>
              <a:rPr spc="-300" dirty="0"/>
              <a:t>r</a:t>
            </a:r>
            <a:r>
              <a:rPr spc="-305" dirty="0"/>
              <a:t>oce</a:t>
            </a:r>
            <a:r>
              <a:rPr spc="-315" dirty="0"/>
              <a:t>d</a:t>
            </a:r>
            <a:r>
              <a:rPr spc="-305" dirty="0"/>
              <a:t>u</a:t>
            </a:r>
            <a:r>
              <a:rPr spc="-315" dirty="0"/>
              <a:t>r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900" y="1205743"/>
            <a:ext cx="8439785" cy="5558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50100"/>
              </a:lnSpc>
              <a:spcBef>
                <a:spcPts val="95"/>
              </a:spcBef>
              <a:buFont typeface="Courier New"/>
              <a:buChar char="o"/>
              <a:tabLst>
                <a:tab pos="355600" algn="l"/>
              </a:tabLst>
            </a:pPr>
            <a:r>
              <a:rPr sz="2200" b="1" spc="-5" dirty="0">
                <a:latin typeface="Calibri"/>
                <a:cs typeface="Calibri"/>
              </a:rPr>
              <a:t>Alpha–beta pruning is a search algorithm that </a:t>
            </a:r>
            <a:r>
              <a:rPr sz="2200" b="1" dirty="0">
                <a:latin typeface="Calibri"/>
                <a:cs typeface="Calibri"/>
              </a:rPr>
              <a:t>seeks to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decrease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the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number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of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nodes that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are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evaluated by the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minimax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algorithm </a:t>
            </a:r>
            <a:r>
              <a:rPr sz="2200" b="1" spc="-5" dirty="0">
                <a:latin typeface="Calibri"/>
                <a:cs typeface="Calibri"/>
              </a:rPr>
              <a:t>in its 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search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tree.</a:t>
            </a:r>
            <a:endParaRPr sz="2200">
              <a:latin typeface="Calibri"/>
              <a:cs typeface="Calibri"/>
            </a:endParaRPr>
          </a:p>
          <a:p>
            <a:pPr marL="355600" indent="-342900" algn="just">
              <a:lnSpc>
                <a:spcPct val="100000"/>
              </a:lnSpc>
              <a:spcBef>
                <a:spcPts val="1320"/>
              </a:spcBef>
              <a:buFont typeface="Courier New"/>
              <a:buChar char="o"/>
              <a:tabLst>
                <a:tab pos="355600" algn="l"/>
              </a:tabLst>
            </a:pPr>
            <a:r>
              <a:rPr sz="2200" b="1" spc="-5" dirty="0">
                <a:latin typeface="Calibri"/>
                <a:cs typeface="Calibri"/>
              </a:rPr>
              <a:t>It</a:t>
            </a:r>
            <a:r>
              <a:rPr sz="2200" b="1" spc="51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is</a:t>
            </a:r>
            <a:r>
              <a:rPr sz="2200" b="1" spc="51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an</a:t>
            </a:r>
            <a:r>
              <a:rPr sz="2200" b="1" spc="530" dirty="0">
                <a:latin typeface="Calibri"/>
                <a:cs typeface="Calibri"/>
              </a:rPr>
              <a:t> 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adversarial</a:t>
            </a:r>
            <a:r>
              <a:rPr sz="2200" b="1" u="heavy" spc="5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search</a:t>
            </a:r>
            <a:r>
              <a:rPr sz="2200" b="1" u="heavy" spc="5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algorithm</a:t>
            </a:r>
            <a:r>
              <a:rPr sz="2200" b="1" spc="530" dirty="0"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used</a:t>
            </a:r>
            <a:r>
              <a:rPr sz="2200" b="1" spc="5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commonly</a:t>
            </a:r>
            <a:r>
              <a:rPr sz="2200" b="1" spc="5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200" b="1" spc="5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machine</a:t>
            </a:r>
            <a:endParaRPr sz="2200">
              <a:latin typeface="Calibri"/>
              <a:cs typeface="Calibri"/>
            </a:endParaRPr>
          </a:p>
          <a:p>
            <a:pPr marL="355600" algn="just">
              <a:lnSpc>
                <a:spcPct val="100000"/>
              </a:lnSpc>
              <a:spcBef>
                <a:spcPts val="1320"/>
              </a:spcBef>
            </a:pP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playing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 of</a:t>
            </a:r>
            <a:r>
              <a:rPr sz="22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two-player</a:t>
            </a:r>
            <a:r>
              <a:rPr sz="2200" b="1" spc="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games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(Tic-tac-toe,</a:t>
            </a:r>
            <a:r>
              <a:rPr sz="2200" b="1" spc="3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Chess,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Go,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etc.).</a:t>
            </a:r>
            <a:endParaRPr sz="220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50000"/>
              </a:lnSpc>
              <a:buFont typeface="Courier New"/>
              <a:buChar char="o"/>
              <a:tabLst>
                <a:tab pos="355600" algn="l"/>
              </a:tabLst>
            </a:pPr>
            <a:r>
              <a:rPr sz="2200" b="1" spc="-5" dirty="0">
                <a:latin typeface="Calibri"/>
                <a:cs typeface="Calibri"/>
              </a:rPr>
              <a:t>It stops evaluating a </a:t>
            </a:r>
            <a:r>
              <a:rPr sz="2200" b="1" dirty="0">
                <a:latin typeface="Calibri"/>
                <a:cs typeface="Calibri"/>
              </a:rPr>
              <a:t>move </a:t>
            </a:r>
            <a:r>
              <a:rPr sz="2200" b="1" spc="-10" dirty="0">
                <a:latin typeface="Calibri"/>
                <a:cs typeface="Calibri"/>
              </a:rPr>
              <a:t>when </a:t>
            </a:r>
            <a:r>
              <a:rPr sz="2200" b="1" dirty="0">
                <a:latin typeface="Calibri"/>
                <a:cs typeface="Calibri"/>
              </a:rPr>
              <a:t>at </a:t>
            </a:r>
            <a:r>
              <a:rPr sz="2200" b="1" spc="-5" dirty="0">
                <a:latin typeface="Calibri"/>
                <a:cs typeface="Calibri"/>
              </a:rPr>
              <a:t>least </a:t>
            </a:r>
            <a:r>
              <a:rPr sz="2200" b="1" spc="-10" dirty="0">
                <a:latin typeface="Calibri"/>
                <a:cs typeface="Calibri"/>
              </a:rPr>
              <a:t>one </a:t>
            </a:r>
            <a:r>
              <a:rPr sz="2200" b="1" spc="-5" dirty="0">
                <a:latin typeface="Calibri"/>
                <a:cs typeface="Calibri"/>
              </a:rPr>
              <a:t>possibility </a:t>
            </a:r>
            <a:r>
              <a:rPr sz="2200" b="1" spc="-10" dirty="0">
                <a:latin typeface="Calibri"/>
                <a:cs typeface="Calibri"/>
              </a:rPr>
              <a:t>has </a:t>
            </a:r>
            <a:r>
              <a:rPr sz="2200" b="1" spc="-5" dirty="0">
                <a:latin typeface="Calibri"/>
                <a:cs typeface="Calibri"/>
              </a:rPr>
              <a:t>been 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found </a:t>
            </a:r>
            <a:r>
              <a:rPr sz="2200" b="1" spc="-5" dirty="0">
                <a:latin typeface="Calibri"/>
                <a:cs typeface="Calibri"/>
              </a:rPr>
              <a:t>that proves </a:t>
            </a:r>
            <a:r>
              <a:rPr sz="2200" b="1" spc="-10" dirty="0">
                <a:latin typeface="Calibri"/>
                <a:cs typeface="Calibri"/>
              </a:rPr>
              <a:t>the </a:t>
            </a:r>
            <a:r>
              <a:rPr sz="2200" b="1" dirty="0">
                <a:latin typeface="Calibri"/>
                <a:cs typeface="Calibri"/>
              </a:rPr>
              <a:t>move to </a:t>
            </a:r>
            <a:r>
              <a:rPr sz="2200" b="1" spc="-5" dirty="0">
                <a:latin typeface="Calibri"/>
                <a:cs typeface="Calibri"/>
              </a:rPr>
              <a:t>be </a:t>
            </a:r>
            <a:r>
              <a:rPr sz="2200" b="1" dirty="0">
                <a:latin typeface="Calibri"/>
                <a:cs typeface="Calibri"/>
              </a:rPr>
              <a:t>worse </a:t>
            </a:r>
            <a:r>
              <a:rPr sz="2200" b="1" spc="-5" dirty="0">
                <a:latin typeface="Calibri"/>
                <a:cs typeface="Calibri"/>
              </a:rPr>
              <a:t>than a previously examined 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move.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Such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moves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need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not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be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evaluated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further.</a:t>
            </a:r>
            <a:endParaRPr sz="220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50000"/>
              </a:lnSpc>
              <a:buFont typeface="Courier New"/>
              <a:buChar char="o"/>
              <a:tabLst>
                <a:tab pos="355600" algn="l"/>
              </a:tabLst>
            </a:pPr>
            <a:r>
              <a:rPr sz="2200" b="1" spc="-10" dirty="0">
                <a:latin typeface="Calibri"/>
                <a:cs typeface="Calibri"/>
              </a:rPr>
              <a:t>When </a:t>
            </a:r>
            <a:r>
              <a:rPr sz="2200" b="1" spc="-5" dirty="0">
                <a:latin typeface="Calibri"/>
                <a:cs typeface="Calibri"/>
              </a:rPr>
              <a:t>applied </a:t>
            </a:r>
            <a:r>
              <a:rPr sz="2200" b="1" dirty="0">
                <a:latin typeface="Calibri"/>
                <a:cs typeface="Calibri"/>
              </a:rPr>
              <a:t>to </a:t>
            </a:r>
            <a:r>
              <a:rPr sz="2200" b="1" spc="-5" dirty="0">
                <a:latin typeface="Calibri"/>
                <a:cs typeface="Calibri"/>
              </a:rPr>
              <a:t>a standard minimax </a:t>
            </a:r>
            <a:r>
              <a:rPr sz="2200" b="1" dirty="0">
                <a:latin typeface="Calibri"/>
                <a:cs typeface="Calibri"/>
              </a:rPr>
              <a:t>tree, </a:t>
            </a:r>
            <a:r>
              <a:rPr sz="2200" b="1" spc="-5" dirty="0">
                <a:latin typeface="Calibri"/>
                <a:cs typeface="Calibri"/>
              </a:rPr>
              <a:t>it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returns the same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move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 as minimax </a:t>
            </a:r>
            <a:r>
              <a:rPr sz="2200" b="1" spc="-10" dirty="0">
                <a:latin typeface="Calibri"/>
                <a:cs typeface="Calibri"/>
              </a:rPr>
              <a:t>would, </a:t>
            </a:r>
            <a:r>
              <a:rPr sz="2200" b="1" spc="-5" dirty="0">
                <a:latin typeface="Calibri"/>
                <a:cs typeface="Calibri"/>
              </a:rPr>
              <a:t>but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prunes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away branches that cannot possibly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influence</a:t>
            </a:r>
            <a:r>
              <a:rPr sz="22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2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final</a:t>
            </a:r>
            <a:r>
              <a:rPr sz="22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decision</a:t>
            </a:r>
            <a:r>
              <a:rPr sz="2200" b="1" spc="-5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74008" y="1071372"/>
            <a:ext cx="5131435" cy="1092835"/>
            <a:chOff x="3874008" y="1071372"/>
            <a:chExt cx="5131435" cy="1092835"/>
          </a:xfrm>
        </p:grpSpPr>
        <p:sp>
          <p:nvSpPr>
            <p:cNvPr id="3" name="object 3"/>
            <p:cNvSpPr/>
            <p:nvPr/>
          </p:nvSpPr>
          <p:spPr>
            <a:xfrm>
              <a:off x="3886962" y="1084326"/>
              <a:ext cx="5105400" cy="1066800"/>
            </a:xfrm>
            <a:custGeom>
              <a:avLst/>
              <a:gdLst/>
              <a:ahLst/>
              <a:cxnLst/>
              <a:rect l="l" t="t" r="r" b="b"/>
              <a:pathLst>
                <a:path w="5105400" h="1066800">
                  <a:moveTo>
                    <a:pt x="4927599" y="0"/>
                  </a:moveTo>
                  <a:lnTo>
                    <a:pt x="177800" y="0"/>
                  </a:lnTo>
                  <a:lnTo>
                    <a:pt x="130542" y="6352"/>
                  </a:lnTo>
                  <a:lnTo>
                    <a:pt x="88072" y="24280"/>
                  </a:lnTo>
                  <a:lnTo>
                    <a:pt x="52085" y="52085"/>
                  </a:lnTo>
                  <a:lnTo>
                    <a:pt x="24280" y="88072"/>
                  </a:lnTo>
                  <a:lnTo>
                    <a:pt x="6352" y="130542"/>
                  </a:lnTo>
                  <a:lnTo>
                    <a:pt x="0" y="177800"/>
                  </a:lnTo>
                  <a:lnTo>
                    <a:pt x="0" y="889000"/>
                  </a:lnTo>
                  <a:lnTo>
                    <a:pt x="6352" y="936257"/>
                  </a:lnTo>
                  <a:lnTo>
                    <a:pt x="24280" y="978727"/>
                  </a:lnTo>
                  <a:lnTo>
                    <a:pt x="52085" y="1014714"/>
                  </a:lnTo>
                  <a:lnTo>
                    <a:pt x="88072" y="1042519"/>
                  </a:lnTo>
                  <a:lnTo>
                    <a:pt x="130542" y="1060447"/>
                  </a:lnTo>
                  <a:lnTo>
                    <a:pt x="177800" y="1066800"/>
                  </a:lnTo>
                  <a:lnTo>
                    <a:pt x="4927599" y="1066800"/>
                  </a:lnTo>
                  <a:lnTo>
                    <a:pt x="4974857" y="1060447"/>
                  </a:lnTo>
                  <a:lnTo>
                    <a:pt x="5017327" y="1042519"/>
                  </a:lnTo>
                  <a:lnTo>
                    <a:pt x="5053314" y="1014714"/>
                  </a:lnTo>
                  <a:lnTo>
                    <a:pt x="5081119" y="978727"/>
                  </a:lnTo>
                  <a:lnTo>
                    <a:pt x="5099047" y="936257"/>
                  </a:lnTo>
                  <a:lnTo>
                    <a:pt x="5105399" y="889000"/>
                  </a:lnTo>
                  <a:lnTo>
                    <a:pt x="5105399" y="177800"/>
                  </a:lnTo>
                  <a:lnTo>
                    <a:pt x="5099047" y="130542"/>
                  </a:lnTo>
                  <a:lnTo>
                    <a:pt x="5081119" y="88072"/>
                  </a:lnTo>
                  <a:lnTo>
                    <a:pt x="5053314" y="52085"/>
                  </a:lnTo>
                  <a:lnTo>
                    <a:pt x="5017327" y="24280"/>
                  </a:lnTo>
                  <a:lnTo>
                    <a:pt x="4974857" y="6352"/>
                  </a:lnTo>
                  <a:lnTo>
                    <a:pt x="4927599" y="0"/>
                  </a:lnTo>
                  <a:close/>
                </a:path>
              </a:pathLst>
            </a:custGeom>
            <a:solidFill>
              <a:srgbClr val="6F2F9F">
                <a:alpha val="1607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86962" y="1084326"/>
              <a:ext cx="5105400" cy="1066800"/>
            </a:xfrm>
            <a:custGeom>
              <a:avLst/>
              <a:gdLst/>
              <a:ahLst/>
              <a:cxnLst/>
              <a:rect l="l" t="t" r="r" b="b"/>
              <a:pathLst>
                <a:path w="5105400" h="1066800">
                  <a:moveTo>
                    <a:pt x="0" y="177800"/>
                  </a:moveTo>
                  <a:lnTo>
                    <a:pt x="6352" y="130542"/>
                  </a:lnTo>
                  <a:lnTo>
                    <a:pt x="24280" y="88072"/>
                  </a:lnTo>
                  <a:lnTo>
                    <a:pt x="52085" y="52085"/>
                  </a:lnTo>
                  <a:lnTo>
                    <a:pt x="88072" y="24280"/>
                  </a:lnTo>
                  <a:lnTo>
                    <a:pt x="130542" y="6352"/>
                  </a:lnTo>
                  <a:lnTo>
                    <a:pt x="177800" y="0"/>
                  </a:lnTo>
                  <a:lnTo>
                    <a:pt x="4927599" y="0"/>
                  </a:lnTo>
                  <a:lnTo>
                    <a:pt x="4974857" y="6352"/>
                  </a:lnTo>
                  <a:lnTo>
                    <a:pt x="5017327" y="24280"/>
                  </a:lnTo>
                  <a:lnTo>
                    <a:pt x="5053314" y="52085"/>
                  </a:lnTo>
                  <a:lnTo>
                    <a:pt x="5081119" y="88072"/>
                  </a:lnTo>
                  <a:lnTo>
                    <a:pt x="5099047" y="130542"/>
                  </a:lnTo>
                  <a:lnTo>
                    <a:pt x="5105399" y="177800"/>
                  </a:lnTo>
                  <a:lnTo>
                    <a:pt x="5105399" y="889000"/>
                  </a:lnTo>
                  <a:lnTo>
                    <a:pt x="5099047" y="936257"/>
                  </a:lnTo>
                  <a:lnTo>
                    <a:pt x="5081119" y="978727"/>
                  </a:lnTo>
                  <a:lnTo>
                    <a:pt x="5053314" y="1014714"/>
                  </a:lnTo>
                  <a:lnTo>
                    <a:pt x="5017327" y="1042519"/>
                  </a:lnTo>
                  <a:lnTo>
                    <a:pt x="4974857" y="1060447"/>
                  </a:lnTo>
                  <a:lnTo>
                    <a:pt x="4927599" y="1066800"/>
                  </a:lnTo>
                  <a:lnTo>
                    <a:pt x="177800" y="1066800"/>
                  </a:lnTo>
                  <a:lnTo>
                    <a:pt x="130542" y="1060447"/>
                  </a:lnTo>
                  <a:lnTo>
                    <a:pt x="88072" y="1042519"/>
                  </a:lnTo>
                  <a:lnTo>
                    <a:pt x="52085" y="1014714"/>
                  </a:lnTo>
                  <a:lnTo>
                    <a:pt x="24280" y="978727"/>
                  </a:lnTo>
                  <a:lnTo>
                    <a:pt x="6352" y="936257"/>
                  </a:lnTo>
                  <a:lnTo>
                    <a:pt x="0" y="889000"/>
                  </a:lnTo>
                  <a:lnTo>
                    <a:pt x="0" y="177800"/>
                  </a:lnTo>
                  <a:close/>
                </a:path>
              </a:pathLst>
            </a:custGeom>
            <a:ln w="25908">
              <a:solidFill>
                <a:srgbClr val="C4BC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15900" y="1257427"/>
            <a:ext cx="8789670" cy="54241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992245" marR="162560" indent="-41275">
              <a:lnSpc>
                <a:spcPct val="80000"/>
              </a:lnSpc>
              <a:spcBef>
                <a:spcPts val="675"/>
              </a:spcBef>
            </a:pPr>
            <a:r>
              <a:rPr sz="2400" b="1" spc="-5" dirty="0">
                <a:solidFill>
                  <a:srgbClr val="0066CC"/>
                </a:solidFill>
                <a:latin typeface="Calibri"/>
                <a:cs typeface="Calibri"/>
              </a:rPr>
              <a:t>α: 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MAX’s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best 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option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on 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path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to </a:t>
            </a:r>
            <a:r>
              <a:rPr sz="2400" b="1" spc="-5" dirty="0">
                <a:solidFill>
                  <a:srgbClr val="006FC0"/>
                </a:solidFill>
                <a:latin typeface="Calibri"/>
                <a:cs typeface="Calibri"/>
              </a:rPr>
              <a:t>root </a:t>
            </a:r>
            <a:r>
              <a:rPr sz="2400" b="1" spc="-5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β:</a:t>
            </a:r>
            <a:r>
              <a:rPr sz="2400" b="1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MIN’s best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option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path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root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Courier New"/>
              <a:buChar char="o"/>
              <a:tabLst>
                <a:tab pos="355600" algn="l"/>
              </a:tabLst>
            </a:pPr>
            <a:r>
              <a:rPr sz="2200" b="1" spc="-5" dirty="0">
                <a:latin typeface="Calibri"/>
                <a:cs typeface="Calibri"/>
              </a:rPr>
              <a:t>A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search</a:t>
            </a:r>
            <a:r>
              <a:rPr sz="2200" b="1" spc="2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space</a:t>
            </a:r>
            <a:r>
              <a:rPr sz="2200" b="1" spc="3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is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explored</a:t>
            </a:r>
            <a:r>
              <a:rPr sz="2200" b="1" spc="5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in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depth-first</a:t>
            </a:r>
            <a:r>
              <a:rPr sz="2200" b="1" spc="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down</a:t>
            </a:r>
            <a:r>
              <a:rPr sz="2200" b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200" b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2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full</a:t>
            </a:r>
            <a:r>
              <a:rPr sz="22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ply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 depth</a:t>
            </a:r>
            <a:r>
              <a:rPr sz="2200" b="1" spc="-10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320"/>
              </a:spcBef>
              <a:buFont typeface="Courier New"/>
              <a:buChar char="o"/>
              <a:tabLst>
                <a:tab pos="355600" algn="l"/>
              </a:tabLst>
            </a:pPr>
            <a:r>
              <a:rPr sz="2200" b="1" spc="-5" dirty="0">
                <a:latin typeface="Calibri"/>
                <a:cs typeface="Calibri"/>
              </a:rPr>
              <a:t>Apply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heuristic</a:t>
            </a:r>
            <a:r>
              <a:rPr sz="2200" b="1" spc="2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evaluation</a:t>
            </a:r>
            <a:r>
              <a:rPr sz="2200" b="1" spc="4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to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a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state</a:t>
            </a:r>
            <a:r>
              <a:rPr sz="2200" b="1" spc="3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and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all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its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siblings.</a:t>
            </a:r>
            <a:endParaRPr sz="2200">
              <a:latin typeface="Calibri"/>
              <a:cs typeface="Calibri"/>
            </a:endParaRPr>
          </a:p>
          <a:p>
            <a:pPr marL="355600" marR="5080" indent="-342900">
              <a:lnSpc>
                <a:spcPct val="150000"/>
              </a:lnSpc>
              <a:buFont typeface="Courier New"/>
              <a:buChar char="o"/>
              <a:tabLst>
                <a:tab pos="355600" algn="l"/>
                <a:tab pos="861694" algn="l"/>
                <a:tab pos="1490980" algn="l"/>
                <a:tab pos="4199890" algn="l"/>
                <a:tab pos="6263640" algn="l"/>
                <a:tab pos="7847330" algn="l"/>
                <a:tab pos="8208645" algn="l"/>
              </a:tabLst>
            </a:pPr>
            <a:r>
              <a:rPr sz="2200" b="1" spc="-5" dirty="0">
                <a:latin typeface="Calibri"/>
                <a:cs typeface="Calibri"/>
              </a:rPr>
              <a:t>For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spc="-5" dirty="0">
                <a:latin typeface="Calibri"/>
                <a:cs typeface="Calibri"/>
              </a:rPr>
              <a:t>MIN</a:t>
            </a:r>
            <a:r>
              <a:rPr sz="2200" b="1" dirty="0">
                <a:latin typeface="Calibri"/>
                <a:cs typeface="Calibri"/>
              </a:rPr>
              <a:t>	n</a:t>
            </a:r>
            <a:r>
              <a:rPr sz="2200" b="1" spc="-5" dirty="0">
                <a:latin typeface="Calibri"/>
                <a:cs typeface="Calibri"/>
              </a:rPr>
              <a:t>odes,</a:t>
            </a:r>
            <a:r>
              <a:rPr sz="2200" b="1" dirty="0">
                <a:latin typeface="Calibri"/>
                <a:cs typeface="Calibri"/>
              </a:rPr>
              <a:t>  </a:t>
            </a:r>
            <a:r>
              <a:rPr sz="2200" b="1" spc="-5" dirty="0">
                <a:latin typeface="Calibri"/>
                <a:cs typeface="Calibri"/>
              </a:rPr>
              <a:t>the</a:t>
            </a:r>
            <a:r>
              <a:rPr sz="2200" b="1" dirty="0">
                <a:latin typeface="Calibri"/>
                <a:cs typeface="Calibri"/>
              </a:rPr>
              <a:t>  </a:t>
            </a:r>
            <a:r>
              <a:rPr sz="2200" b="1" spc="5" dirty="0">
                <a:latin typeface="Calibri"/>
                <a:cs typeface="Calibri"/>
              </a:rPr>
              <a:t>m</a:t>
            </a:r>
            <a:r>
              <a:rPr sz="2200" b="1" dirty="0">
                <a:latin typeface="Calibri"/>
                <a:cs typeface="Calibri"/>
              </a:rPr>
              <a:t>a</a:t>
            </a:r>
            <a:r>
              <a:rPr sz="2200" b="1" spc="-10" dirty="0">
                <a:latin typeface="Calibri"/>
                <a:cs typeface="Calibri"/>
              </a:rPr>
              <a:t>ximu</a:t>
            </a:r>
            <a:r>
              <a:rPr sz="2200" b="1" spc="-5" dirty="0">
                <a:latin typeface="Calibri"/>
                <a:cs typeface="Calibri"/>
              </a:rPr>
              <a:t>m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spc="-5" dirty="0">
                <a:latin typeface="Calibri"/>
                <a:cs typeface="Calibri"/>
              </a:rPr>
              <a:t>is</a:t>
            </a:r>
            <a:r>
              <a:rPr sz="2200" b="1" dirty="0">
                <a:latin typeface="Calibri"/>
                <a:cs typeface="Calibri"/>
              </a:rPr>
              <a:t>  </a:t>
            </a:r>
            <a:r>
              <a:rPr sz="2200" b="1" spc="-5" dirty="0">
                <a:latin typeface="Calibri"/>
                <a:cs typeface="Calibri"/>
              </a:rPr>
              <a:t>ba</a:t>
            </a:r>
            <a:r>
              <a:rPr sz="2200" b="1" dirty="0">
                <a:latin typeface="Calibri"/>
                <a:cs typeface="Calibri"/>
              </a:rPr>
              <a:t>c</a:t>
            </a:r>
            <a:r>
              <a:rPr sz="2200" b="1" spc="-5" dirty="0">
                <a:latin typeface="Calibri"/>
                <a:cs typeface="Calibri"/>
              </a:rPr>
              <a:t>ked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u</a:t>
            </a:r>
            <a:r>
              <a:rPr sz="2200" b="1" spc="-5" dirty="0">
                <a:latin typeface="Calibri"/>
                <a:cs typeface="Calibri"/>
              </a:rPr>
              <a:t>p</a:t>
            </a:r>
            <a:r>
              <a:rPr sz="2200" b="1" dirty="0">
                <a:latin typeface="Calibri"/>
                <a:cs typeface="Calibri"/>
              </a:rPr>
              <a:t>  t</a:t>
            </a:r>
            <a:r>
              <a:rPr sz="2200" b="1" spc="-5" dirty="0">
                <a:latin typeface="Calibri"/>
                <a:cs typeface="Calibri"/>
              </a:rPr>
              <a:t>o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spc="-5" dirty="0">
                <a:latin typeface="Calibri"/>
                <a:cs typeface="Calibri"/>
              </a:rPr>
              <a:t>t</a:t>
            </a:r>
            <a:r>
              <a:rPr sz="2200" b="1" spc="-15" dirty="0">
                <a:latin typeface="Calibri"/>
                <a:cs typeface="Calibri"/>
              </a:rPr>
              <a:t>h</a:t>
            </a:r>
            <a:r>
              <a:rPr sz="2200" b="1" spc="-10" dirty="0">
                <a:latin typeface="Calibri"/>
                <a:cs typeface="Calibri"/>
              </a:rPr>
              <a:t>e</a:t>
            </a:r>
            <a:r>
              <a:rPr sz="2200" b="1" dirty="0">
                <a:latin typeface="Calibri"/>
                <a:cs typeface="Calibri"/>
              </a:rPr>
              <a:t>i</a:t>
            </a:r>
            <a:r>
              <a:rPr sz="2200" b="1" spc="-5" dirty="0">
                <a:latin typeface="Calibri"/>
                <a:cs typeface="Calibri"/>
              </a:rPr>
              <a:t>r</a:t>
            </a:r>
            <a:r>
              <a:rPr sz="2200" b="1" dirty="0">
                <a:latin typeface="Calibri"/>
                <a:cs typeface="Calibri"/>
              </a:rPr>
              <a:t>  </a:t>
            </a:r>
            <a:r>
              <a:rPr sz="2200" b="1" spc="-5" dirty="0">
                <a:latin typeface="Calibri"/>
                <a:cs typeface="Calibri"/>
              </a:rPr>
              <a:t>pa</a:t>
            </a:r>
            <a:r>
              <a:rPr sz="2200" b="1" spc="5" dirty="0">
                <a:latin typeface="Calibri"/>
                <a:cs typeface="Calibri"/>
              </a:rPr>
              <a:t>r</a:t>
            </a:r>
            <a:r>
              <a:rPr sz="2200" b="1" spc="-10" dirty="0">
                <a:latin typeface="Calibri"/>
                <a:cs typeface="Calibri"/>
              </a:rPr>
              <a:t>en</a:t>
            </a:r>
            <a:r>
              <a:rPr sz="2200" b="1" spc="-5" dirty="0">
                <a:latin typeface="Calibri"/>
                <a:cs typeface="Calibri"/>
              </a:rPr>
              <a:t>t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i="1" spc="-10" dirty="0">
                <a:latin typeface="Calibri"/>
                <a:cs typeface="Calibri"/>
              </a:rPr>
              <a:t>(</a:t>
            </a:r>
            <a:r>
              <a:rPr sz="2200" b="1" i="1" spc="-5" dirty="0">
                <a:latin typeface="Calibri"/>
                <a:cs typeface="Calibri"/>
              </a:rPr>
              <a:t>a</a:t>
            </a:r>
            <a:r>
              <a:rPr sz="2200" b="1" i="1" dirty="0">
                <a:latin typeface="Calibri"/>
                <a:cs typeface="Calibri"/>
              </a:rPr>
              <a:t>	</a:t>
            </a:r>
            <a:r>
              <a:rPr sz="2200" b="1" i="1" spc="5" dirty="0">
                <a:latin typeface="Calibri"/>
                <a:cs typeface="Calibri"/>
              </a:rPr>
              <a:t>M</a:t>
            </a:r>
            <a:r>
              <a:rPr sz="2200" b="1" i="1" spc="-5" dirty="0">
                <a:latin typeface="Calibri"/>
                <a:cs typeface="Calibri"/>
              </a:rPr>
              <a:t>AX  node)</a:t>
            </a:r>
            <a:r>
              <a:rPr sz="2200" b="1" spc="-5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320"/>
              </a:spcBef>
              <a:buFont typeface="Courier New"/>
              <a:buChar char="o"/>
              <a:tabLst>
                <a:tab pos="355600" algn="l"/>
              </a:tabLst>
            </a:pPr>
            <a:r>
              <a:rPr sz="2200" b="1" spc="-5" dirty="0">
                <a:latin typeface="Calibri"/>
                <a:cs typeface="Calibri"/>
              </a:rPr>
              <a:t>For</a:t>
            </a:r>
            <a:r>
              <a:rPr sz="2200" b="1" spc="3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MAX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nodes,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the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minimum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is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backed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up </a:t>
            </a:r>
            <a:r>
              <a:rPr sz="2200" b="1" spc="-10" dirty="0">
                <a:latin typeface="Calibri"/>
                <a:cs typeface="Calibri"/>
              </a:rPr>
              <a:t>to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their</a:t>
            </a:r>
            <a:r>
              <a:rPr sz="2200" b="1" spc="4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parent</a:t>
            </a:r>
            <a:r>
              <a:rPr sz="2200" b="1" spc="25" dirty="0">
                <a:latin typeface="Calibri"/>
                <a:cs typeface="Calibri"/>
              </a:rPr>
              <a:t> </a:t>
            </a:r>
            <a:r>
              <a:rPr sz="2200" b="1" i="1" spc="-5" dirty="0">
                <a:latin typeface="Calibri"/>
                <a:cs typeface="Calibri"/>
              </a:rPr>
              <a:t>(a</a:t>
            </a:r>
            <a:r>
              <a:rPr sz="2200" b="1" i="1" spc="1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MIN</a:t>
            </a:r>
            <a:r>
              <a:rPr sz="2200" b="1" i="1" spc="15" dirty="0">
                <a:latin typeface="Calibri"/>
                <a:cs typeface="Calibri"/>
              </a:rPr>
              <a:t> </a:t>
            </a:r>
            <a:r>
              <a:rPr sz="2200" b="1" i="1" spc="-5" dirty="0">
                <a:latin typeface="Calibri"/>
                <a:cs typeface="Calibri"/>
              </a:rPr>
              <a:t>node)</a:t>
            </a:r>
            <a:r>
              <a:rPr sz="2200" b="1" spc="-5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355600" marR="5080" indent="-342900">
              <a:lnSpc>
                <a:spcPct val="150000"/>
              </a:lnSpc>
              <a:spcBef>
                <a:spcPts val="5"/>
              </a:spcBef>
              <a:buFont typeface="Courier New"/>
              <a:buChar char="o"/>
              <a:tabLst>
                <a:tab pos="355600" algn="l"/>
              </a:tabLst>
            </a:pPr>
            <a:r>
              <a:rPr sz="2200" b="1" spc="-10" dirty="0">
                <a:latin typeface="Calibri"/>
                <a:cs typeface="Calibri"/>
              </a:rPr>
              <a:t>This</a:t>
            </a:r>
            <a:r>
              <a:rPr sz="2200" b="1" spc="6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value</a:t>
            </a:r>
            <a:r>
              <a:rPr sz="2200" b="1" spc="5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is</a:t>
            </a:r>
            <a:r>
              <a:rPr sz="2200" b="1" spc="8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offered</a:t>
            </a:r>
            <a:r>
              <a:rPr sz="2200" b="1" spc="7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to</a:t>
            </a:r>
            <a:r>
              <a:rPr sz="2200" b="1" spc="6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the</a:t>
            </a:r>
            <a:r>
              <a:rPr sz="2200" b="1" spc="7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grandparent</a:t>
            </a:r>
            <a:r>
              <a:rPr sz="2200" b="1" spc="7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as</a:t>
            </a:r>
            <a:r>
              <a:rPr sz="2200" b="1" spc="6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Beta</a:t>
            </a:r>
            <a:r>
              <a:rPr sz="2200" b="1" spc="8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value</a:t>
            </a:r>
            <a:r>
              <a:rPr sz="2200" b="1" spc="7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for</a:t>
            </a:r>
            <a:r>
              <a:rPr sz="2200" b="1" spc="7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MIN</a:t>
            </a:r>
            <a:r>
              <a:rPr sz="2200" b="1" spc="6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nodes,</a:t>
            </a:r>
            <a:r>
              <a:rPr sz="2200" b="1" spc="7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or </a:t>
            </a:r>
            <a:r>
              <a:rPr sz="2200" b="1" spc="-484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Alpha </a:t>
            </a:r>
            <a:r>
              <a:rPr sz="2200" b="1" spc="-10" dirty="0">
                <a:latin typeface="Calibri"/>
                <a:cs typeface="Calibri"/>
              </a:rPr>
              <a:t>value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for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MAX</a:t>
            </a:r>
            <a:r>
              <a:rPr sz="2200" b="1" spc="2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nodes.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320"/>
              </a:spcBef>
              <a:buFont typeface="Courier New"/>
              <a:buChar char="o"/>
              <a:tabLst>
                <a:tab pos="355600" algn="l"/>
              </a:tabLst>
            </a:pP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Alpha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2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value</a:t>
            </a:r>
            <a:r>
              <a:rPr sz="22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associated</a:t>
            </a:r>
            <a:r>
              <a:rPr sz="2200" b="1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22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MAX</a:t>
            </a:r>
            <a:r>
              <a:rPr sz="22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nodes,</a:t>
            </a:r>
            <a:r>
              <a:rPr sz="22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sz="22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can</a:t>
            </a:r>
            <a:r>
              <a:rPr sz="22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never</a:t>
            </a:r>
            <a:r>
              <a:rPr sz="22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decrease</a:t>
            </a:r>
            <a:r>
              <a:rPr sz="2200" b="1" spc="-5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320"/>
              </a:spcBef>
              <a:buFont typeface="Courier New"/>
              <a:buChar char="o"/>
              <a:tabLst>
                <a:tab pos="355600" algn="l"/>
              </a:tabLst>
            </a:pP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Beta</a:t>
            </a:r>
            <a:r>
              <a:rPr sz="22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is a</a:t>
            </a:r>
            <a:r>
              <a:rPr sz="22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value</a:t>
            </a:r>
            <a:r>
              <a:rPr sz="2200" b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associated</a:t>
            </a:r>
            <a:r>
              <a:rPr sz="2200" b="1" spc="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2200" b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MIN</a:t>
            </a:r>
            <a:r>
              <a:rPr sz="2200" b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nodes,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sz="22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can</a:t>
            </a:r>
            <a:r>
              <a:rPr sz="22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never</a:t>
            </a:r>
            <a:r>
              <a:rPr sz="22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Calibri"/>
                <a:cs typeface="Calibri"/>
              </a:rPr>
              <a:t>increase</a:t>
            </a:r>
            <a:r>
              <a:rPr sz="2200" b="1" spc="-5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5900" y="564895"/>
            <a:ext cx="49847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A</a:t>
            </a:r>
            <a:r>
              <a:rPr spc="-305" dirty="0"/>
              <a:t>lph</a:t>
            </a:r>
            <a:r>
              <a:rPr spc="-320" dirty="0"/>
              <a:t>a</a:t>
            </a:r>
            <a:r>
              <a:rPr spc="-310" dirty="0"/>
              <a:t>–</a:t>
            </a:r>
            <a:r>
              <a:rPr spc="-315" dirty="0"/>
              <a:t>B</a:t>
            </a:r>
            <a:r>
              <a:rPr spc="-305" dirty="0"/>
              <a:t>e</a:t>
            </a:r>
            <a:r>
              <a:rPr spc="-315" dirty="0"/>
              <a:t>t</a:t>
            </a:r>
            <a:r>
              <a:rPr dirty="0"/>
              <a:t>a</a:t>
            </a:r>
            <a:r>
              <a:rPr spc="-660" dirty="0"/>
              <a:t> </a:t>
            </a:r>
            <a:r>
              <a:rPr spc="-305" dirty="0"/>
              <a:t>P</a:t>
            </a:r>
            <a:r>
              <a:rPr spc="-300" dirty="0"/>
              <a:t>r</a:t>
            </a:r>
            <a:r>
              <a:rPr spc="-305" dirty="0"/>
              <a:t>uni</a:t>
            </a:r>
            <a:r>
              <a:rPr spc="-315" dirty="0"/>
              <a:t>n</a:t>
            </a:r>
            <a:r>
              <a:rPr dirty="0"/>
              <a:t>g</a:t>
            </a:r>
            <a:r>
              <a:rPr spc="-655" dirty="0"/>
              <a:t> </a:t>
            </a:r>
            <a:r>
              <a:rPr spc="-305" dirty="0"/>
              <a:t>P</a:t>
            </a:r>
            <a:r>
              <a:rPr spc="-300" dirty="0"/>
              <a:t>r</a:t>
            </a:r>
            <a:r>
              <a:rPr spc="-305" dirty="0"/>
              <a:t>oce</a:t>
            </a:r>
            <a:r>
              <a:rPr spc="-315" dirty="0"/>
              <a:t>d</a:t>
            </a:r>
            <a:r>
              <a:rPr spc="-305" dirty="0"/>
              <a:t>u</a:t>
            </a:r>
            <a:r>
              <a:rPr spc="-315" dirty="0"/>
              <a:t>r</a:t>
            </a:r>
            <a:r>
              <a:rPr dirty="0"/>
              <a:t>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900" y="5610555"/>
            <a:ext cx="8790940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libri"/>
                <a:cs typeface="Calibri"/>
              </a:rPr>
              <a:t>The grayed-out subtrees </a:t>
            </a:r>
            <a:r>
              <a:rPr sz="2000" spc="-10" dirty="0">
                <a:latin typeface="Calibri"/>
                <a:cs typeface="Calibri"/>
              </a:rPr>
              <a:t>don't </a:t>
            </a:r>
            <a:r>
              <a:rPr sz="2000" spc="-5" dirty="0">
                <a:latin typeface="Calibri"/>
                <a:cs typeface="Calibri"/>
              </a:rPr>
              <a:t>need </a:t>
            </a:r>
            <a:r>
              <a:rPr sz="2000" spc="-10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be </a:t>
            </a:r>
            <a:r>
              <a:rPr sz="2000" spc="-5" dirty="0">
                <a:latin typeface="Calibri"/>
                <a:cs typeface="Calibri"/>
              </a:rPr>
              <a:t>explored </a:t>
            </a:r>
            <a:r>
              <a:rPr sz="2000" i="1" spc="-5" dirty="0">
                <a:latin typeface="Calibri"/>
                <a:cs typeface="Calibri"/>
              </a:rPr>
              <a:t>(when moves are evaluated from </a:t>
            </a:r>
            <a:r>
              <a:rPr sz="2000" i="1" dirty="0">
                <a:latin typeface="Calibri"/>
                <a:cs typeface="Calibri"/>
              </a:rPr>
              <a:t> left to </a:t>
            </a:r>
            <a:r>
              <a:rPr sz="2000" i="1" spc="-5" dirty="0">
                <a:latin typeface="Calibri"/>
                <a:cs typeface="Calibri"/>
              </a:rPr>
              <a:t>right)</a:t>
            </a:r>
            <a:r>
              <a:rPr sz="2000" spc="-5" dirty="0">
                <a:latin typeface="Calibri"/>
                <a:cs typeface="Calibri"/>
              </a:rPr>
              <a:t>, since we know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group of subtrees </a:t>
            </a:r>
            <a:r>
              <a:rPr sz="2000" dirty="0">
                <a:latin typeface="Calibri"/>
                <a:cs typeface="Calibri"/>
              </a:rPr>
              <a:t>as a whole </a:t>
            </a:r>
            <a:r>
              <a:rPr sz="2000" spc="-5" dirty="0">
                <a:latin typeface="Calibri"/>
                <a:cs typeface="Calibri"/>
              </a:rPr>
              <a:t>yields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value of </a:t>
            </a:r>
            <a:r>
              <a:rPr sz="2000" spc="-15" dirty="0">
                <a:latin typeface="Calibri"/>
                <a:cs typeface="Calibri"/>
              </a:rPr>
              <a:t>an 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equivalent </a:t>
            </a:r>
            <a:r>
              <a:rPr sz="2000" spc="-5" dirty="0">
                <a:latin typeface="Calibri"/>
                <a:cs typeface="Calibri"/>
              </a:rPr>
              <a:t>subtree </a:t>
            </a:r>
            <a:r>
              <a:rPr sz="2000" dirty="0">
                <a:latin typeface="Calibri"/>
                <a:cs typeface="Calibri"/>
              </a:rPr>
              <a:t>or </a:t>
            </a:r>
            <a:r>
              <a:rPr sz="2000" spc="-5" dirty="0">
                <a:latin typeface="Calibri"/>
                <a:cs typeface="Calibri"/>
              </a:rPr>
              <a:t>worse, </a:t>
            </a:r>
            <a:r>
              <a:rPr sz="2000" dirty="0">
                <a:latin typeface="Calibri"/>
                <a:cs typeface="Calibri"/>
              </a:rPr>
              <a:t>and as </a:t>
            </a:r>
            <a:r>
              <a:rPr sz="2000" spc="-5" dirty="0">
                <a:latin typeface="Calibri"/>
                <a:cs typeface="Calibri"/>
              </a:rPr>
              <a:t>such </a:t>
            </a:r>
            <a:r>
              <a:rPr sz="2000" dirty="0">
                <a:latin typeface="Calibri"/>
                <a:cs typeface="Calibri"/>
              </a:rPr>
              <a:t>cannot </a:t>
            </a:r>
            <a:r>
              <a:rPr sz="2000" spc="-5" dirty="0">
                <a:latin typeface="Calibri"/>
                <a:cs typeface="Calibri"/>
              </a:rPr>
              <a:t>influence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final result. The </a:t>
            </a:r>
            <a:r>
              <a:rPr sz="2000" dirty="0">
                <a:latin typeface="Calibri"/>
                <a:cs typeface="Calibri"/>
              </a:rPr>
              <a:t>max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5" dirty="0">
                <a:latin typeface="Calibri"/>
                <a:cs typeface="Calibri"/>
              </a:rPr>
              <a:t>min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levels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represent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turn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player</a:t>
            </a:r>
            <a:r>
              <a:rPr sz="2000" dirty="0">
                <a:latin typeface="Calibri"/>
                <a:cs typeface="Calibri"/>
              </a:rPr>
              <a:t> and 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adversary, respectively.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5900" y="564895"/>
            <a:ext cx="74129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80" dirty="0"/>
              <a:t>Alpha–Beta</a:t>
            </a:r>
            <a:r>
              <a:rPr spc="-655" dirty="0"/>
              <a:t> </a:t>
            </a:r>
            <a:r>
              <a:rPr spc="-260" dirty="0"/>
              <a:t>Pruning</a:t>
            </a:r>
            <a:r>
              <a:rPr spc="-645" dirty="0"/>
              <a:t> </a:t>
            </a:r>
            <a:r>
              <a:rPr spc="-275" dirty="0"/>
              <a:t>Procedure</a:t>
            </a:r>
            <a:r>
              <a:rPr spc="-645" dirty="0"/>
              <a:t> </a:t>
            </a:r>
            <a:r>
              <a:rPr spc="-114" dirty="0"/>
              <a:t>..</a:t>
            </a:r>
            <a:r>
              <a:rPr spc="-114" dirty="0">
                <a:solidFill>
                  <a:srgbClr val="C00000"/>
                </a:solidFill>
              </a:rPr>
              <a:t>An</a:t>
            </a:r>
            <a:r>
              <a:rPr spc="-620" dirty="0">
                <a:solidFill>
                  <a:srgbClr val="C00000"/>
                </a:solidFill>
              </a:rPr>
              <a:t> </a:t>
            </a:r>
            <a:r>
              <a:rPr spc="-285" dirty="0">
                <a:solidFill>
                  <a:srgbClr val="C00000"/>
                </a:solidFill>
              </a:rPr>
              <a:t>Illustration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66800"/>
            <a:ext cx="9144000" cy="46436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263" y="564895"/>
            <a:ext cx="47244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A</a:t>
            </a:r>
            <a:r>
              <a:rPr spc="-305" dirty="0"/>
              <a:t>lph</a:t>
            </a:r>
            <a:r>
              <a:rPr spc="-320" dirty="0"/>
              <a:t>a</a:t>
            </a:r>
            <a:r>
              <a:rPr spc="-310" dirty="0"/>
              <a:t>–</a:t>
            </a:r>
            <a:r>
              <a:rPr spc="-315" dirty="0"/>
              <a:t>B</a:t>
            </a:r>
            <a:r>
              <a:rPr spc="-305" dirty="0"/>
              <a:t>e</a:t>
            </a:r>
            <a:r>
              <a:rPr spc="-315" dirty="0"/>
              <a:t>t</a:t>
            </a:r>
            <a:r>
              <a:rPr dirty="0"/>
              <a:t>a</a:t>
            </a:r>
            <a:r>
              <a:rPr spc="-660" dirty="0"/>
              <a:t> </a:t>
            </a:r>
            <a:r>
              <a:rPr spc="-305" dirty="0"/>
              <a:t>P</a:t>
            </a:r>
            <a:r>
              <a:rPr spc="-300" dirty="0"/>
              <a:t>r</a:t>
            </a:r>
            <a:r>
              <a:rPr spc="-305" dirty="0"/>
              <a:t>uni</a:t>
            </a:r>
            <a:r>
              <a:rPr spc="-315" dirty="0"/>
              <a:t>n</a:t>
            </a:r>
            <a:r>
              <a:rPr dirty="0"/>
              <a:t>g</a:t>
            </a:r>
            <a:r>
              <a:rPr spc="-650" dirty="0"/>
              <a:t> </a:t>
            </a:r>
            <a:r>
              <a:rPr spc="-305" dirty="0">
                <a:solidFill>
                  <a:srgbClr val="C00000"/>
                </a:solidFill>
              </a:rPr>
              <a:t>Exampl</a:t>
            </a:r>
            <a:r>
              <a:rPr dirty="0">
                <a:solidFill>
                  <a:srgbClr val="C00000"/>
                </a:solidFill>
              </a:rPr>
              <a:t>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33" y="1367695"/>
            <a:ext cx="9100415" cy="41226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263" y="564895"/>
            <a:ext cx="47244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A</a:t>
            </a:r>
            <a:r>
              <a:rPr spc="-305" dirty="0"/>
              <a:t>lph</a:t>
            </a:r>
            <a:r>
              <a:rPr spc="-320" dirty="0"/>
              <a:t>a</a:t>
            </a:r>
            <a:r>
              <a:rPr spc="-310" dirty="0"/>
              <a:t>–</a:t>
            </a:r>
            <a:r>
              <a:rPr spc="-315" dirty="0"/>
              <a:t>B</a:t>
            </a:r>
            <a:r>
              <a:rPr spc="-305" dirty="0"/>
              <a:t>e</a:t>
            </a:r>
            <a:r>
              <a:rPr spc="-315" dirty="0"/>
              <a:t>t</a:t>
            </a:r>
            <a:r>
              <a:rPr dirty="0"/>
              <a:t>a</a:t>
            </a:r>
            <a:r>
              <a:rPr spc="-660" dirty="0"/>
              <a:t> </a:t>
            </a:r>
            <a:r>
              <a:rPr spc="-305" dirty="0"/>
              <a:t>P</a:t>
            </a:r>
            <a:r>
              <a:rPr spc="-300" dirty="0"/>
              <a:t>r</a:t>
            </a:r>
            <a:r>
              <a:rPr spc="-305" dirty="0"/>
              <a:t>uni</a:t>
            </a:r>
            <a:r>
              <a:rPr spc="-315" dirty="0"/>
              <a:t>n</a:t>
            </a:r>
            <a:r>
              <a:rPr dirty="0"/>
              <a:t>g</a:t>
            </a:r>
            <a:r>
              <a:rPr spc="-650" dirty="0"/>
              <a:t> </a:t>
            </a:r>
            <a:r>
              <a:rPr spc="-305" dirty="0">
                <a:solidFill>
                  <a:srgbClr val="C00000"/>
                </a:solidFill>
              </a:rPr>
              <a:t>Exampl</a:t>
            </a:r>
            <a:r>
              <a:rPr dirty="0">
                <a:solidFill>
                  <a:srgbClr val="C00000"/>
                </a:solidFill>
              </a:rPr>
              <a:t>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5" y="1366184"/>
            <a:ext cx="9109099" cy="41256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263" y="564895"/>
            <a:ext cx="47244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A</a:t>
            </a:r>
            <a:r>
              <a:rPr spc="-305" dirty="0"/>
              <a:t>lph</a:t>
            </a:r>
            <a:r>
              <a:rPr spc="-320" dirty="0"/>
              <a:t>a</a:t>
            </a:r>
            <a:r>
              <a:rPr spc="-310" dirty="0"/>
              <a:t>–</a:t>
            </a:r>
            <a:r>
              <a:rPr spc="-315" dirty="0"/>
              <a:t>B</a:t>
            </a:r>
            <a:r>
              <a:rPr spc="-305" dirty="0"/>
              <a:t>e</a:t>
            </a:r>
            <a:r>
              <a:rPr spc="-315" dirty="0"/>
              <a:t>t</a:t>
            </a:r>
            <a:r>
              <a:rPr dirty="0"/>
              <a:t>a</a:t>
            </a:r>
            <a:r>
              <a:rPr spc="-660" dirty="0"/>
              <a:t> </a:t>
            </a:r>
            <a:r>
              <a:rPr spc="-305" dirty="0"/>
              <a:t>P</a:t>
            </a:r>
            <a:r>
              <a:rPr spc="-300" dirty="0"/>
              <a:t>r</a:t>
            </a:r>
            <a:r>
              <a:rPr spc="-305" dirty="0"/>
              <a:t>uni</a:t>
            </a:r>
            <a:r>
              <a:rPr spc="-315" dirty="0"/>
              <a:t>n</a:t>
            </a:r>
            <a:r>
              <a:rPr dirty="0"/>
              <a:t>g</a:t>
            </a:r>
            <a:r>
              <a:rPr spc="-650" dirty="0"/>
              <a:t> </a:t>
            </a:r>
            <a:r>
              <a:rPr spc="-305" dirty="0">
                <a:solidFill>
                  <a:srgbClr val="C00000"/>
                </a:solidFill>
              </a:rPr>
              <a:t>Exampl</a:t>
            </a:r>
            <a:r>
              <a:rPr dirty="0">
                <a:solidFill>
                  <a:srgbClr val="C00000"/>
                </a:solidFill>
              </a:rPr>
              <a:t>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3" y="1363569"/>
            <a:ext cx="9117799" cy="413086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263" y="564895"/>
            <a:ext cx="47244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A</a:t>
            </a:r>
            <a:r>
              <a:rPr spc="-305" dirty="0"/>
              <a:t>lph</a:t>
            </a:r>
            <a:r>
              <a:rPr spc="-320" dirty="0"/>
              <a:t>a</a:t>
            </a:r>
            <a:r>
              <a:rPr spc="-310" dirty="0"/>
              <a:t>–</a:t>
            </a:r>
            <a:r>
              <a:rPr spc="-315" dirty="0"/>
              <a:t>B</a:t>
            </a:r>
            <a:r>
              <a:rPr spc="-305" dirty="0"/>
              <a:t>e</a:t>
            </a:r>
            <a:r>
              <a:rPr spc="-315" dirty="0"/>
              <a:t>t</a:t>
            </a:r>
            <a:r>
              <a:rPr dirty="0"/>
              <a:t>a</a:t>
            </a:r>
            <a:r>
              <a:rPr spc="-660" dirty="0"/>
              <a:t> </a:t>
            </a:r>
            <a:r>
              <a:rPr spc="-305" dirty="0"/>
              <a:t>P</a:t>
            </a:r>
            <a:r>
              <a:rPr spc="-300" dirty="0"/>
              <a:t>r</a:t>
            </a:r>
            <a:r>
              <a:rPr spc="-305" dirty="0"/>
              <a:t>uni</a:t>
            </a:r>
            <a:r>
              <a:rPr spc="-315" dirty="0"/>
              <a:t>n</a:t>
            </a:r>
            <a:r>
              <a:rPr dirty="0"/>
              <a:t>g</a:t>
            </a:r>
            <a:r>
              <a:rPr spc="-650" dirty="0"/>
              <a:t> </a:t>
            </a:r>
            <a:r>
              <a:rPr spc="-305" dirty="0">
                <a:solidFill>
                  <a:srgbClr val="C00000"/>
                </a:solidFill>
              </a:rPr>
              <a:t>Exampl</a:t>
            </a:r>
            <a:r>
              <a:rPr dirty="0">
                <a:solidFill>
                  <a:srgbClr val="C00000"/>
                </a:solidFill>
              </a:rPr>
              <a:t>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3" y="1367732"/>
            <a:ext cx="9117799" cy="413126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263" y="564895"/>
            <a:ext cx="47244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A</a:t>
            </a:r>
            <a:r>
              <a:rPr spc="-305" dirty="0"/>
              <a:t>lph</a:t>
            </a:r>
            <a:r>
              <a:rPr spc="-320" dirty="0"/>
              <a:t>a</a:t>
            </a:r>
            <a:r>
              <a:rPr spc="-310" dirty="0"/>
              <a:t>–</a:t>
            </a:r>
            <a:r>
              <a:rPr spc="-315" dirty="0"/>
              <a:t>B</a:t>
            </a:r>
            <a:r>
              <a:rPr spc="-305" dirty="0"/>
              <a:t>e</a:t>
            </a:r>
            <a:r>
              <a:rPr spc="-315" dirty="0"/>
              <a:t>t</a:t>
            </a:r>
            <a:r>
              <a:rPr dirty="0"/>
              <a:t>a</a:t>
            </a:r>
            <a:r>
              <a:rPr spc="-660" dirty="0"/>
              <a:t> </a:t>
            </a:r>
            <a:r>
              <a:rPr spc="-305" dirty="0"/>
              <a:t>P</a:t>
            </a:r>
            <a:r>
              <a:rPr spc="-300" dirty="0"/>
              <a:t>r</a:t>
            </a:r>
            <a:r>
              <a:rPr spc="-305" dirty="0"/>
              <a:t>uni</a:t>
            </a:r>
            <a:r>
              <a:rPr spc="-315" dirty="0"/>
              <a:t>n</a:t>
            </a:r>
            <a:r>
              <a:rPr dirty="0"/>
              <a:t>g</a:t>
            </a:r>
            <a:r>
              <a:rPr spc="-650" dirty="0"/>
              <a:t> </a:t>
            </a:r>
            <a:r>
              <a:rPr spc="-305" dirty="0">
                <a:solidFill>
                  <a:srgbClr val="C00000"/>
                </a:solidFill>
              </a:rPr>
              <a:t>Exampl</a:t>
            </a:r>
            <a:r>
              <a:rPr dirty="0">
                <a:solidFill>
                  <a:srgbClr val="C00000"/>
                </a:solidFill>
              </a:rPr>
              <a:t>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5" y="1308282"/>
            <a:ext cx="9109099" cy="42501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263" y="564895"/>
            <a:ext cx="47244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A</a:t>
            </a:r>
            <a:r>
              <a:rPr spc="-305" dirty="0"/>
              <a:t>lph</a:t>
            </a:r>
            <a:r>
              <a:rPr spc="-320" dirty="0"/>
              <a:t>a</a:t>
            </a:r>
            <a:r>
              <a:rPr spc="-310" dirty="0"/>
              <a:t>–</a:t>
            </a:r>
            <a:r>
              <a:rPr spc="-315" dirty="0"/>
              <a:t>B</a:t>
            </a:r>
            <a:r>
              <a:rPr spc="-305" dirty="0"/>
              <a:t>e</a:t>
            </a:r>
            <a:r>
              <a:rPr spc="-315" dirty="0"/>
              <a:t>t</a:t>
            </a:r>
            <a:r>
              <a:rPr dirty="0"/>
              <a:t>a</a:t>
            </a:r>
            <a:r>
              <a:rPr spc="-660" dirty="0"/>
              <a:t> </a:t>
            </a:r>
            <a:r>
              <a:rPr spc="-305" dirty="0"/>
              <a:t>P</a:t>
            </a:r>
            <a:r>
              <a:rPr spc="-300" dirty="0"/>
              <a:t>r</a:t>
            </a:r>
            <a:r>
              <a:rPr spc="-305" dirty="0"/>
              <a:t>uni</a:t>
            </a:r>
            <a:r>
              <a:rPr spc="-315" dirty="0"/>
              <a:t>n</a:t>
            </a:r>
            <a:r>
              <a:rPr dirty="0"/>
              <a:t>g</a:t>
            </a:r>
            <a:r>
              <a:rPr spc="-650" dirty="0"/>
              <a:t> </a:t>
            </a:r>
            <a:r>
              <a:rPr spc="-305" dirty="0">
                <a:solidFill>
                  <a:srgbClr val="C00000"/>
                </a:solidFill>
              </a:rPr>
              <a:t>Exampl</a:t>
            </a:r>
            <a:r>
              <a:rPr dirty="0">
                <a:solidFill>
                  <a:srgbClr val="C00000"/>
                </a:solidFill>
              </a:rPr>
              <a:t>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3" y="1306770"/>
            <a:ext cx="9117799" cy="425319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263" y="564895"/>
            <a:ext cx="47244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A</a:t>
            </a:r>
            <a:r>
              <a:rPr spc="-305" dirty="0"/>
              <a:t>lph</a:t>
            </a:r>
            <a:r>
              <a:rPr spc="-320" dirty="0"/>
              <a:t>a</a:t>
            </a:r>
            <a:r>
              <a:rPr spc="-310" dirty="0"/>
              <a:t>–</a:t>
            </a:r>
            <a:r>
              <a:rPr spc="-315" dirty="0"/>
              <a:t>B</a:t>
            </a:r>
            <a:r>
              <a:rPr spc="-305" dirty="0"/>
              <a:t>e</a:t>
            </a:r>
            <a:r>
              <a:rPr spc="-315" dirty="0"/>
              <a:t>t</a:t>
            </a:r>
            <a:r>
              <a:rPr dirty="0"/>
              <a:t>a</a:t>
            </a:r>
            <a:r>
              <a:rPr spc="-660" dirty="0"/>
              <a:t> </a:t>
            </a:r>
            <a:r>
              <a:rPr spc="-305" dirty="0"/>
              <a:t>P</a:t>
            </a:r>
            <a:r>
              <a:rPr spc="-300" dirty="0"/>
              <a:t>r</a:t>
            </a:r>
            <a:r>
              <a:rPr spc="-305" dirty="0"/>
              <a:t>uni</a:t>
            </a:r>
            <a:r>
              <a:rPr spc="-315" dirty="0"/>
              <a:t>n</a:t>
            </a:r>
            <a:r>
              <a:rPr dirty="0"/>
              <a:t>g</a:t>
            </a:r>
            <a:r>
              <a:rPr spc="-650" dirty="0"/>
              <a:t> </a:t>
            </a:r>
            <a:r>
              <a:rPr spc="-305" dirty="0">
                <a:solidFill>
                  <a:srgbClr val="C00000"/>
                </a:solidFill>
              </a:rPr>
              <a:t>Exampl</a:t>
            </a:r>
            <a:r>
              <a:rPr dirty="0">
                <a:solidFill>
                  <a:srgbClr val="C00000"/>
                </a:solidFill>
              </a:rPr>
              <a:t>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3" y="1306770"/>
            <a:ext cx="9117799" cy="425319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263" y="564895"/>
            <a:ext cx="47244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A</a:t>
            </a:r>
            <a:r>
              <a:rPr spc="-305" dirty="0"/>
              <a:t>lph</a:t>
            </a:r>
            <a:r>
              <a:rPr spc="-320" dirty="0"/>
              <a:t>a</a:t>
            </a:r>
            <a:r>
              <a:rPr spc="-310" dirty="0"/>
              <a:t>–</a:t>
            </a:r>
            <a:r>
              <a:rPr spc="-315" dirty="0"/>
              <a:t>B</a:t>
            </a:r>
            <a:r>
              <a:rPr spc="-305" dirty="0"/>
              <a:t>e</a:t>
            </a:r>
            <a:r>
              <a:rPr spc="-315" dirty="0"/>
              <a:t>t</a:t>
            </a:r>
            <a:r>
              <a:rPr dirty="0"/>
              <a:t>a</a:t>
            </a:r>
            <a:r>
              <a:rPr spc="-660" dirty="0"/>
              <a:t> </a:t>
            </a:r>
            <a:r>
              <a:rPr spc="-305" dirty="0"/>
              <a:t>P</a:t>
            </a:r>
            <a:r>
              <a:rPr spc="-300" dirty="0"/>
              <a:t>r</a:t>
            </a:r>
            <a:r>
              <a:rPr spc="-305" dirty="0"/>
              <a:t>uni</a:t>
            </a:r>
            <a:r>
              <a:rPr spc="-315" dirty="0"/>
              <a:t>n</a:t>
            </a:r>
            <a:r>
              <a:rPr dirty="0"/>
              <a:t>g</a:t>
            </a:r>
            <a:r>
              <a:rPr spc="-650" dirty="0"/>
              <a:t> </a:t>
            </a:r>
            <a:r>
              <a:rPr spc="-305" dirty="0">
                <a:solidFill>
                  <a:srgbClr val="C00000"/>
                </a:solidFill>
              </a:rPr>
              <a:t>Exampl</a:t>
            </a:r>
            <a:r>
              <a:rPr dirty="0">
                <a:solidFill>
                  <a:srgbClr val="C00000"/>
                </a:solidFill>
              </a:rPr>
              <a:t>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3" y="1306770"/>
            <a:ext cx="9117799" cy="425319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263" y="564895"/>
            <a:ext cx="47244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A</a:t>
            </a:r>
            <a:r>
              <a:rPr spc="-305" dirty="0"/>
              <a:t>lph</a:t>
            </a:r>
            <a:r>
              <a:rPr spc="-320" dirty="0"/>
              <a:t>a</a:t>
            </a:r>
            <a:r>
              <a:rPr spc="-310" dirty="0"/>
              <a:t>–</a:t>
            </a:r>
            <a:r>
              <a:rPr spc="-315" dirty="0"/>
              <a:t>B</a:t>
            </a:r>
            <a:r>
              <a:rPr spc="-305" dirty="0"/>
              <a:t>e</a:t>
            </a:r>
            <a:r>
              <a:rPr spc="-315" dirty="0"/>
              <a:t>t</a:t>
            </a:r>
            <a:r>
              <a:rPr dirty="0"/>
              <a:t>a</a:t>
            </a:r>
            <a:r>
              <a:rPr spc="-660" dirty="0"/>
              <a:t> </a:t>
            </a:r>
            <a:r>
              <a:rPr spc="-305" dirty="0"/>
              <a:t>P</a:t>
            </a:r>
            <a:r>
              <a:rPr spc="-300" dirty="0"/>
              <a:t>r</a:t>
            </a:r>
            <a:r>
              <a:rPr spc="-305" dirty="0"/>
              <a:t>uni</a:t>
            </a:r>
            <a:r>
              <a:rPr spc="-315" dirty="0"/>
              <a:t>n</a:t>
            </a:r>
            <a:r>
              <a:rPr dirty="0"/>
              <a:t>g</a:t>
            </a:r>
            <a:r>
              <a:rPr spc="-650" dirty="0"/>
              <a:t> </a:t>
            </a:r>
            <a:r>
              <a:rPr spc="-305" dirty="0">
                <a:solidFill>
                  <a:srgbClr val="C00000"/>
                </a:solidFill>
              </a:rPr>
              <a:t>Exampl</a:t>
            </a:r>
            <a:r>
              <a:rPr dirty="0">
                <a:solidFill>
                  <a:srgbClr val="C00000"/>
                </a:solidFill>
              </a:rPr>
              <a:t>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3" y="1306770"/>
            <a:ext cx="9117799" cy="425319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263" y="564895"/>
            <a:ext cx="47244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A</a:t>
            </a:r>
            <a:r>
              <a:rPr spc="-305" dirty="0"/>
              <a:t>lph</a:t>
            </a:r>
            <a:r>
              <a:rPr spc="-320" dirty="0"/>
              <a:t>a</a:t>
            </a:r>
            <a:r>
              <a:rPr spc="-310" dirty="0"/>
              <a:t>–</a:t>
            </a:r>
            <a:r>
              <a:rPr spc="-315" dirty="0"/>
              <a:t>B</a:t>
            </a:r>
            <a:r>
              <a:rPr spc="-305" dirty="0"/>
              <a:t>e</a:t>
            </a:r>
            <a:r>
              <a:rPr spc="-315" dirty="0"/>
              <a:t>t</a:t>
            </a:r>
            <a:r>
              <a:rPr dirty="0"/>
              <a:t>a</a:t>
            </a:r>
            <a:r>
              <a:rPr spc="-660" dirty="0"/>
              <a:t> </a:t>
            </a:r>
            <a:r>
              <a:rPr spc="-305" dirty="0"/>
              <a:t>P</a:t>
            </a:r>
            <a:r>
              <a:rPr spc="-300" dirty="0"/>
              <a:t>r</a:t>
            </a:r>
            <a:r>
              <a:rPr spc="-305" dirty="0"/>
              <a:t>uni</a:t>
            </a:r>
            <a:r>
              <a:rPr spc="-315" dirty="0"/>
              <a:t>n</a:t>
            </a:r>
            <a:r>
              <a:rPr dirty="0"/>
              <a:t>g</a:t>
            </a:r>
            <a:r>
              <a:rPr spc="-650" dirty="0"/>
              <a:t> </a:t>
            </a:r>
            <a:r>
              <a:rPr spc="-305" dirty="0">
                <a:solidFill>
                  <a:srgbClr val="C00000"/>
                </a:solidFill>
              </a:rPr>
              <a:t>Exampl</a:t>
            </a:r>
            <a:r>
              <a:rPr dirty="0">
                <a:solidFill>
                  <a:srgbClr val="C00000"/>
                </a:solidFill>
              </a:rPr>
              <a:t>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3" y="1306770"/>
            <a:ext cx="9117799" cy="425319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263" y="564895"/>
            <a:ext cx="47244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A</a:t>
            </a:r>
            <a:r>
              <a:rPr spc="-305" dirty="0"/>
              <a:t>lph</a:t>
            </a:r>
            <a:r>
              <a:rPr spc="-320" dirty="0"/>
              <a:t>a</a:t>
            </a:r>
            <a:r>
              <a:rPr spc="-310" dirty="0"/>
              <a:t>–</a:t>
            </a:r>
            <a:r>
              <a:rPr spc="-315" dirty="0"/>
              <a:t>B</a:t>
            </a:r>
            <a:r>
              <a:rPr spc="-305" dirty="0"/>
              <a:t>e</a:t>
            </a:r>
            <a:r>
              <a:rPr spc="-315" dirty="0"/>
              <a:t>t</a:t>
            </a:r>
            <a:r>
              <a:rPr dirty="0"/>
              <a:t>a</a:t>
            </a:r>
            <a:r>
              <a:rPr spc="-660" dirty="0"/>
              <a:t> </a:t>
            </a:r>
            <a:r>
              <a:rPr spc="-305" dirty="0"/>
              <a:t>P</a:t>
            </a:r>
            <a:r>
              <a:rPr spc="-300" dirty="0"/>
              <a:t>r</a:t>
            </a:r>
            <a:r>
              <a:rPr spc="-305" dirty="0"/>
              <a:t>uni</a:t>
            </a:r>
            <a:r>
              <a:rPr spc="-315" dirty="0"/>
              <a:t>n</a:t>
            </a:r>
            <a:r>
              <a:rPr dirty="0"/>
              <a:t>g</a:t>
            </a:r>
            <a:r>
              <a:rPr spc="-650" dirty="0"/>
              <a:t> </a:t>
            </a:r>
            <a:r>
              <a:rPr spc="-305" dirty="0">
                <a:solidFill>
                  <a:srgbClr val="C00000"/>
                </a:solidFill>
              </a:rPr>
              <a:t>Exampl</a:t>
            </a:r>
            <a:r>
              <a:rPr dirty="0">
                <a:solidFill>
                  <a:srgbClr val="C00000"/>
                </a:solidFill>
              </a:rPr>
              <a:t>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56652"/>
            <a:ext cx="9144000" cy="415322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263" y="564895"/>
            <a:ext cx="47244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A</a:t>
            </a:r>
            <a:r>
              <a:rPr spc="-305" dirty="0"/>
              <a:t>lph</a:t>
            </a:r>
            <a:r>
              <a:rPr spc="-320" dirty="0"/>
              <a:t>a</a:t>
            </a:r>
            <a:r>
              <a:rPr spc="-310" dirty="0"/>
              <a:t>–</a:t>
            </a:r>
            <a:r>
              <a:rPr spc="-315" dirty="0"/>
              <a:t>B</a:t>
            </a:r>
            <a:r>
              <a:rPr spc="-305" dirty="0"/>
              <a:t>e</a:t>
            </a:r>
            <a:r>
              <a:rPr spc="-315" dirty="0"/>
              <a:t>t</a:t>
            </a:r>
            <a:r>
              <a:rPr dirty="0"/>
              <a:t>a</a:t>
            </a:r>
            <a:r>
              <a:rPr spc="-660" dirty="0"/>
              <a:t> </a:t>
            </a:r>
            <a:r>
              <a:rPr spc="-305" dirty="0"/>
              <a:t>P</a:t>
            </a:r>
            <a:r>
              <a:rPr spc="-300" dirty="0"/>
              <a:t>r</a:t>
            </a:r>
            <a:r>
              <a:rPr spc="-305" dirty="0"/>
              <a:t>uni</a:t>
            </a:r>
            <a:r>
              <a:rPr spc="-315" dirty="0"/>
              <a:t>n</a:t>
            </a:r>
            <a:r>
              <a:rPr dirty="0"/>
              <a:t>g</a:t>
            </a:r>
            <a:r>
              <a:rPr spc="-650" dirty="0"/>
              <a:t> </a:t>
            </a:r>
            <a:r>
              <a:rPr spc="-305" dirty="0">
                <a:solidFill>
                  <a:srgbClr val="C00000"/>
                </a:solidFill>
              </a:rPr>
              <a:t>Exampl</a:t>
            </a:r>
            <a:r>
              <a:rPr dirty="0">
                <a:solidFill>
                  <a:srgbClr val="C00000"/>
                </a:solidFill>
              </a:rPr>
              <a:t>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62698"/>
            <a:ext cx="9144000" cy="414110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263" y="564895"/>
            <a:ext cx="47244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A</a:t>
            </a:r>
            <a:r>
              <a:rPr spc="-305" dirty="0"/>
              <a:t>lph</a:t>
            </a:r>
            <a:r>
              <a:rPr spc="-320" dirty="0"/>
              <a:t>a</a:t>
            </a:r>
            <a:r>
              <a:rPr spc="-310" dirty="0"/>
              <a:t>–</a:t>
            </a:r>
            <a:r>
              <a:rPr spc="-315" dirty="0"/>
              <a:t>B</a:t>
            </a:r>
            <a:r>
              <a:rPr spc="-305" dirty="0"/>
              <a:t>e</a:t>
            </a:r>
            <a:r>
              <a:rPr spc="-315" dirty="0"/>
              <a:t>t</a:t>
            </a:r>
            <a:r>
              <a:rPr dirty="0"/>
              <a:t>a</a:t>
            </a:r>
            <a:r>
              <a:rPr spc="-660" dirty="0"/>
              <a:t> </a:t>
            </a:r>
            <a:r>
              <a:rPr spc="-305" dirty="0"/>
              <a:t>P</a:t>
            </a:r>
            <a:r>
              <a:rPr spc="-300" dirty="0"/>
              <a:t>r</a:t>
            </a:r>
            <a:r>
              <a:rPr spc="-305" dirty="0"/>
              <a:t>uni</a:t>
            </a:r>
            <a:r>
              <a:rPr spc="-315" dirty="0"/>
              <a:t>n</a:t>
            </a:r>
            <a:r>
              <a:rPr dirty="0"/>
              <a:t>g</a:t>
            </a:r>
            <a:r>
              <a:rPr spc="-650" dirty="0"/>
              <a:t> </a:t>
            </a:r>
            <a:r>
              <a:rPr spc="-305" dirty="0">
                <a:solidFill>
                  <a:srgbClr val="C00000"/>
                </a:solidFill>
              </a:rPr>
              <a:t>Exampl</a:t>
            </a:r>
            <a:r>
              <a:rPr dirty="0">
                <a:solidFill>
                  <a:srgbClr val="C00000"/>
                </a:solidFill>
              </a:rPr>
              <a:t>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74895"/>
            <a:ext cx="9144000" cy="41167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7599" y="5820565"/>
            <a:ext cx="6477377" cy="54324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8243" y="660857"/>
            <a:ext cx="5337175" cy="613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50" spc="-305" dirty="0"/>
              <a:t>S</a:t>
            </a:r>
            <a:r>
              <a:rPr sz="3850" spc="-300" dirty="0"/>
              <a:t>ea</a:t>
            </a:r>
            <a:r>
              <a:rPr sz="3850" spc="-315" dirty="0"/>
              <a:t>r</a:t>
            </a:r>
            <a:r>
              <a:rPr sz="3850" spc="-310" dirty="0"/>
              <a:t>c</a:t>
            </a:r>
            <a:r>
              <a:rPr sz="3850" dirty="0"/>
              <a:t>h</a:t>
            </a:r>
            <a:r>
              <a:rPr sz="3850" spc="-655" dirty="0"/>
              <a:t> </a:t>
            </a:r>
            <a:r>
              <a:rPr sz="3850" spc="-305" dirty="0"/>
              <a:t>.</a:t>
            </a:r>
            <a:r>
              <a:rPr sz="3850" dirty="0"/>
              <a:t>.</a:t>
            </a:r>
            <a:r>
              <a:rPr sz="3850" spc="-585" dirty="0"/>
              <a:t> </a:t>
            </a:r>
            <a:r>
              <a:rPr sz="3850" spc="-305" dirty="0"/>
              <a:t>Wh</a:t>
            </a:r>
            <a:r>
              <a:rPr sz="3850" spc="-300" dirty="0"/>
              <a:t>a</a:t>
            </a:r>
            <a:r>
              <a:rPr sz="3850" spc="-305" dirty="0"/>
              <a:t>t</a:t>
            </a:r>
            <a:r>
              <a:rPr sz="3850" spc="-450" dirty="0"/>
              <a:t>’</a:t>
            </a:r>
            <a:r>
              <a:rPr sz="3850" dirty="0"/>
              <a:t>s</a:t>
            </a:r>
            <a:r>
              <a:rPr sz="3850" spc="-635" dirty="0"/>
              <a:t> </a:t>
            </a:r>
            <a:r>
              <a:rPr sz="3850" spc="-305" dirty="0"/>
              <a:t>th</a:t>
            </a:r>
            <a:r>
              <a:rPr sz="3850" dirty="0"/>
              <a:t>e</a:t>
            </a:r>
            <a:r>
              <a:rPr sz="3850" spc="-625" dirty="0"/>
              <a:t> </a:t>
            </a:r>
            <a:r>
              <a:rPr sz="3850" spc="-305" dirty="0"/>
              <a:t>I</a:t>
            </a:r>
            <a:r>
              <a:rPr sz="3850" spc="-300" dirty="0"/>
              <a:t>ss</a:t>
            </a:r>
            <a:r>
              <a:rPr sz="3850" spc="-305" dirty="0"/>
              <a:t>u</a:t>
            </a:r>
            <a:r>
              <a:rPr sz="3850" spc="-310" dirty="0"/>
              <a:t>e</a:t>
            </a:r>
            <a:r>
              <a:rPr sz="3850" dirty="0"/>
              <a:t>?</a:t>
            </a:r>
            <a:endParaRPr sz="3850"/>
          </a:p>
        </p:txBody>
      </p:sp>
      <p:sp>
        <p:nvSpPr>
          <p:cNvPr id="3" name="object 3"/>
          <p:cNvSpPr txBox="1"/>
          <p:nvPr/>
        </p:nvSpPr>
        <p:spPr>
          <a:xfrm>
            <a:off x="839825" y="3024378"/>
            <a:ext cx="5194300" cy="1931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0"/>
              </a:spcBef>
              <a:buFont typeface="Courier New"/>
              <a:buChar char="o"/>
              <a:tabLst>
                <a:tab pos="470534" algn="l"/>
              </a:tabLst>
            </a:pPr>
            <a:r>
              <a:rPr sz="2400" b="1" dirty="0">
                <a:latin typeface="Calibri"/>
                <a:cs typeface="Calibri"/>
              </a:rPr>
              <a:t>Search</a:t>
            </a:r>
            <a:r>
              <a:rPr sz="2400" b="1" spc="4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is</a:t>
            </a:r>
            <a:r>
              <a:rPr sz="2400" b="1" spc="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</a:t>
            </a:r>
            <a:r>
              <a:rPr sz="2400" b="1" spc="4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iterative</a:t>
            </a:r>
            <a:r>
              <a:rPr sz="2400" b="1" spc="6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local</a:t>
            </a:r>
            <a:r>
              <a:rPr sz="2400" b="1" spc="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procedure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Courier New"/>
              <a:buChar char="o"/>
            </a:pPr>
            <a:endParaRPr sz="2850">
              <a:latin typeface="Calibri"/>
              <a:cs typeface="Calibri"/>
            </a:endParaRPr>
          </a:p>
          <a:p>
            <a:pPr marL="469900" marR="5080" indent="-457834" algn="just">
              <a:lnSpc>
                <a:spcPct val="100000"/>
              </a:lnSpc>
              <a:buFont typeface="Courier New"/>
              <a:buChar char="o"/>
              <a:tabLst>
                <a:tab pos="470534" algn="l"/>
              </a:tabLst>
            </a:pPr>
            <a:r>
              <a:rPr sz="2400" b="1" spc="-5" dirty="0">
                <a:latin typeface="Calibri"/>
                <a:cs typeface="Calibri"/>
              </a:rPr>
              <a:t>Good heuristics should provide </a:t>
            </a:r>
            <a:r>
              <a:rPr sz="2400" b="1" dirty="0">
                <a:latin typeface="Calibri"/>
                <a:cs typeface="Calibri"/>
              </a:rPr>
              <a:t>some </a:t>
            </a:r>
            <a:r>
              <a:rPr sz="2400" b="1" spc="-530" dirty="0"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global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look-ahead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(at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low 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computational</a:t>
            </a:r>
            <a:r>
              <a:rPr sz="2400" b="1" dirty="0">
                <a:latin typeface="Calibri"/>
                <a:cs typeface="Calibri"/>
              </a:rPr>
              <a:t> cost).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18859" y="0"/>
            <a:ext cx="3025140" cy="6858000"/>
            <a:chOff x="6118859" y="0"/>
            <a:chExt cx="3025140" cy="6858000"/>
          </a:xfrm>
        </p:grpSpPr>
        <p:sp>
          <p:nvSpPr>
            <p:cNvPr id="5" name="object 5"/>
            <p:cNvSpPr/>
            <p:nvPr/>
          </p:nvSpPr>
          <p:spPr>
            <a:xfrm>
              <a:off x="7188707" y="0"/>
              <a:ext cx="1955800" cy="6858000"/>
            </a:xfrm>
            <a:custGeom>
              <a:avLst/>
              <a:gdLst/>
              <a:ahLst/>
              <a:cxnLst/>
              <a:rect l="l" t="t" r="r" b="b"/>
              <a:pathLst>
                <a:path w="1955800" h="6858000">
                  <a:moveTo>
                    <a:pt x="195529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955292" y="6858000"/>
                  </a:lnTo>
                  <a:lnTo>
                    <a:pt x="195529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18859" y="2359151"/>
              <a:ext cx="2142743" cy="21412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263" y="564895"/>
            <a:ext cx="40646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Ot</a:t>
            </a:r>
            <a:r>
              <a:rPr spc="-305" dirty="0"/>
              <a:t>he</a:t>
            </a:r>
            <a:r>
              <a:rPr dirty="0"/>
              <a:t>r</a:t>
            </a:r>
            <a:r>
              <a:rPr spc="-650" dirty="0"/>
              <a:t> </a:t>
            </a:r>
            <a:r>
              <a:rPr spc="-305" dirty="0"/>
              <a:t>Sea</a:t>
            </a:r>
            <a:r>
              <a:rPr spc="-300" dirty="0"/>
              <a:t>r</a:t>
            </a:r>
            <a:r>
              <a:rPr spc="-305" dirty="0"/>
              <a:t>c</a:t>
            </a:r>
            <a:r>
              <a:rPr dirty="0"/>
              <a:t>h</a:t>
            </a:r>
            <a:r>
              <a:rPr spc="-650" dirty="0"/>
              <a:t> </a:t>
            </a:r>
            <a:r>
              <a:rPr spc="-545" dirty="0"/>
              <a:t>T</a:t>
            </a:r>
            <a:r>
              <a:rPr spc="-305" dirty="0"/>
              <a:t>echn</a:t>
            </a:r>
            <a:r>
              <a:rPr spc="-315" dirty="0"/>
              <a:t>i</a:t>
            </a:r>
            <a:r>
              <a:rPr spc="-305" dirty="0"/>
              <a:t>q</a:t>
            </a:r>
            <a:r>
              <a:rPr spc="-315" dirty="0"/>
              <a:t>u</a:t>
            </a:r>
            <a:r>
              <a:rPr spc="-320" dirty="0"/>
              <a:t>e</a:t>
            </a:r>
            <a:r>
              <a:rPr dirty="0"/>
              <a:t>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387241" y="3157386"/>
            <a:ext cx="3989070" cy="2966085"/>
            <a:chOff x="4387241" y="3157386"/>
            <a:chExt cx="3989070" cy="29660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7241" y="3157386"/>
              <a:ext cx="3988794" cy="29656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39027" y="4125468"/>
              <a:ext cx="129539" cy="29413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42263" y="1545595"/>
            <a:ext cx="7789545" cy="1305560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sz="2800" b="1" spc="-5" dirty="0">
                <a:latin typeface="Calibri"/>
                <a:cs typeface="Calibri"/>
              </a:rPr>
              <a:t>Steepest</a:t>
            </a:r>
            <a:r>
              <a:rPr sz="2800" b="1" spc="35" dirty="0"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descent</a:t>
            </a:r>
            <a:r>
              <a:rPr sz="2800" b="1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(~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greedy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best-first</a:t>
            </a:r>
            <a:r>
              <a:rPr sz="2800" b="1" spc="3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with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no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search)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spc="-5" dirty="0">
                <a:latin typeface="Wingdings"/>
                <a:cs typeface="Wingdings"/>
              </a:rPr>
              <a:t>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Calibri"/>
                <a:cs typeface="Calibri"/>
              </a:rPr>
              <a:t>may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get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stuck</a:t>
            </a:r>
            <a:r>
              <a:rPr sz="2800" b="1" spc="-5" dirty="0">
                <a:latin typeface="Calibri"/>
                <a:cs typeface="Calibri"/>
              </a:rPr>
              <a:t> into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local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minimum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263" y="564895"/>
            <a:ext cx="40646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Ot</a:t>
            </a:r>
            <a:r>
              <a:rPr spc="-305" dirty="0"/>
              <a:t>he</a:t>
            </a:r>
            <a:r>
              <a:rPr dirty="0"/>
              <a:t>r</a:t>
            </a:r>
            <a:r>
              <a:rPr spc="-650" dirty="0"/>
              <a:t> </a:t>
            </a:r>
            <a:r>
              <a:rPr spc="-305" dirty="0"/>
              <a:t>Sea</a:t>
            </a:r>
            <a:r>
              <a:rPr spc="-300" dirty="0"/>
              <a:t>r</a:t>
            </a:r>
            <a:r>
              <a:rPr spc="-305" dirty="0"/>
              <a:t>c</a:t>
            </a:r>
            <a:r>
              <a:rPr dirty="0"/>
              <a:t>h</a:t>
            </a:r>
            <a:r>
              <a:rPr spc="-650" dirty="0"/>
              <a:t> </a:t>
            </a:r>
            <a:r>
              <a:rPr spc="-545" dirty="0"/>
              <a:t>T</a:t>
            </a:r>
            <a:r>
              <a:rPr spc="-305" dirty="0"/>
              <a:t>echn</a:t>
            </a:r>
            <a:r>
              <a:rPr spc="-315" dirty="0"/>
              <a:t>i</a:t>
            </a:r>
            <a:r>
              <a:rPr spc="-305" dirty="0"/>
              <a:t>q</a:t>
            </a:r>
            <a:r>
              <a:rPr spc="-315" dirty="0"/>
              <a:t>u</a:t>
            </a:r>
            <a:r>
              <a:rPr spc="-320" dirty="0"/>
              <a:t>e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343535">
              <a:lnSpc>
                <a:spcPct val="100000"/>
              </a:lnSpc>
              <a:spcBef>
                <a:spcPts val="1785"/>
              </a:spcBef>
            </a:pPr>
            <a:r>
              <a:rPr spc="-5" dirty="0"/>
              <a:t>Steepest</a:t>
            </a:r>
            <a:r>
              <a:rPr spc="35" dirty="0"/>
              <a:t> </a:t>
            </a:r>
            <a:r>
              <a:rPr spc="-5" dirty="0"/>
              <a:t>descent</a:t>
            </a:r>
            <a:r>
              <a:rPr spc="15" dirty="0"/>
              <a:t> </a:t>
            </a:r>
            <a:r>
              <a:rPr spc="-5" dirty="0"/>
              <a:t>(~</a:t>
            </a:r>
            <a:r>
              <a:rPr spc="20" dirty="0"/>
              <a:t> </a:t>
            </a:r>
            <a:r>
              <a:rPr spc="-10" dirty="0"/>
              <a:t>greedy</a:t>
            </a:r>
            <a:r>
              <a:rPr spc="35" dirty="0"/>
              <a:t> </a:t>
            </a:r>
            <a:r>
              <a:rPr spc="-10" dirty="0"/>
              <a:t>best-first</a:t>
            </a:r>
            <a:r>
              <a:rPr spc="30" dirty="0"/>
              <a:t> </a:t>
            </a:r>
            <a:r>
              <a:rPr spc="-5" dirty="0"/>
              <a:t>with</a:t>
            </a:r>
            <a:r>
              <a:rPr spc="15" dirty="0"/>
              <a:t> </a:t>
            </a:r>
            <a:r>
              <a:rPr spc="-5" dirty="0"/>
              <a:t>no</a:t>
            </a:r>
            <a:r>
              <a:rPr spc="10" dirty="0"/>
              <a:t> </a:t>
            </a:r>
            <a:r>
              <a:rPr spc="-5" dirty="0"/>
              <a:t>search)</a:t>
            </a:r>
          </a:p>
          <a:p>
            <a:pPr marL="343535">
              <a:lnSpc>
                <a:spcPct val="100000"/>
              </a:lnSpc>
              <a:spcBef>
                <a:spcPts val="1685"/>
              </a:spcBef>
            </a:pPr>
            <a:r>
              <a:rPr b="0" spc="-5" dirty="0">
                <a:latin typeface="Wingdings"/>
                <a:cs typeface="Wingdings"/>
              </a:rPr>
              <a:t></a:t>
            </a:r>
            <a:r>
              <a:rPr b="0" spc="-60" dirty="0">
                <a:latin typeface="Times New Roman"/>
                <a:cs typeface="Times New Roman"/>
              </a:rPr>
              <a:t> </a:t>
            </a:r>
            <a:r>
              <a:rPr spc="-5" dirty="0"/>
              <a:t>may</a:t>
            </a:r>
            <a:r>
              <a:rPr spc="5" dirty="0"/>
              <a:t> </a:t>
            </a:r>
            <a:r>
              <a:rPr spc="-10" dirty="0"/>
              <a:t>get</a:t>
            </a:r>
            <a:r>
              <a:rPr spc="20" dirty="0"/>
              <a:t> </a:t>
            </a:r>
            <a:r>
              <a:rPr dirty="0"/>
              <a:t>stuck </a:t>
            </a:r>
            <a:r>
              <a:rPr spc="-5" dirty="0"/>
              <a:t>into</a:t>
            </a:r>
            <a:r>
              <a:rPr spc="10" dirty="0"/>
              <a:t> </a:t>
            </a:r>
            <a:r>
              <a:rPr spc="-5" dirty="0"/>
              <a:t>local</a:t>
            </a:r>
            <a:r>
              <a:rPr spc="10" dirty="0"/>
              <a:t> </a:t>
            </a:r>
            <a:r>
              <a:rPr spc="-5" dirty="0"/>
              <a:t>minimum</a:t>
            </a:r>
          </a:p>
          <a:p>
            <a:pPr marL="800735" indent="-457200">
              <a:lnSpc>
                <a:spcPct val="100000"/>
              </a:lnSpc>
              <a:spcBef>
                <a:spcPts val="1680"/>
              </a:spcBef>
              <a:buFont typeface="Courier New"/>
              <a:buChar char="o"/>
              <a:tabLst>
                <a:tab pos="801370" algn="l"/>
              </a:tabLst>
            </a:pPr>
            <a:r>
              <a:rPr spc="-5" dirty="0"/>
              <a:t>Simulated</a:t>
            </a:r>
            <a:r>
              <a:rPr dirty="0"/>
              <a:t> </a:t>
            </a:r>
            <a:r>
              <a:rPr spc="-5" dirty="0"/>
              <a:t>annealing</a:t>
            </a:r>
          </a:p>
          <a:p>
            <a:pPr marL="800735" indent="-457200">
              <a:lnSpc>
                <a:spcPct val="100000"/>
              </a:lnSpc>
              <a:spcBef>
                <a:spcPts val="1680"/>
              </a:spcBef>
              <a:buFont typeface="Courier New"/>
              <a:buChar char="o"/>
              <a:tabLst>
                <a:tab pos="801370" algn="l"/>
              </a:tabLst>
            </a:pPr>
            <a:r>
              <a:rPr spc="-10" dirty="0"/>
              <a:t>Genetic</a:t>
            </a:r>
            <a:r>
              <a:rPr spc="25" dirty="0"/>
              <a:t> </a:t>
            </a:r>
            <a:r>
              <a:rPr spc="-5" dirty="0"/>
              <a:t>algorithms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789</Words>
  <Application>Microsoft Office PowerPoint</Application>
  <PresentationFormat>On-screen Show (4:3)</PresentationFormat>
  <Paragraphs>111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Artificial Intelligence  DR.Abeer Amer</vt:lpstr>
      <vt:lpstr>Outline</vt:lpstr>
      <vt:lpstr>Adversarial Search ( Heuristics in Two-Person Games )</vt:lpstr>
      <vt:lpstr>Minimax Procedure</vt:lpstr>
      <vt:lpstr>Minimax Tree Example</vt:lpstr>
      <vt:lpstr>Minimax to a Fixed Ply Depth Example: Minimax on a 2-player game-tree of 4-plies</vt:lpstr>
      <vt:lpstr>Minimaxto a Fixed Ply Depth</vt:lpstr>
      <vt:lpstr>Alpha–Beta Pruning Procedure</vt:lpstr>
      <vt:lpstr>Alpha–Beta Pruning Procedure</vt:lpstr>
      <vt:lpstr>Alpha–Beta Pruning Procedure ..An Illustration</vt:lpstr>
      <vt:lpstr>Alpha–Beta Pruning Example</vt:lpstr>
      <vt:lpstr>Alpha–Beta Pruning Example</vt:lpstr>
      <vt:lpstr>Alpha–Beta Pruning Example</vt:lpstr>
      <vt:lpstr>Alpha–Beta Pruning Example</vt:lpstr>
      <vt:lpstr>Alpha–Beta Pruning Example</vt:lpstr>
      <vt:lpstr>Alpha–Beta Pruning Example</vt:lpstr>
      <vt:lpstr>Alpha–Beta Pruning Example</vt:lpstr>
      <vt:lpstr>Alpha–Beta Pruning Example</vt:lpstr>
      <vt:lpstr>Alpha–Beta Pruning Example</vt:lpstr>
      <vt:lpstr>Alpha–Beta Pruning Example</vt:lpstr>
      <vt:lpstr>Alpha–Beta Pruning Example</vt:lpstr>
      <vt:lpstr>Alpha–Beta Pruning Example</vt:lpstr>
      <vt:lpstr>Alpha–Beta Pruning Example</vt:lpstr>
      <vt:lpstr>Search .. What’s the Issue?</vt:lpstr>
      <vt:lpstr>Other Search Techniques</vt:lpstr>
      <vt:lpstr>Other Search Techniques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عبد الله محمد فوزى محمد محمود</cp:lastModifiedBy>
  <cp:revision>4</cp:revision>
  <dcterms:created xsi:type="dcterms:W3CDTF">2023-03-10T22:56:51Z</dcterms:created>
  <dcterms:modified xsi:type="dcterms:W3CDTF">2025-05-20T15:43:29Z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2020-11-24T00:00:00Z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2023-03-10T00:00:00Z</vt:filetime>
  </property>
</Properties>
</file>